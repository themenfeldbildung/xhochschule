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456eeb9bf2f64375" Type="http://schemas.microsoft.com/office/2006/relationships/ui/extensibility" Target="customUI/customUI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7" r:id="rId2"/>
  </p:sldMasterIdLst>
  <p:notesMasterIdLst>
    <p:notesMasterId r:id="rId14"/>
  </p:notesMasterIdLst>
  <p:handoutMasterIdLst>
    <p:handoutMasterId r:id="rId15"/>
  </p:handoutMasterIdLst>
  <p:sldIdLst>
    <p:sldId id="426" r:id="rId3"/>
    <p:sldId id="419" r:id="rId4"/>
    <p:sldId id="421" r:id="rId5"/>
    <p:sldId id="420" r:id="rId6"/>
    <p:sldId id="427" r:id="rId7"/>
    <p:sldId id="422" r:id="rId8"/>
    <p:sldId id="424" r:id="rId9"/>
    <p:sldId id="403" r:id="rId10"/>
    <p:sldId id="404" r:id="rId11"/>
    <p:sldId id="405" r:id="rId12"/>
    <p:sldId id="406" r:id="rId13"/>
  </p:sldIdLst>
  <p:sldSz cx="9144000" cy="5143500" type="screen16x9"/>
  <p:notesSz cx="6858000" cy="9144000"/>
  <p:defaultTextStyle>
    <a:defPPr>
      <a:defRPr lang="en-US"/>
    </a:defPPr>
    <a:lvl1pPr marL="0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217684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435368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653052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870736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088420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306103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1523787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1741471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lther, Sascha (init)" initials="WS(" lastIdx="1" clrIdx="0">
    <p:extLst>
      <p:ext uri="{19B8F6BF-5375-455C-9EA6-DF929625EA0E}">
        <p15:presenceInfo xmlns:p15="http://schemas.microsoft.com/office/powerpoint/2012/main" userId="S-1-5-21-2116170847-34277120-1194094237-47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200"/>
    <a:srgbClr val="99D2AE"/>
    <a:srgbClr val="4F9AF1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2" autoAdjust="0"/>
    <p:restoredTop sz="96473" autoAdjust="0"/>
  </p:normalViewPr>
  <p:slideViewPr>
    <p:cSldViewPr snapToGrid="0" showGuides="1">
      <p:cViewPr varScale="1">
        <p:scale>
          <a:sx n="139" d="100"/>
          <a:sy n="139" d="100"/>
        </p:scale>
        <p:origin x="100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85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DDCA9-4CFF-4FF6-A92E-131AF0392A32}" type="datetimeFigureOut">
              <a:rPr lang="de-DE" smtClean="0"/>
              <a:t>21.03.2021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93C70-9FE5-4811-8AEE-881571D622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4236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A58F-C29C-4EC8-995E-F6F04C94AD07}" type="datetimeFigureOut">
              <a:rPr lang="de-DE" smtClean="0"/>
              <a:t>21.03.2021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C010B-DAE0-416A-828F-870E221708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1653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1pPr>
    <a:lvl2pPr marL="217684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2pPr>
    <a:lvl3pPr marL="435368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3pPr>
    <a:lvl4pPr marL="653052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4pPr>
    <a:lvl5pPr marL="870736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5pPr>
    <a:lvl6pPr marL="1088420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6pPr>
    <a:lvl7pPr marL="1306103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7pPr>
    <a:lvl8pPr marL="1523787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8pPr>
    <a:lvl9pPr marL="1741471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55" y="1537214"/>
            <a:ext cx="8207374" cy="47089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3400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4" y="2008112"/>
            <a:ext cx="8207374" cy="1920124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buNone/>
              <a:defRPr lang="en-US" sz="3400" b="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Textfeld 8"/>
          <p:cNvSpPr txBox="1"/>
          <p:nvPr userDrawn="1"/>
        </p:nvSpPr>
        <p:spPr>
          <a:xfrm>
            <a:off x="468313" y="0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bg1"/>
                </a:solidFill>
                <a:latin typeface="init_signs normal" panose="00000500000000000000" pitchFamily="2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118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 mod="1"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52" y="1613315"/>
            <a:ext cx="8207375" cy="3877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18287" y="418290"/>
            <a:ext cx="2057400" cy="146582"/>
          </a:xfrm>
        </p:spPr>
        <p:txBody>
          <a:bodyPr/>
          <a:lstStyle>
            <a:lvl1pPr algn="r">
              <a:defRPr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95687" y="550487"/>
            <a:ext cx="2880000" cy="146643"/>
          </a:xfrm>
        </p:spPr>
        <p:txBody>
          <a:bodyPr/>
          <a:lstStyle>
            <a:lvl1pPr algn="r">
              <a:defRPr/>
            </a:lvl1pPr>
          </a:lstStyle>
          <a:p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1750"/>
            <a:ext cx="9144000" cy="2571749"/>
          </a:xfrm>
        </p:spPr>
        <p:txBody>
          <a:bodyPr lIns="360000" tIns="360000" rIns="6480000" bIns="360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900" baseline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Füge ein Bild durch Klicken auf das Symbol in der Bildmitte hinzu.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Nutze den Bilderpool in I:/PPT.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Verwende die Funktion ZUSCHNEIDEN um das Bild auszurichten.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3" y="2004863"/>
            <a:ext cx="8207375" cy="387798"/>
          </a:xfrm>
        </p:spPr>
        <p:txBody>
          <a:bodyPr vert="horz" wrap="none" lIns="0" tIns="0" rIns="0" bIns="0" rtlCol="0" anchor="t" anchorCtr="0">
            <a:normAutofit/>
          </a:bodyPr>
          <a:lstStyle>
            <a:lvl1pPr marL="0" indent="0">
              <a:spcBef>
                <a:spcPct val="0"/>
              </a:spcBef>
              <a:buNone/>
              <a:defRPr lang="en-US" sz="2800" b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10" name="Textfeld 9"/>
          <p:cNvSpPr txBox="1"/>
          <p:nvPr userDrawn="1"/>
        </p:nvSpPr>
        <p:spPr>
          <a:xfrm>
            <a:off x="468313" y="0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tx2"/>
                </a:solidFill>
                <a:latin typeface="init_signs normal" panose="00000500000000000000" pitchFamily="2" charset="0"/>
              </a:rPr>
              <a:t>I</a:t>
            </a:r>
          </a:p>
        </p:txBody>
      </p:sp>
      <p:sp>
        <p:nvSpPr>
          <p:cNvPr id="9" name="Bildplatzhalter 9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622736" y="280023"/>
            <a:ext cx="1176125" cy="612000"/>
          </a:xfrm>
        </p:spPr>
        <p:txBody>
          <a:bodyPr lIns="36000" tIns="36000" rIns="36000" bIns="36000"/>
          <a:lstStyle>
            <a:lvl1pPr>
              <a:defRPr sz="600" baseline="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 </a:t>
            </a:r>
          </a:p>
        </p:txBody>
      </p:sp>
      <p:sp>
        <p:nvSpPr>
          <p:cNvPr id="11" name="Bildplatzhalter 9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006566" y="280023"/>
            <a:ext cx="1176125" cy="61200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 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 smtClean="0">
                <a:latin typeface="init_signs normal" panose="00000500000000000000" pitchFamily="2" charset="0"/>
              </a:rPr>
              <a:t>I</a:t>
            </a:r>
            <a:r>
              <a:rPr lang="de-DE" b="0" dirty="0" smtClean="0"/>
              <a:t>   </a:t>
            </a:r>
            <a:r>
              <a:rPr lang="de-DE" sz="1000" dirty="0" smtClean="0"/>
              <a:t>1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491423565"/>
      </p:ext>
    </p:extLst>
  </p:cSld>
  <p:clrMapOvr>
    <a:masterClrMapping/>
  </p:clrMapOvr>
  <p:transition spd="med">
    <p:pull/>
  </p:transition>
  <p:extLst mod="1"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803228" y="675201"/>
            <a:ext cx="4103688" cy="3047121"/>
          </a:xfrm>
        </p:spPr>
        <p:txBody>
          <a:bodyPr/>
          <a:lstStyle>
            <a:lvl1pPr marL="216000" indent="-162000">
              <a:lnSpc>
                <a:spcPct val="110000"/>
              </a:lnSpc>
              <a:spcBef>
                <a:spcPts val="1000"/>
              </a:spcBef>
              <a:buSzPct val="100000"/>
              <a:buFont typeface="init_signs normal" panose="00000500000000000000" pitchFamily="2" charset="0"/>
              <a:buChar char="A"/>
              <a:defRPr baseline="0"/>
            </a:lvl1pPr>
            <a:lvl2pPr>
              <a:defRPr/>
            </a:lvl2pPr>
            <a:lvl3pPr>
              <a:defRPr/>
            </a:lvl3pPr>
            <a:lvl6pPr>
              <a:defRPr/>
            </a:lvl6pPr>
          </a:lstStyle>
          <a:p>
            <a:pPr lvl="0"/>
            <a:r>
              <a:rPr lang="de-DE" dirty="0"/>
              <a:t>Absatzebene ändern durch </a:t>
            </a:r>
            <a:r>
              <a:rPr lang="de-DE" dirty="0" err="1"/>
              <a:t>Strg+Alt+Pfeil</a:t>
            </a:r>
            <a:r>
              <a:rPr lang="de-DE" dirty="0"/>
              <a:t> links/Pfeil rechts</a:t>
            </a:r>
          </a:p>
        </p:txBody>
      </p:sp>
      <p:sp>
        <p:nvSpPr>
          <p:cNvPr id="7" name="Textfeld 6"/>
          <p:cNvSpPr txBox="1"/>
          <p:nvPr userDrawn="1"/>
        </p:nvSpPr>
        <p:spPr>
          <a:xfrm>
            <a:off x="468313" y="0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tx2"/>
                </a:solidFill>
                <a:latin typeface="init_signs normal" panose="00000500000000000000" pitchFamily="2" charset="0"/>
              </a:rPr>
              <a:t>I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3" y="2004863"/>
            <a:ext cx="4104000" cy="387798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spcBef>
                <a:spcPct val="0"/>
              </a:spcBef>
              <a:buNone/>
              <a:defRPr lang="en-US" sz="2800" b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83553" y="1609909"/>
            <a:ext cx="4104000" cy="3877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 smtClean="0">
                <a:latin typeface="init_signs normal" panose="00000500000000000000" pitchFamily="2" charset="0"/>
              </a:rPr>
              <a:t>I</a:t>
            </a:r>
            <a:r>
              <a:rPr lang="de-DE" b="0" dirty="0" smtClean="0"/>
              <a:t>   </a:t>
            </a:r>
            <a:r>
              <a:rPr lang="de-DE" sz="1000" dirty="0" smtClean="0"/>
              <a:t>1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619760614"/>
      </p:ext>
    </p:extLst>
  </p:cSld>
  <p:clrMapOvr>
    <a:masterClrMapping/>
  </p:clrMapOvr>
  <p:transition spd="med">
    <p:pull/>
  </p:transition>
  <p:extLst mod="1"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5" name="Bildplatzhalter 9"/>
          <p:cNvSpPr>
            <a:spLocks noGrp="1"/>
          </p:cNvSpPr>
          <p:nvPr>
            <p:ph type="pic" sz="quarter" idx="14" hasCustomPrompt="1"/>
          </p:nvPr>
        </p:nvSpPr>
        <p:spPr>
          <a:xfrm>
            <a:off x="7042680" y="412695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3859577939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411163"/>
            <a:ext cx="4103687" cy="395771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1635126"/>
            <a:ext cx="3663420" cy="2808287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4103686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 hasCustomPrompt="1"/>
          </p:nvPr>
        </p:nvSpPr>
        <p:spPr>
          <a:xfrm>
            <a:off x="4983480" y="0"/>
            <a:ext cx="4160520" cy="5143500"/>
          </a:xfrm>
          <a:noFill/>
        </p:spPr>
        <p:txBody>
          <a:bodyPr wrap="square" lIns="360000" tIns="360000" rIns="2160000" bIns="360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900" baseline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Füge ein Bild, eine Grafik, einen Screenshot oder ein </a:t>
            </a:r>
            <a:r>
              <a:rPr lang="de-DE" dirty="0" err="1"/>
              <a:t>Mockup</a:t>
            </a:r>
            <a:r>
              <a:rPr lang="de-DE" dirty="0"/>
              <a:t> durch Klicken auf das Symbol in der Bildmitte hinzu.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Nutze den Bilderpool in I:/PPT.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Verwende die Funktion ZUSCHNEIDEN um das Bild auszurichten.</a:t>
            </a:r>
          </a:p>
        </p:txBody>
      </p:sp>
      <p:sp>
        <p:nvSpPr>
          <p:cNvPr id="12" name="Bildplatzhalter 9"/>
          <p:cNvSpPr>
            <a:spLocks noGrp="1"/>
          </p:cNvSpPr>
          <p:nvPr>
            <p:ph type="pic" sz="quarter" idx="17" hasCustomPrompt="1"/>
          </p:nvPr>
        </p:nvSpPr>
        <p:spPr>
          <a:xfrm>
            <a:off x="5150906" y="4118991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3" name="Bildplatzhalter 9"/>
          <p:cNvSpPr>
            <a:spLocks noGrp="1"/>
          </p:cNvSpPr>
          <p:nvPr>
            <p:ph type="pic" sz="quarter" idx="18" hasCustomPrompt="1"/>
          </p:nvPr>
        </p:nvSpPr>
        <p:spPr>
          <a:xfrm>
            <a:off x="6951340" y="4118991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200505701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5143499"/>
          </a:xfrm>
          <a:solidFill>
            <a:schemeClr val="bg1"/>
          </a:solidFill>
          <a:effectLst>
            <a:innerShdw blurRad="1270000" dist="1905000" dir="5400000">
              <a:schemeClr val="tx1">
                <a:alpha val="50000"/>
              </a:schemeClr>
            </a:innerShdw>
          </a:effectLst>
        </p:spPr>
        <p:txBody>
          <a:bodyPr lIns="360000" tIns="360000" rIns="360000" bIns="360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9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Füge ein Bild durch Klicken auf das Symbol in der Bildmitte hinzu.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Nutze den Bilderpool in I:/PPT.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Verwende die Funktion ZUSCHNEIDEN um das Bild auszurichten.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4062692"/>
            <a:ext cx="8207375" cy="39577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4435382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</p:spTree>
    <p:extLst>
      <p:ext uri="{BB962C8B-B14F-4D97-AF65-F5344CB8AC3E}">
        <p14:creationId xmlns:p14="http://schemas.microsoft.com/office/powerpoint/2010/main" val="2668933044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53" y="1609909"/>
            <a:ext cx="8207375" cy="3877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3" y="2004863"/>
            <a:ext cx="8207375" cy="387798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spcBef>
                <a:spcPct val="0"/>
              </a:spcBef>
              <a:buNone/>
              <a:defRPr lang="en-US" sz="28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 hasCustomPrompt="1"/>
          </p:nvPr>
        </p:nvSpPr>
        <p:spPr>
          <a:xfrm>
            <a:off x="468313" y="3568545"/>
            <a:ext cx="1171561" cy="1171350"/>
          </a:xfrm>
        </p:spPr>
        <p:txBody>
          <a:bodyPr wrap="none" lIns="36000" tIns="36000" rIns="36000" bIns="36000" anchor="b" anchorCtr="0">
            <a:noAutofit/>
          </a:bodyPr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7" name="Textfeld 6"/>
          <p:cNvSpPr txBox="1"/>
          <p:nvPr userDrawn="1"/>
        </p:nvSpPr>
        <p:spPr>
          <a:xfrm>
            <a:off x="468313" y="0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bg1"/>
                </a:solidFill>
                <a:latin typeface="init_signs normal" panose="00000500000000000000" pitchFamily="2" charset="0"/>
              </a:rPr>
              <a:t>I</a:t>
            </a:r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 hasCustomPrompt="1"/>
          </p:nvPr>
        </p:nvSpPr>
        <p:spPr>
          <a:xfrm>
            <a:off x="5669280" y="708660"/>
            <a:ext cx="3744000" cy="3744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</p:spTree>
    <p:extLst>
      <p:ext uri="{BB962C8B-B14F-4D97-AF65-F5344CB8AC3E}">
        <p14:creationId xmlns:p14="http://schemas.microsoft.com/office/powerpoint/2010/main" val="237169479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12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kus/Ic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4" hasCustomPrompt="1"/>
          </p:nvPr>
        </p:nvSpPr>
        <p:spPr>
          <a:xfrm>
            <a:off x="2160000" y="1635125"/>
            <a:ext cx="4824000" cy="3097213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</p:spTree>
    <p:extLst>
      <p:ext uri="{BB962C8B-B14F-4D97-AF65-F5344CB8AC3E}">
        <p14:creationId xmlns:p14="http://schemas.microsoft.com/office/powerpoint/2010/main" val="2791451743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kus/3 Icon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5" name="Bildplatzhalter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979053" y="2299929"/>
            <a:ext cx="1258413" cy="1260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6" name="Bildplatzhalt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38518" y="2299929"/>
            <a:ext cx="1258413" cy="1260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8" name="Bildplatzhalt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697982" y="2299929"/>
            <a:ext cx="1258413" cy="1260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</p:spTree>
    <p:extLst>
      <p:ext uri="{BB962C8B-B14F-4D97-AF65-F5344CB8AC3E}">
        <p14:creationId xmlns:p14="http://schemas.microsoft.com/office/powerpoint/2010/main" val="1939579230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3555" y="1537214"/>
            <a:ext cx="8207374" cy="47089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3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Vielen Dank!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4" y="2238703"/>
            <a:ext cx="8207374" cy="498191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buNone/>
              <a:defRPr lang="en-US" sz="1600" b="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de-DE" dirty="0"/>
              <a:t>Vorname Name eintragen</a:t>
            </a:r>
            <a:br>
              <a:rPr lang="de-DE" dirty="0"/>
            </a:br>
            <a:r>
              <a:rPr lang="de-DE" dirty="0"/>
              <a:t>Job Title eintragen</a:t>
            </a:r>
          </a:p>
        </p:txBody>
      </p:sp>
      <p:sp>
        <p:nvSpPr>
          <p:cNvPr id="5" name="Textfeld 4"/>
          <p:cNvSpPr txBox="1"/>
          <p:nvPr userDrawn="1"/>
        </p:nvSpPr>
        <p:spPr>
          <a:xfrm>
            <a:off x="468313" y="0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bg1"/>
                </a:solidFill>
                <a:latin typeface="init_signs normal" panose="00000500000000000000" pitchFamily="2" charset="0"/>
              </a:rPr>
              <a:t>I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4" hasCustomPrompt="1"/>
          </p:nvPr>
        </p:nvSpPr>
        <p:spPr>
          <a:xfrm>
            <a:off x="7180832" y="3231152"/>
            <a:ext cx="1510096" cy="151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438" y="3573723"/>
            <a:ext cx="220291" cy="22029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554" y="3126210"/>
            <a:ext cx="234059" cy="22029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 userDrawn="1"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974" y="4022573"/>
            <a:ext cx="165218" cy="234059"/>
          </a:xfrm>
          <a:prstGeom prst="rect">
            <a:avLst/>
          </a:prstGeom>
        </p:spPr>
      </p:pic>
      <p:sp>
        <p:nvSpPr>
          <p:cNvPr id="10" name="Textplatzhalt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916541" y="3109391"/>
            <a:ext cx="4769081" cy="243522"/>
          </a:xfrm>
        </p:spPr>
        <p:txBody>
          <a:bodyPr wrap="square"/>
          <a:lstStyle>
            <a:lvl1pPr marL="0">
              <a:lnSpc>
                <a:spcPct val="110000"/>
              </a:lnSpc>
              <a:spcBef>
                <a:spcPts val="1400"/>
              </a:spcBef>
              <a:defRPr>
                <a:solidFill>
                  <a:schemeClr val="bg1"/>
                </a:solidFill>
              </a:defRPr>
            </a:lvl1pPr>
          </a:lstStyle>
          <a:p>
            <a:pPr marL="0">
              <a:lnSpc>
                <a:spcPct val="110000"/>
              </a:lnSpc>
              <a:spcBef>
                <a:spcPts val="1400"/>
              </a:spcBef>
            </a:pPr>
            <a:r>
              <a:rPr lang="de-DE" dirty="0"/>
              <a:t>Vorname.Nachname@init.de eintragen</a:t>
            </a:r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916541" y="3562107"/>
            <a:ext cx="4769081" cy="243522"/>
          </a:xfrm>
        </p:spPr>
        <p:txBody>
          <a:bodyPr wrap="square"/>
          <a:lstStyle>
            <a:lvl1pPr marL="0">
              <a:lnSpc>
                <a:spcPct val="110000"/>
              </a:lnSpc>
              <a:spcBef>
                <a:spcPts val="1400"/>
              </a:spcBef>
              <a:defRPr>
                <a:solidFill>
                  <a:schemeClr val="bg1"/>
                </a:solidFill>
              </a:defRPr>
            </a:lvl1pPr>
          </a:lstStyle>
          <a:p>
            <a:pPr marL="0">
              <a:lnSpc>
                <a:spcPct val="110000"/>
              </a:lnSpc>
              <a:spcBef>
                <a:spcPts val="1400"/>
              </a:spcBef>
            </a:pPr>
            <a:r>
              <a:rPr lang="de-DE" dirty="0"/>
              <a:t>+49 30 97006 xxx eintragen</a:t>
            </a:r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916541" y="4001867"/>
            <a:ext cx="4769081" cy="243522"/>
          </a:xfrm>
        </p:spPr>
        <p:txBody>
          <a:bodyPr wrap="square"/>
          <a:lstStyle>
            <a:lvl1pPr marL="0">
              <a:lnSpc>
                <a:spcPct val="110000"/>
              </a:lnSpc>
              <a:spcBef>
                <a:spcPts val="1400"/>
              </a:spcBef>
              <a:defRPr>
                <a:solidFill>
                  <a:schemeClr val="bg1"/>
                </a:solidFill>
              </a:defRPr>
            </a:lvl1pPr>
          </a:lstStyle>
          <a:p>
            <a:pPr marL="0">
              <a:lnSpc>
                <a:spcPct val="110000"/>
              </a:lnSpc>
              <a:spcBef>
                <a:spcPts val="1400"/>
              </a:spcBef>
            </a:pPr>
            <a:r>
              <a:rPr lang="de-DE" dirty="0"/>
              <a:t>www.init.de eintragen</a:t>
            </a:r>
          </a:p>
        </p:txBody>
      </p:sp>
    </p:spTree>
    <p:extLst>
      <p:ext uri="{BB962C8B-B14F-4D97-AF65-F5344CB8AC3E}">
        <p14:creationId xmlns:p14="http://schemas.microsoft.com/office/powerpoint/2010/main" val="157006927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130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-W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 hasCustomPrompt="1"/>
          </p:nvPr>
        </p:nvSpPr>
        <p:spPr>
          <a:xfrm>
            <a:off x="680504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5" hasCustomPrompt="1"/>
          </p:nvPr>
        </p:nvSpPr>
        <p:spPr>
          <a:xfrm>
            <a:off x="680504" y="2828435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2" name="Bildplatzhalter 9"/>
          <p:cNvSpPr>
            <a:spLocks noGrp="1"/>
          </p:cNvSpPr>
          <p:nvPr>
            <p:ph type="pic" sz="quarter" idx="16" hasCustomPrompt="1"/>
          </p:nvPr>
        </p:nvSpPr>
        <p:spPr>
          <a:xfrm>
            <a:off x="680504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3" name="Bildplatzhalter 9"/>
          <p:cNvSpPr>
            <a:spLocks noGrp="1"/>
          </p:cNvSpPr>
          <p:nvPr>
            <p:ph type="pic" sz="quarter" idx="17" hasCustomPrompt="1"/>
          </p:nvPr>
        </p:nvSpPr>
        <p:spPr>
          <a:xfrm>
            <a:off x="2731556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8" hasCustomPrompt="1"/>
          </p:nvPr>
        </p:nvSpPr>
        <p:spPr>
          <a:xfrm>
            <a:off x="2731556" y="2828436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9" hasCustomPrompt="1"/>
          </p:nvPr>
        </p:nvSpPr>
        <p:spPr>
          <a:xfrm>
            <a:off x="2731556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6" name="Bildplatzhalter 9"/>
          <p:cNvSpPr>
            <a:spLocks noGrp="1"/>
          </p:cNvSpPr>
          <p:nvPr>
            <p:ph type="pic" sz="quarter" idx="20" hasCustomPrompt="1"/>
          </p:nvPr>
        </p:nvSpPr>
        <p:spPr>
          <a:xfrm>
            <a:off x="4782608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7" name="Bildplatzhalter 9"/>
          <p:cNvSpPr>
            <a:spLocks noGrp="1"/>
          </p:cNvSpPr>
          <p:nvPr>
            <p:ph type="pic" sz="quarter" idx="21" hasCustomPrompt="1"/>
          </p:nvPr>
        </p:nvSpPr>
        <p:spPr>
          <a:xfrm>
            <a:off x="4782608" y="2828436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8" name="Bildplatzhalter 9"/>
          <p:cNvSpPr>
            <a:spLocks noGrp="1"/>
          </p:cNvSpPr>
          <p:nvPr>
            <p:ph type="pic" sz="quarter" idx="22" hasCustomPrompt="1"/>
          </p:nvPr>
        </p:nvSpPr>
        <p:spPr>
          <a:xfrm>
            <a:off x="4782608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9" name="Bildplatzhalter 9"/>
          <p:cNvSpPr>
            <a:spLocks noGrp="1"/>
          </p:cNvSpPr>
          <p:nvPr>
            <p:ph type="pic" sz="quarter" idx="23" hasCustomPrompt="1"/>
          </p:nvPr>
        </p:nvSpPr>
        <p:spPr>
          <a:xfrm>
            <a:off x="6836831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0" name="Bildplatzhalter 9"/>
          <p:cNvSpPr>
            <a:spLocks noGrp="1"/>
          </p:cNvSpPr>
          <p:nvPr>
            <p:ph type="pic" sz="quarter" idx="24" hasCustomPrompt="1"/>
          </p:nvPr>
        </p:nvSpPr>
        <p:spPr>
          <a:xfrm>
            <a:off x="6836831" y="2828436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1" name="Bildplatzhalter 9"/>
          <p:cNvSpPr>
            <a:spLocks noGrp="1"/>
          </p:cNvSpPr>
          <p:nvPr>
            <p:ph type="pic" sz="quarter" idx="25" hasCustomPrompt="1"/>
          </p:nvPr>
        </p:nvSpPr>
        <p:spPr>
          <a:xfrm>
            <a:off x="6836831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4" name="Foliennummernplatzhalter 23"/>
          <p:cNvSpPr>
            <a:spLocks noGrp="1"/>
          </p:cNvSpPr>
          <p:nvPr>
            <p:ph type="sldNum" sz="quarter" idx="28"/>
          </p:nvPr>
        </p:nvSpPr>
        <p:spPr>
          <a:xfrm>
            <a:off x="7673340" y="405776"/>
            <a:ext cx="1002348" cy="241924"/>
          </a:xfrm>
        </p:spPr>
        <p:txBody>
          <a:bodyPr/>
          <a:lstStyle/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3390569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pos="1587" userDrawn="1">
          <p15:clr>
            <a:srgbClr val="FBAE40"/>
          </p15:clr>
        </p15:guide>
        <p15:guide id="2" pos="4173" userDrawn="1">
          <p15:clr>
            <a:srgbClr val="FBAE40"/>
          </p15:clr>
        </p15:guide>
        <p15:guide id="3" orient="horz" pos="1665" userDrawn="1">
          <p15:clr>
            <a:srgbClr val="FBAE40"/>
          </p15:clr>
        </p15:guide>
        <p15:guide id="4" orient="horz" pos="241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4" hasCustomPrompt="1"/>
          </p:nvPr>
        </p:nvSpPr>
        <p:spPr>
          <a:xfrm>
            <a:off x="473497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2523175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4572853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15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6622532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68312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468313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24" hasCustomPrompt="1"/>
          </p:nvPr>
        </p:nvSpPr>
        <p:spPr>
          <a:xfrm>
            <a:off x="2523175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6" name="Textplatzhalter 19"/>
          <p:cNvSpPr>
            <a:spLocks noGrp="1"/>
          </p:cNvSpPr>
          <p:nvPr>
            <p:ph type="body" sz="quarter" idx="25" hasCustomPrompt="1"/>
          </p:nvPr>
        </p:nvSpPr>
        <p:spPr>
          <a:xfrm>
            <a:off x="2523176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26" hasCustomPrompt="1"/>
          </p:nvPr>
        </p:nvSpPr>
        <p:spPr>
          <a:xfrm>
            <a:off x="4572853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8" name="Textplatzhalter 19"/>
          <p:cNvSpPr>
            <a:spLocks noGrp="1"/>
          </p:cNvSpPr>
          <p:nvPr>
            <p:ph type="body" sz="quarter" idx="27" hasCustomPrompt="1"/>
          </p:nvPr>
        </p:nvSpPr>
        <p:spPr>
          <a:xfrm>
            <a:off x="4572854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29" name="Textplatzhalter 8"/>
          <p:cNvSpPr>
            <a:spLocks noGrp="1"/>
          </p:cNvSpPr>
          <p:nvPr>
            <p:ph type="body" sz="quarter" idx="28" hasCustomPrompt="1"/>
          </p:nvPr>
        </p:nvSpPr>
        <p:spPr>
          <a:xfrm>
            <a:off x="6628509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30" name="Textplatzhalter 19"/>
          <p:cNvSpPr>
            <a:spLocks noGrp="1"/>
          </p:cNvSpPr>
          <p:nvPr>
            <p:ph type="body" sz="quarter" idx="29" hasCustomPrompt="1"/>
          </p:nvPr>
        </p:nvSpPr>
        <p:spPr>
          <a:xfrm>
            <a:off x="6628510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646494916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/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cxnSp>
        <p:nvCxnSpPr>
          <p:cNvPr id="10" name="Gerader Verbinder 9"/>
          <p:cNvCxnSpPr/>
          <p:nvPr userDrawn="1"/>
        </p:nvCxnSpPr>
        <p:spPr>
          <a:xfrm>
            <a:off x="468311" y="2906052"/>
            <a:ext cx="82073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Bildplatzhalter 11"/>
          <p:cNvSpPr>
            <a:spLocks noGrp="1"/>
          </p:cNvSpPr>
          <p:nvPr>
            <p:ph type="pic" sz="quarter" idx="14" hasCustomPrompt="1"/>
          </p:nvPr>
        </p:nvSpPr>
        <p:spPr>
          <a:xfrm>
            <a:off x="47349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188356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329363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5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470370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6" name="Bildplatzhalter 11"/>
          <p:cNvSpPr>
            <a:spLocks noGrp="1"/>
          </p:cNvSpPr>
          <p:nvPr>
            <p:ph type="pic" sz="quarter" idx="18" hasCustomPrompt="1"/>
          </p:nvPr>
        </p:nvSpPr>
        <p:spPr>
          <a:xfrm>
            <a:off x="611377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68312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17" name="Textplatzhalter 8"/>
          <p:cNvSpPr>
            <a:spLocks noGrp="1"/>
          </p:cNvSpPr>
          <p:nvPr>
            <p:ph type="body" sz="quarter" idx="20" hasCustomPrompt="1"/>
          </p:nvPr>
        </p:nvSpPr>
        <p:spPr>
          <a:xfrm>
            <a:off x="2520157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2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19" name="Textplatzhalter 8"/>
          <p:cNvSpPr>
            <a:spLocks noGrp="1"/>
          </p:cNvSpPr>
          <p:nvPr>
            <p:ph type="body" sz="quarter" idx="22" hasCustomPrompt="1"/>
          </p:nvPr>
        </p:nvSpPr>
        <p:spPr>
          <a:xfrm>
            <a:off x="6623847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468313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 baseline="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1" name="Textplatzhalter 19"/>
          <p:cNvSpPr>
            <a:spLocks noGrp="1"/>
          </p:cNvSpPr>
          <p:nvPr>
            <p:ph type="body" sz="quarter" idx="24" hasCustomPrompt="1"/>
          </p:nvPr>
        </p:nvSpPr>
        <p:spPr>
          <a:xfrm>
            <a:off x="2519364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2" name="Textplatzhalter 19"/>
          <p:cNvSpPr>
            <a:spLocks noGrp="1"/>
          </p:cNvSpPr>
          <p:nvPr>
            <p:ph type="body" sz="quarter" idx="25" hasCustomPrompt="1"/>
          </p:nvPr>
        </p:nvSpPr>
        <p:spPr>
          <a:xfrm>
            <a:off x="4572000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3" name="Textplatzhalter 19"/>
          <p:cNvSpPr>
            <a:spLocks noGrp="1"/>
          </p:cNvSpPr>
          <p:nvPr>
            <p:ph type="body" sz="quarter" idx="26" hasCustomPrompt="1"/>
          </p:nvPr>
        </p:nvSpPr>
        <p:spPr>
          <a:xfrm>
            <a:off x="6623451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4" name="Bildplatzhalter 11"/>
          <p:cNvSpPr>
            <a:spLocks noGrp="1"/>
          </p:cNvSpPr>
          <p:nvPr>
            <p:ph type="pic" sz="quarter" idx="27" hasCustomPrompt="1"/>
          </p:nvPr>
        </p:nvSpPr>
        <p:spPr>
          <a:xfrm>
            <a:off x="752384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661338415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/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4" hasCustomPrompt="1"/>
          </p:nvPr>
        </p:nvSpPr>
        <p:spPr>
          <a:xfrm>
            <a:off x="468313" y="2571750"/>
            <a:ext cx="540000" cy="540000"/>
          </a:xfrm>
        </p:spPr>
        <p:txBody>
          <a:bodyPr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3198816" y="2571750"/>
            <a:ext cx="540000" cy="540000"/>
          </a:xfrm>
        </p:spPr>
        <p:txBody>
          <a:bodyPr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5929319" y="2571750"/>
            <a:ext cx="540000" cy="540000"/>
          </a:xfrm>
        </p:spPr>
        <p:txBody>
          <a:bodyPr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68311" y="3260112"/>
            <a:ext cx="2736000" cy="22159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204000" y="3260112"/>
            <a:ext cx="2736000" cy="22159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26" hasCustomPrompt="1"/>
          </p:nvPr>
        </p:nvSpPr>
        <p:spPr>
          <a:xfrm>
            <a:off x="5939688" y="3260112"/>
            <a:ext cx="2736000" cy="22159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7" name="Textplatzhalter 8"/>
          <p:cNvSpPr>
            <a:spLocks noGrp="1"/>
          </p:cNvSpPr>
          <p:nvPr>
            <p:ph type="body" sz="quarter" idx="27"/>
          </p:nvPr>
        </p:nvSpPr>
        <p:spPr>
          <a:xfrm>
            <a:off x="468313" y="3630073"/>
            <a:ext cx="2736000" cy="81333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28"/>
          </p:nvPr>
        </p:nvSpPr>
        <p:spPr>
          <a:xfrm>
            <a:off x="3204002" y="3630073"/>
            <a:ext cx="2736000" cy="81333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19" name="Textplatzhalter 8"/>
          <p:cNvSpPr>
            <a:spLocks noGrp="1"/>
          </p:cNvSpPr>
          <p:nvPr>
            <p:ph type="body" sz="quarter" idx="29"/>
          </p:nvPr>
        </p:nvSpPr>
        <p:spPr>
          <a:xfrm>
            <a:off x="5939690" y="3630073"/>
            <a:ext cx="2736000" cy="81333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1212691164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9FEE-3814-4F4F-A28A-460A140CB558}" type="datetime1">
              <a:rPr lang="de-DE" smtClean="0"/>
              <a:t>21.03.2021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Standardisierungsstrategie im Hochschulwesen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7AA-7EB5-443C-AC31-37E37436B17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1310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3"/>
            <a:ext cx="6858000" cy="17907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780" indent="0" algn="ctr">
              <a:buNone/>
              <a:defRPr sz="1334"/>
            </a:lvl2pPr>
            <a:lvl3pPr marL="609560" indent="0" algn="ctr">
              <a:buNone/>
              <a:defRPr sz="1200"/>
            </a:lvl3pPr>
            <a:lvl4pPr marL="914340" indent="0" algn="ctr">
              <a:buNone/>
              <a:defRPr sz="1067"/>
            </a:lvl4pPr>
            <a:lvl5pPr marL="1219120" indent="0" algn="ctr">
              <a:buNone/>
              <a:defRPr sz="1067"/>
            </a:lvl5pPr>
            <a:lvl6pPr marL="1523900" indent="0" algn="ctr">
              <a:buNone/>
              <a:defRPr sz="1067"/>
            </a:lvl6pPr>
            <a:lvl7pPr marL="1828680" indent="0" algn="ctr">
              <a:buNone/>
              <a:defRPr sz="1067"/>
            </a:lvl7pPr>
            <a:lvl8pPr marL="2133460" indent="0" algn="ctr">
              <a:buNone/>
              <a:defRPr sz="1067"/>
            </a:lvl8pPr>
            <a:lvl9pPr marL="2438240" indent="0" algn="ctr">
              <a:buNone/>
              <a:defRPr sz="1067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21.03.2021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823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21.03.2021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4048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04780" indent="0">
              <a:buNone/>
              <a:defRPr sz="1334">
                <a:solidFill>
                  <a:schemeClr val="tx1">
                    <a:tint val="75000"/>
                  </a:schemeClr>
                </a:solidFill>
              </a:defRPr>
            </a:lvl2pPr>
            <a:lvl3pPr marL="6095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1434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4pPr>
            <a:lvl5pPr marL="121912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5pPr>
            <a:lvl6pPr marL="152390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6pPr>
            <a:lvl7pPr marL="182868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7pPr>
            <a:lvl8pPr marL="213346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8pPr>
            <a:lvl9pPr marL="243824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21.03.2021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8386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21.03.2021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756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3"/>
            <a:ext cx="3868341" cy="617934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80" indent="0">
              <a:buNone/>
              <a:defRPr sz="1334" b="1"/>
            </a:lvl2pPr>
            <a:lvl3pPr marL="609560" indent="0">
              <a:buNone/>
              <a:defRPr sz="1200" b="1"/>
            </a:lvl3pPr>
            <a:lvl4pPr marL="914340" indent="0">
              <a:buNone/>
              <a:defRPr sz="1067" b="1"/>
            </a:lvl4pPr>
            <a:lvl5pPr marL="1219120" indent="0">
              <a:buNone/>
              <a:defRPr sz="1067" b="1"/>
            </a:lvl5pPr>
            <a:lvl6pPr marL="1523900" indent="0">
              <a:buNone/>
              <a:defRPr sz="1067" b="1"/>
            </a:lvl6pPr>
            <a:lvl7pPr marL="1828680" indent="0">
              <a:buNone/>
              <a:defRPr sz="1067" b="1"/>
            </a:lvl7pPr>
            <a:lvl8pPr marL="2133460" indent="0">
              <a:buNone/>
              <a:defRPr sz="1067" b="1"/>
            </a:lvl8pPr>
            <a:lvl9pPr marL="2438240" indent="0">
              <a:buNone/>
              <a:defRPr sz="1067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1" cy="2763441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3"/>
            <a:ext cx="3887391" cy="617934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80" indent="0">
              <a:buNone/>
              <a:defRPr sz="1334" b="1"/>
            </a:lvl2pPr>
            <a:lvl3pPr marL="609560" indent="0">
              <a:buNone/>
              <a:defRPr sz="1200" b="1"/>
            </a:lvl3pPr>
            <a:lvl4pPr marL="914340" indent="0">
              <a:buNone/>
              <a:defRPr sz="1067" b="1"/>
            </a:lvl4pPr>
            <a:lvl5pPr marL="1219120" indent="0">
              <a:buNone/>
              <a:defRPr sz="1067" b="1"/>
            </a:lvl5pPr>
            <a:lvl6pPr marL="1523900" indent="0">
              <a:buNone/>
              <a:defRPr sz="1067" b="1"/>
            </a:lvl6pPr>
            <a:lvl7pPr marL="1828680" indent="0">
              <a:buNone/>
              <a:defRPr sz="1067" b="1"/>
            </a:lvl7pPr>
            <a:lvl8pPr marL="2133460" indent="0">
              <a:buNone/>
              <a:defRPr sz="1067" b="1"/>
            </a:lvl8pPr>
            <a:lvl9pPr marL="2438240" indent="0">
              <a:buNone/>
              <a:defRPr sz="1067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7"/>
            <a:ext cx="3887391" cy="2763441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21.03.2021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6530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21.03.2021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5379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21.03.2021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739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8" cy="120015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8"/>
          </a:xfrm>
        </p:spPr>
        <p:txBody>
          <a:bodyPr/>
          <a:lstStyle>
            <a:lvl1pPr>
              <a:defRPr sz="2133"/>
            </a:lvl1pPr>
            <a:lvl2pPr>
              <a:defRPr sz="1866"/>
            </a:lvl2pPr>
            <a:lvl3pPr>
              <a:defRPr sz="1600"/>
            </a:lvl3pPr>
            <a:lvl4pPr>
              <a:defRPr sz="1334"/>
            </a:lvl4pPr>
            <a:lvl5pPr>
              <a:defRPr sz="1334"/>
            </a:lvl5pPr>
            <a:lvl6pPr>
              <a:defRPr sz="1334"/>
            </a:lvl6pPr>
            <a:lvl7pPr>
              <a:defRPr sz="1334"/>
            </a:lvl7pPr>
            <a:lvl8pPr>
              <a:defRPr sz="1334"/>
            </a:lvl8pPr>
            <a:lvl9pPr>
              <a:defRPr sz="1334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1543050"/>
            <a:ext cx="2949178" cy="2858691"/>
          </a:xfrm>
        </p:spPr>
        <p:txBody>
          <a:bodyPr/>
          <a:lstStyle>
            <a:lvl1pPr marL="0" indent="0">
              <a:buNone/>
              <a:defRPr sz="1067"/>
            </a:lvl1pPr>
            <a:lvl2pPr marL="304780" indent="0">
              <a:buNone/>
              <a:defRPr sz="933"/>
            </a:lvl2pPr>
            <a:lvl3pPr marL="609560" indent="0">
              <a:buNone/>
              <a:defRPr sz="800"/>
            </a:lvl3pPr>
            <a:lvl4pPr marL="914340" indent="0">
              <a:buNone/>
              <a:defRPr sz="667"/>
            </a:lvl4pPr>
            <a:lvl5pPr marL="1219120" indent="0">
              <a:buNone/>
              <a:defRPr sz="667"/>
            </a:lvl5pPr>
            <a:lvl6pPr marL="1523900" indent="0">
              <a:buNone/>
              <a:defRPr sz="667"/>
            </a:lvl6pPr>
            <a:lvl7pPr marL="1828680" indent="0">
              <a:buNone/>
              <a:defRPr sz="667"/>
            </a:lvl7pPr>
            <a:lvl8pPr marL="2133460" indent="0">
              <a:buNone/>
              <a:defRPr sz="667"/>
            </a:lvl8pPr>
            <a:lvl9pPr marL="2438240" indent="0">
              <a:buNone/>
              <a:defRPr sz="667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21.03.2021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9079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8" cy="120015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8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780" indent="0">
              <a:buNone/>
              <a:defRPr sz="1866"/>
            </a:lvl2pPr>
            <a:lvl3pPr marL="609560" indent="0">
              <a:buNone/>
              <a:defRPr sz="1600"/>
            </a:lvl3pPr>
            <a:lvl4pPr marL="914340" indent="0">
              <a:buNone/>
              <a:defRPr sz="1334"/>
            </a:lvl4pPr>
            <a:lvl5pPr marL="1219120" indent="0">
              <a:buNone/>
              <a:defRPr sz="1334"/>
            </a:lvl5pPr>
            <a:lvl6pPr marL="1523900" indent="0">
              <a:buNone/>
              <a:defRPr sz="1334"/>
            </a:lvl6pPr>
            <a:lvl7pPr marL="1828680" indent="0">
              <a:buNone/>
              <a:defRPr sz="1334"/>
            </a:lvl7pPr>
            <a:lvl8pPr marL="2133460" indent="0">
              <a:buNone/>
              <a:defRPr sz="1334"/>
            </a:lvl8pPr>
            <a:lvl9pPr marL="2438240" indent="0">
              <a:buNone/>
              <a:defRPr sz="1334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1543050"/>
            <a:ext cx="2949178" cy="2858691"/>
          </a:xfrm>
        </p:spPr>
        <p:txBody>
          <a:bodyPr/>
          <a:lstStyle>
            <a:lvl1pPr marL="0" indent="0">
              <a:buNone/>
              <a:defRPr sz="1067"/>
            </a:lvl1pPr>
            <a:lvl2pPr marL="304780" indent="0">
              <a:buNone/>
              <a:defRPr sz="933"/>
            </a:lvl2pPr>
            <a:lvl3pPr marL="609560" indent="0">
              <a:buNone/>
              <a:defRPr sz="800"/>
            </a:lvl3pPr>
            <a:lvl4pPr marL="914340" indent="0">
              <a:buNone/>
              <a:defRPr sz="667"/>
            </a:lvl4pPr>
            <a:lvl5pPr marL="1219120" indent="0">
              <a:buNone/>
              <a:defRPr sz="667"/>
            </a:lvl5pPr>
            <a:lvl6pPr marL="1523900" indent="0">
              <a:buNone/>
              <a:defRPr sz="667"/>
            </a:lvl6pPr>
            <a:lvl7pPr marL="1828680" indent="0">
              <a:buNone/>
              <a:defRPr sz="667"/>
            </a:lvl7pPr>
            <a:lvl8pPr marL="2133460" indent="0">
              <a:buNone/>
              <a:defRPr sz="667"/>
            </a:lvl8pPr>
            <a:lvl9pPr marL="2438240" indent="0">
              <a:buNone/>
              <a:defRPr sz="667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21.03.2021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6362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21.03.2021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013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21.03.2021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05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313" y="411163"/>
            <a:ext cx="8207375" cy="3957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13" y="1635125"/>
            <a:ext cx="6846887" cy="2808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8793" y="4593313"/>
            <a:ext cx="2052000" cy="14658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>
              <a:defRPr sz="953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8793" y="4732338"/>
            <a:ext cx="4103688" cy="146643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 lang="de-DE" sz="953" dirty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 smtClean="0">
                <a:latin typeface="init_signs normal" panose="00000500000000000000" pitchFamily="2" charset="0"/>
              </a:rPr>
              <a:t>I</a:t>
            </a:r>
            <a:r>
              <a:rPr lang="de-DE" b="0" dirty="0" smtClean="0"/>
              <a:t>   </a:t>
            </a:r>
            <a:r>
              <a:rPr lang="de-DE" sz="1000" dirty="0" smtClean="0"/>
              <a:t>1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62994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1" r:id="rId3"/>
    <p:sldLayoutId id="2147483662" r:id="rId4"/>
    <p:sldLayoutId id="2147483664" r:id="rId5"/>
    <p:sldLayoutId id="2147483684" r:id="rId6"/>
    <p:sldLayoutId id="2147483673" r:id="rId7"/>
    <p:sldLayoutId id="2147483678" r:id="rId8"/>
    <p:sldLayoutId id="2147483682" r:id="rId9"/>
    <p:sldLayoutId id="2147483681" r:id="rId10"/>
    <p:sldLayoutId id="2147483676" r:id="rId11"/>
    <p:sldLayoutId id="2147483677" r:id="rId12"/>
    <p:sldLayoutId id="2147483675" r:id="rId13"/>
    <p:sldLayoutId id="2147483679" r:id="rId14"/>
    <p:sldLayoutId id="2147483685" r:id="rId15"/>
  </p:sldLayoutIdLst>
  <p:transition spd="med">
    <p:pull/>
  </p:transition>
  <p:hf sldNum="0" hdr="0" ftr="0" dt="0"/>
  <p:txStyles>
    <p:titleStyle>
      <a:lvl1pPr algn="l" defTabSz="61732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" indent="0" algn="l" defTabSz="617325" rtl="0" eaLnBrk="1" latinLnBrk="0" hangingPunct="1">
        <a:lnSpc>
          <a:spcPct val="90000"/>
        </a:lnSpc>
        <a:spcBef>
          <a:spcPts val="0"/>
        </a:spcBef>
        <a:buClr>
          <a:schemeClr val="tx2"/>
        </a:buClr>
        <a:buSzPct val="60000"/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162000" algn="l" defTabSz="617325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SzPct val="100000"/>
        <a:buFont typeface="init_signs normal" panose="00000500000000000000" pitchFamily="2" charset="0"/>
        <a:buChar char="A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162000" algn="l" defTabSz="617325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SzPct val="100000"/>
        <a:buFont typeface="init_signs normal" panose="00000500000000000000" pitchFamily="2" charset="0"/>
        <a:buChar char="P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216000" indent="-162000" algn="l" defTabSz="617325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SzPct val="100000"/>
        <a:buFont typeface="init_signs normal" panose="00000500000000000000" pitchFamily="2" charset="0"/>
        <a:buChar char="C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16000" indent="0" algn="l" defTabSz="617325" rtl="0" eaLnBrk="1" latinLnBrk="0" hangingPunct="1">
        <a:lnSpc>
          <a:spcPct val="110000"/>
        </a:lnSpc>
        <a:spcBef>
          <a:spcPts val="800"/>
        </a:spcBef>
        <a:buClr>
          <a:schemeClr val="tx2"/>
        </a:buClr>
        <a:buSzPct val="6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396000" indent="-144000" algn="l" defTabSz="617325" rtl="0" eaLnBrk="1" latinLnBrk="0" hangingPunct="1">
        <a:lnSpc>
          <a:spcPct val="110000"/>
        </a:lnSpc>
        <a:spcBef>
          <a:spcPts val="600"/>
        </a:spcBef>
        <a:buSzPct val="100000"/>
        <a:buFont typeface="init_signs normal" panose="00000500000000000000" pitchFamily="2" charset="0"/>
        <a:buChar char="A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76000" indent="-144000" algn="l" defTabSz="617325" rtl="0" eaLnBrk="1" latinLnBrk="0" hangingPunct="1">
        <a:lnSpc>
          <a:spcPct val="110000"/>
        </a:lnSpc>
        <a:spcBef>
          <a:spcPts val="600"/>
        </a:spcBef>
        <a:buSzPct val="100000"/>
        <a:buFont typeface="init_signs normal" panose="00000500000000000000" pitchFamily="2" charset="0"/>
        <a:buChar char="A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96000" indent="0" algn="l" defTabSz="617325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60000"/>
        <a:buFontTx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396000" indent="0" algn="l" defTabSz="617325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60000"/>
        <a:buFontTx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63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325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988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651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313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976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640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9302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pos="295" userDrawn="1">
          <p15:clr>
            <a:srgbClr val="F26B43"/>
          </p15:clr>
        </p15:guide>
        <p15:guide id="4" orient="horz" pos="259" userDrawn="1">
          <p15:clr>
            <a:srgbClr val="F26B43"/>
          </p15:clr>
        </p15:guide>
        <p15:guide id="5" pos="5465" userDrawn="1">
          <p15:clr>
            <a:srgbClr val="F26B43"/>
          </p15:clr>
        </p15:guide>
        <p15:guide id="6" orient="horz" pos="2981" userDrawn="1">
          <p15:clr>
            <a:srgbClr val="F26B43"/>
          </p15:clr>
        </p15:guide>
        <p15:guide id="7" orient="horz" pos="1030" userDrawn="1">
          <p15:clr>
            <a:srgbClr val="F26B43"/>
          </p15:clr>
        </p15:guide>
        <p15:guide id="8" orient="horz" pos="2799" userDrawn="1">
          <p15:clr>
            <a:srgbClr val="F26B43"/>
          </p15:clr>
        </p15:guide>
        <p15:guide id="9" orient="horz" pos="69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35357"/>
            <a:fld id="{C7634F62-7228-4274-A63C-C6B1B1C5B0B1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 defTabSz="435357"/>
              <a:t>21.03.2021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35357"/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35357"/>
            <a:fld id="{8C5D31CC-A0F5-4F48-8B32-D5616F917CFA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 defTabSz="435357"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76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60956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390" indent="-152390" algn="l" defTabSz="60956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6" kern="1200">
          <a:solidFill>
            <a:schemeClr val="tx1"/>
          </a:solidFill>
          <a:latin typeface="+mn-lt"/>
          <a:ea typeface="+mn-ea"/>
          <a:cs typeface="+mn-cs"/>
        </a:defRPr>
      </a:lvl1pPr>
      <a:lvl2pPr marL="45717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5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4" kern="1200">
          <a:solidFill>
            <a:schemeClr val="tx1"/>
          </a:solidFill>
          <a:latin typeface="+mn-lt"/>
          <a:ea typeface="+mn-ea"/>
          <a:cs typeface="+mn-cs"/>
        </a:defRPr>
      </a:lvl3pPr>
      <a:lvl4pPr marL="106673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1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29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07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585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630" indent="-152390" algn="l" defTabSz="60956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8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4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12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90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68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46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240" algn="l" defTabSz="60956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9.png"/><Relationship Id="rId3" Type="http://schemas.openxmlformats.org/officeDocument/2006/relationships/tags" Target="../tags/tag3.xml"/><Relationship Id="rId21" Type="http://schemas.openxmlformats.org/officeDocument/2006/relationships/image" Target="../media/image4.png"/><Relationship Id="rId34" Type="http://schemas.openxmlformats.org/officeDocument/2006/relationships/image" Target="../media/image17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8.png"/><Relationship Id="rId33" Type="http://schemas.openxmlformats.org/officeDocument/2006/relationships/image" Target="../media/image16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16.xml"/><Relationship Id="rId29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7.png"/><Relationship Id="rId32" Type="http://schemas.openxmlformats.org/officeDocument/2006/relationships/image" Target="../media/image15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6.png"/><Relationship Id="rId28" Type="http://schemas.openxmlformats.org/officeDocument/2006/relationships/image" Target="../media/image11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1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5.emf"/><Relationship Id="rId27" Type="http://schemas.openxmlformats.org/officeDocument/2006/relationships/image" Target="../media/image10.png"/><Relationship Id="rId30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Connector 116">
            <a:extLst>
              <a:ext uri="{FF2B5EF4-FFF2-40B4-BE49-F238E27FC236}">
                <a16:creationId xmlns="" xmlns:a16="http://schemas.microsoft.com/office/drawing/2014/main" id="{A73C593D-1DDD-40E9-AC07-819EB9879327}"/>
              </a:ext>
            </a:extLst>
          </p:cNvPr>
          <p:cNvCxnSpPr>
            <a:cxnSpLocks/>
          </p:cNvCxnSpPr>
          <p:nvPr/>
        </p:nvCxnSpPr>
        <p:spPr bwMode="gray">
          <a:xfrm>
            <a:off x="3301572" y="1219281"/>
            <a:ext cx="1506022" cy="0"/>
          </a:xfrm>
          <a:prstGeom prst="line">
            <a:avLst/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117">
            <a:extLst>
              <a:ext uri="{FF2B5EF4-FFF2-40B4-BE49-F238E27FC236}">
                <a16:creationId xmlns="" xmlns:a16="http://schemas.microsoft.com/office/drawing/2014/main" id="{35927408-C2A9-4D7D-9D71-16C42BB9332D}"/>
              </a:ext>
            </a:extLst>
          </p:cNvPr>
          <p:cNvCxnSpPr>
            <a:cxnSpLocks/>
            <a:stCxn id="103" idx="2"/>
          </p:cNvCxnSpPr>
          <p:nvPr/>
        </p:nvCxnSpPr>
        <p:spPr bwMode="gray">
          <a:xfrm flipV="1">
            <a:off x="2335627" y="1909158"/>
            <a:ext cx="2496000" cy="1505"/>
          </a:xfrm>
          <a:prstGeom prst="line">
            <a:avLst/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120">
            <a:extLst>
              <a:ext uri="{FF2B5EF4-FFF2-40B4-BE49-F238E27FC236}">
                <a16:creationId xmlns="" xmlns:a16="http://schemas.microsoft.com/office/drawing/2014/main" id="{32453E03-9A08-4468-AE67-38EF41AAB88E}"/>
              </a:ext>
            </a:extLst>
          </p:cNvPr>
          <p:cNvCxnSpPr>
            <a:cxnSpLocks/>
          </p:cNvCxnSpPr>
          <p:nvPr/>
        </p:nvCxnSpPr>
        <p:spPr bwMode="gray">
          <a:xfrm>
            <a:off x="2947565" y="1222630"/>
            <a:ext cx="230453" cy="0"/>
          </a:xfrm>
          <a:prstGeom prst="line">
            <a:avLst/>
          </a:prstGeom>
          <a:ln w="57150" cap="rnd">
            <a:solidFill>
              <a:schemeClr val="accent4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121">
            <a:extLst>
              <a:ext uri="{FF2B5EF4-FFF2-40B4-BE49-F238E27FC236}">
                <a16:creationId xmlns="" xmlns:a16="http://schemas.microsoft.com/office/drawing/2014/main" id="{E41A7078-D52D-4F06-B603-B023D8721495}"/>
              </a:ext>
            </a:extLst>
          </p:cNvPr>
          <p:cNvCxnSpPr>
            <a:cxnSpLocks/>
          </p:cNvCxnSpPr>
          <p:nvPr/>
        </p:nvCxnSpPr>
        <p:spPr bwMode="gray">
          <a:xfrm flipV="1">
            <a:off x="3991736" y="3972214"/>
            <a:ext cx="4114739" cy="5467"/>
          </a:xfrm>
          <a:prstGeom prst="line">
            <a:avLst/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3464058" y="1823983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66" name="Oval 59">
            <a:extLst>
              <a:ext uri="{FF2B5EF4-FFF2-40B4-BE49-F238E27FC236}">
                <a16:creationId xmlns="" xmlns:a16="http://schemas.microsoft.com/office/drawing/2014/main" id="{B8624F2F-FA4A-4145-9963-8FDD242146F8}"/>
              </a:ext>
            </a:extLst>
          </p:cNvPr>
          <p:cNvSpPr>
            <a:spLocks/>
          </p:cNvSpPr>
          <p:nvPr/>
        </p:nvSpPr>
        <p:spPr bwMode="gray">
          <a:xfrm>
            <a:off x="4336519" y="1130691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70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4336519" y="1823664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cxnSp>
        <p:nvCxnSpPr>
          <p:cNvPr id="71" name="Straight Connector 117">
            <a:extLst>
              <a:ext uri="{FF2B5EF4-FFF2-40B4-BE49-F238E27FC236}">
                <a16:creationId xmlns="" xmlns:a16="http://schemas.microsoft.com/office/drawing/2014/main" id="{35927408-C2A9-4D7D-9D71-16C42BB9332D}"/>
              </a:ext>
            </a:extLst>
          </p:cNvPr>
          <p:cNvCxnSpPr>
            <a:cxnSpLocks/>
            <a:stCxn id="103" idx="0"/>
          </p:cNvCxnSpPr>
          <p:nvPr/>
        </p:nvCxnSpPr>
        <p:spPr bwMode="gray">
          <a:xfrm flipV="1">
            <a:off x="2339079" y="2599916"/>
            <a:ext cx="3470428" cy="388"/>
          </a:xfrm>
          <a:prstGeom prst="line">
            <a:avLst/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3464058" y="2505021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74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4336519" y="2515284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75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5272383" y="2508537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76" name="Arc 122">
            <a:extLst>
              <a:ext uri="{FF2B5EF4-FFF2-40B4-BE49-F238E27FC236}">
                <a16:creationId xmlns="" xmlns:a16="http://schemas.microsoft.com/office/drawing/2014/main" id="{96CEB781-72F7-413B-840C-70D1FA8FA414}"/>
              </a:ext>
            </a:extLst>
          </p:cNvPr>
          <p:cNvSpPr>
            <a:spLocks/>
          </p:cNvSpPr>
          <p:nvPr/>
        </p:nvSpPr>
        <p:spPr bwMode="gray">
          <a:xfrm>
            <a:off x="4482821" y="1219208"/>
            <a:ext cx="685537" cy="689949"/>
          </a:xfrm>
          <a:prstGeom prst="arc">
            <a:avLst>
              <a:gd name="adj1" fmla="val 16082159"/>
              <a:gd name="adj2" fmla="val 5483426"/>
            </a:avLst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9" dirty="0">
              <a:solidFill>
                <a:srgbClr val="000000"/>
              </a:solidFill>
              <a:latin typeface="BundesSans Regular"/>
              <a:ea typeface="ＭＳ Ｐゴシック"/>
            </a:endParaRPr>
          </a:p>
        </p:txBody>
      </p:sp>
      <p:cxnSp>
        <p:nvCxnSpPr>
          <p:cNvPr id="78" name="Straight Connector 116">
            <a:extLst>
              <a:ext uri="{FF2B5EF4-FFF2-40B4-BE49-F238E27FC236}">
                <a16:creationId xmlns="" xmlns:a16="http://schemas.microsoft.com/office/drawing/2014/main" id="{A73C593D-1DDD-40E9-AC07-819EB9879327}"/>
              </a:ext>
            </a:extLst>
          </p:cNvPr>
          <p:cNvCxnSpPr>
            <a:cxnSpLocks/>
          </p:cNvCxnSpPr>
          <p:nvPr/>
        </p:nvCxnSpPr>
        <p:spPr bwMode="gray">
          <a:xfrm>
            <a:off x="3991736" y="3287521"/>
            <a:ext cx="1817769" cy="0"/>
          </a:xfrm>
          <a:prstGeom prst="line">
            <a:avLst/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5272383" y="3200507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80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4336519" y="3205735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83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4336519" y="3889074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84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5246203" y="3894234"/>
            <a:ext cx="171447" cy="171447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85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6127425" y="3821842"/>
            <a:ext cx="297176" cy="297176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90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954465" y="888967"/>
            <a:ext cx="1032652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1. Suchen und informieren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Online-Suche nach geeigneten Studiengängen</a:t>
            </a:r>
          </a:p>
        </p:txBody>
      </p:sp>
      <p:sp>
        <p:nvSpPr>
          <p:cNvPr id="95" name="TextBox 54">
            <a:extLst>
              <a:ext uri="{FF2B5EF4-FFF2-40B4-BE49-F238E27FC236}">
                <a16:creationId xmlns:a16="http://schemas.microsoft.com/office/drawing/2014/main" xmlns="" id="{BDF6D960-96F5-4FE4-A49B-93DE18D4FCF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87235" y="1451146"/>
            <a:ext cx="936795" cy="293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3. Zulassungsvoraussetzungen prüfen lassen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Eignung und/oder Kompetenznachweise vorab prüfen lassen</a:t>
            </a:r>
          </a:p>
        </p:txBody>
      </p:sp>
      <p:sp>
        <p:nvSpPr>
          <p:cNvPr id="97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116329" y="888967"/>
            <a:ext cx="1021610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2. Studium vorbereiten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Auswahl eines konkreten Studiengangs und Vorbereitung der Unterlagen</a:t>
            </a:r>
          </a:p>
        </p:txBody>
      </p:sp>
      <p:sp>
        <p:nvSpPr>
          <p:cNvPr id="99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256359" y="2058246"/>
            <a:ext cx="1059356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4. Für Studiengang bewerben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Bewerbung für einen konkreten Studiengang bei Hochschule / </a:t>
            </a:r>
            <a:r>
              <a:rPr lang="de-DE" sz="445" dirty="0" err="1">
                <a:solidFill>
                  <a:prstClr val="black"/>
                </a:solidFill>
              </a:rPr>
              <a:t>SfH</a:t>
            </a:r>
            <a:endParaRPr lang="de-DE" sz="445" dirty="0">
              <a:solidFill>
                <a:prstClr val="black"/>
              </a:solidFill>
            </a:endParaRPr>
          </a:p>
        </p:txBody>
      </p:sp>
      <p:sp>
        <p:nvSpPr>
          <p:cNvPr id="100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10140" y="2058246"/>
            <a:ext cx="884974" cy="361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5. Kompetenzen anerkennen lassen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Anerkennung von (ausländischen) Kompetenznachweisen durch die Hochschule</a:t>
            </a:r>
          </a:p>
        </p:txBody>
      </p:sp>
      <p:sp>
        <p:nvSpPr>
          <p:cNvPr id="101" name="TextBox 54">
            <a:extLst>
              <a:ext uri="{FF2B5EF4-FFF2-40B4-BE49-F238E27FC236}">
                <a16:creationId xmlns:a16="http://schemas.microsoft.com/office/drawing/2014/main" xmlns="" id="{BDF6D960-96F5-4FE4-A49B-93DE18D4FCF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334735" y="2058246"/>
            <a:ext cx="894037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6. An Hochschule einschreiben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Immatrikulation in einen konkreten Studiengang</a:t>
            </a:r>
          </a:p>
        </p:txBody>
      </p:sp>
      <p:sp>
        <p:nvSpPr>
          <p:cNvPr id="102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274572" y="2735313"/>
            <a:ext cx="870131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9. Auslandsstudium vorbereiten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Vorbereitung und Bewerbung für ein Auslandssemester</a:t>
            </a:r>
          </a:p>
        </p:txBody>
      </p:sp>
      <p:sp>
        <p:nvSpPr>
          <p:cNvPr id="103" name="Arc 122">
            <a:extLst>
              <a:ext uri="{FF2B5EF4-FFF2-40B4-BE49-F238E27FC236}">
                <a16:creationId xmlns="" xmlns:a16="http://schemas.microsoft.com/office/drawing/2014/main" id="{96CEB781-72F7-413B-840C-70D1FA8FA414}"/>
              </a:ext>
            </a:extLst>
          </p:cNvPr>
          <p:cNvSpPr>
            <a:spLocks/>
          </p:cNvSpPr>
          <p:nvPr/>
        </p:nvSpPr>
        <p:spPr bwMode="gray">
          <a:xfrm rot="10800000">
            <a:off x="1984488" y="1910560"/>
            <a:ext cx="685537" cy="689949"/>
          </a:xfrm>
          <a:prstGeom prst="arc">
            <a:avLst>
              <a:gd name="adj1" fmla="val 16082159"/>
              <a:gd name="adj2" fmla="val 5483426"/>
            </a:avLst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9" dirty="0">
              <a:solidFill>
                <a:srgbClr val="000000"/>
              </a:solidFill>
              <a:latin typeface="BundesSans Regular"/>
              <a:ea typeface="ＭＳ Ｐゴシック"/>
            </a:endParaRPr>
          </a:p>
        </p:txBody>
      </p:sp>
      <p:sp>
        <p:nvSpPr>
          <p:cNvPr id="104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1916232" y="2186362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105" name="Arc 122">
            <a:extLst>
              <a:ext uri="{FF2B5EF4-FFF2-40B4-BE49-F238E27FC236}">
                <a16:creationId xmlns="" xmlns:a16="http://schemas.microsoft.com/office/drawing/2014/main" id="{96CEB781-72F7-413B-840C-70D1FA8FA414}"/>
              </a:ext>
            </a:extLst>
          </p:cNvPr>
          <p:cNvSpPr>
            <a:spLocks/>
          </p:cNvSpPr>
          <p:nvPr/>
        </p:nvSpPr>
        <p:spPr bwMode="gray">
          <a:xfrm>
            <a:off x="5483966" y="2600324"/>
            <a:ext cx="685537" cy="687130"/>
          </a:xfrm>
          <a:prstGeom prst="arc">
            <a:avLst>
              <a:gd name="adj1" fmla="val 16082159"/>
              <a:gd name="adj2" fmla="val 5483426"/>
            </a:avLst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9" dirty="0">
              <a:solidFill>
                <a:srgbClr val="000000"/>
              </a:solidFill>
              <a:latin typeface="BundesSans Regular"/>
              <a:ea typeface="ＭＳ Ｐゴシック"/>
            </a:endParaRPr>
          </a:p>
        </p:txBody>
      </p:sp>
      <p:sp>
        <p:nvSpPr>
          <p:cNvPr id="107" name="Oval 59">
            <a:extLst>
              <a:ext uri="{FF2B5EF4-FFF2-40B4-BE49-F238E27FC236}">
                <a16:creationId xmlns="" xmlns:a16="http://schemas.microsoft.com/office/drawing/2014/main" id="{B8624F2F-FA4A-4145-9963-8FDD242146F8}"/>
              </a:ext>
            </a:extLst>
          </p:cNvPr>
          <p:cNvSpPr>
            <a:spLocks/>
          </p:cNvSpPr>
          <p:nvPr/>
        </p:nvSpPr>
        <p:spPr bwMode="gray">
          <a:xfrm>
            <a:off x="5069001" y="1474760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108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6054547" y="2833232"/>
            <a:ext cx="205730" cy="205730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109" name="Arc 122">
            <a:extLst>
              <a:ext uri="{FF2B5EF4-FFF2-40B4-BE49-F238E27FC236}">
                <a16:creationId xmlns="" xmlns:a16="http://schemas.microsoft.com/office/drawing/2014/main" id="{96CEB781-72F7-413B-840C-70D1FA8FA414}"/>
              </a:ext>
            </a:extLst>
          </p:cNvPr>
          <p:cNvSpPr>
            <a:spLocks/>
          </p:cNvSpPr>
          <p:nvPr/>
        </p:nvSpPr>
        <p:spPr bwMode="gray">
          <a:xfrm rot="10800000">
            <a:off x="3629007" y="3287454"/>
            <a:ext cx="685537" cy="689949"/>
          </a:xfrm>
          <a:prstGeom prst="arc">
            <a:avLst>
              <a:gd name="adj1" fmla="val 16082159"/>
              <a:gd name="adj2" fmla="val 5483426"/>
            </a:avLst>
          </a:prstGeom>
          <a:ln w="57150" cap="rnd"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429" dirty="0">
              <a:solidFill>
                <a:srgbClr val="000000"/>
              </a:solidFill>
              <a:latin typeface="BundesSans Regular"/>
              <a:ea typeface="ＭＳ Ｐゴシック"/>
            </a:endParaRPr>
          </a:p>
        </p:txBody>
      </p:sp>
      <p:sp>
        <p:nvSpPr>
          <p:cNvPr id="110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3557479" y="3558374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112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410954" y="2735313"/>
            <a:ext cx="859878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8. Im Bachelor studieren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Absolvieren eines grundständigen Studiums</a:t>
            </a:r>
          </a:p>
        </p:txBody>
      </p:sp>
      <p:sp>
        <p:nvSpPr>
          <p:cNvPr id="113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219839" y="2740777"/>
            <a:ext cx="894066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10. Auslandsstudium antreten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Immatrikulation an einer ausländischen Hochschule</a:t>
            </a:r>
          </a:p>
        </p:txBody>
      </p:sp>
      <p:sp>
        <p:nvSpPr>
          <p:cNvPr id="114" name="TextBox 54">
            <a:extLst>
              <a:ext uri="{FF2B5EF4-FFF2-40B4-BE49-F238E27FC236}">
                <a16:creationId xmlns:a16="http://schemas.microsoft.com/office/drawing/2014/main" xmlns="" id="{BDF6D960-96F5-4FE4-A49B-93DE18D4FCF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113905" y="2735313"/>
            <a:ext cx="894037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11. Im Ausland studieren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Absolvieren eines Studiensemesters im Ausland</a:t>
            </a:r>
          </a:p>
        </p:txBody>
      </p:sp>
      <p:sp>
        <p:nvSpPr>
          <p:cNvPr id="115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306882" y="2846874"/>
            <a:ext cx="895278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12. Auslandsstudium beenden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Abschluss des Auslandssemesters und Anerkennung absolvierter Leistungen</a:t>
            </a:r>
          </a:p>
        </p:txBody>
      </p:sp>
      <p:sp>
        <p:nvSpPr>
          <p:cNvPr id="116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200283" y="3463931"/>
            <a:ext cx="858914" cy="146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14. Studiengang wechseln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Übergang vom Bachelor zum Master</a:t>
            </a:r>
          </a:p>
        </p:txBody>
      </p:sp>
      <p:sp>
        <p:nvSpPr>
          <p:cNvPr id="117" name="TextBox 54">
            <a:extLst>
              <a:ext uri="{FF2B5EF4-FFF2-40B4-BE49-F238E27FC236}">
                <a16:creationId xmlns:a16="http://schemas.microsoft.com/office/drawing/2014/main" xmlns="" id="{BDF6D960-96F5-4FE4-A49B-93DE18D4FCF6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2768097" y="3573247"/>
            <a:ext cx="762001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15. Im Master studieren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Absolvieren eines konsekutiven bzw. weiterführenden Studiums</a:t>
            </a:r>
          </a:p>
        </p:txBody>
      </p:sp>
      <p:sp>
        <p:nvSpPr>
          <p:cNvPr id="118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4129392" y="4119018"/>
            <a:ext cx="876892" cy="293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16. Hochschulabschlusszeugnis erhalten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Zum erfolgreichen Abschluss des Studiums wird ein Zeugnis ausgestellt</a:t>
            </a:r>
          </a:p>
        </p:txBody>
      </p:sp>
      <p:sp>
        <p:nvSpPr>
          <p:cNvPr id="119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028095" y="4119018"/>
            <a:ext cx="910538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18. Bewerbung vorbereiten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Erstellen eines Online-Profils und Vorbereitung der Unterlagen</a:t>
            </a:r>
          </a:p>
        </p:txBody>
      </p:sp>
      <p:sp>
        <p:nvSpPr>
          <p:cNvPr id="120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986565" y="4119018"/>
            <a:ext cx="1004080" cy="146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19. Für Job bewerben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Online-Bewerbung bei einem Arbeitgeber</a:t>
            </a:r>
          </a:p>
        </p:txBody>
      </p:sp>
      <p:sp>
        <p:nvSpPr>
          <p:cNvPr id="157" name="Oval 148">
            <a:extLst>
              <a:ext uri="{FF2B5EF4-FFF2-40B4-BE49-F238E27FC236}">
                <a16:creationId xmlns:a16="http://schemas.microsoft.com/office/drawing/2014/main" xmlns="" id="{9BCEB48B-0957-4DF2-A4ED-25C2392DC57F}"/>
              </a:ext>
            </a:extLst>
          </p:cNvPr>
          <p:cNvSpPr>
            <a:spLocks/>
          </p:cNvSpPr>
          <p:nvPr/>
        </p:nvSpPr>
        <p:spPr bwMode="gray">
          <a:xfrm>
            <a:off x="3150641" y="1136911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pic>
        <p:nvPicPr>
          <p:cNvPr id="159" name="Grafik 158"/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2683" y="1491904"/>
            <a:ext cx="137153" cy="137153"/>
          </a:xfrm>
          <a:prstGeom prst="rect">
            <a:avLst/>
          </a:prstGeom>
        </p:spPr>
      </p:pic>
      <p:pic>
        <p:nvPicPr>
          <p:cNvPr id="160" name="Grafik 159"/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8388" y="1840581"/>
            <a:ext cx="141066" cy="137153"/>
          </a:xfrm>
          <a:prstGeom prst="rect">
            <a:avLst/>
          </a:prstGeom>
        </p:spPr>
      </p:pic>
      <p:pic>
        <p:nvPicPr>
          <p:cNvPr id="161" name="Grafik 160"/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9946" y="1098859"/>
            <a:ext cx="222873" cy="222873"/>
          </a:xfrm>
          <a:prstGeom prst="rect">
            <a:avLst/>
          </a:prstGeom>
        </p:spPr>
      </p:pic>
      <p:pic>
        <p:nvPicPr>
          <p:cNvPr id="163" name="Grafik 162"/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2530" y="1798267"/>
            <a:ext cx="222873" cy="222873"/>
          </a:xfrm>
          <a:prstGeom prst="rect">
            <a:avLst/>
          </a:prstGeom>
        </p:spPr>
      </p:pic>
      <p:pic>
        <p:nvPicPr>
          <p:cNvPr id="165" name="Grafik 164"/>
          <p:cNvPicPr>
            <a:picLocks noChangeAspect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0951" y="2442910"/>
            <a:ext cx="274306" cy="274306"/>
          </a:xfrm>
          <a:prstGeom prst="rect">
            <a:avLst/>
          </a:prstGeom>
        </p:spPr>
      </p:pic>
      <p:grpSp>
        <p:nvGrpSpPr>
          <p:cNvPr id="166" name="Gruppieren 165"/>
          <p:cNvGrpSpPr/>
          <p:nvPr/>
        </p:nvGrpSpPr>
        <p:grpSpPr>
          <a:xfrm>
            <a:off x="4336519" y="2490986"/>
            <a:ext cx="171441" cy="171441"/>
            <a:chOff x="3836692" y="13620384"/>
            <a:chExt cx="731388" cy="720000"/>
          </a:xfrm>
        </p:grpSpPr>
        <p:pic>
          <p:nvPicPr>
            <p:cNvPr id="167" name="Grafik 166"/>
            <p:cNvPicPr>
              <a:picLocks noChangeAspect="1"/>
            </p:cNvPicPr>
            <p:nvPr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36692" y="13620384"/>
              <a:ext cx="720000" cy="720000"/>
            </a:xfrm>
            <a:prstGeom prst="rect">
              <a:avLst/>
            </a:prstGeom>
          </p:spPr>
        </p:pic>
        <p:cxnSp>
          <p:nvCxnSpPr>
            <p:cNvPr id="168" name="Gerade Verbindung mit Pfeil 167"/>
            <p:cNvCxnSpPr/>
            <p:nvPr/>
          </p:nvCxnSpPr>
          <p:spPr>
            <a:xfrm flipV="1">
              <a:off x="3848080" y="14273596"/>
              <a:ext cx="72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0" name="Grafik 169"/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7695" y="2527169"/>
            <a:ext cx="137153" cy="137153"/>
          </a:xfrm>
          <a:prstGeom prst="rect">
            <a:avLst/>
          </a:prstGeom>
        </p:spPr>
      </p:pic>
      <p:grpSp>
        <p:nvGrpSpPr>
          <p:cNvPr id="12" name="Gruppieren 11"/>
          <p:cNvGrpSpPr/>
          <p:nvPr/>
        </p:nvGrpSpPr>
        <p:grpSpPr>
          <a:xfrm>
            <a:off x="6060545" y="2850547"/>
            <a:ext cx="171441" cy="171441"/>
            <a:chOff x="3848080" y="16732807"/>
            <a:chExt cx="720488" cy="720000"/>
          </a:xfrm>
        </p:grpSpPr>
        <p:cxnSp>
          <p:nvCxnSpPr>
            <p:cNvPr id="171" name="Gerade Verbindung mit Pfeil 170"/>
            <p:cNvCxnSpPr/>
            <p:nvPr/>
          </p:nvCxnSpPr>
          <p:spPr>
            <a:xfrm flipH="1" flipV="1">
              <a:off x="3848080" y="17360949"/>
              <a:ext cx="72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2" name="Grafik 171"/>
            <p:cNvPicPr>
              <a:picLocks noChangeAspect="1"/>
            </p:cNvPicPr>
            <p:nvPr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48568" y="16732807"/>
              <a:ext cx="720000" cy="720000"/>
            </a:xfrm>
            <a:prstGeom prst="rect">
              <a:avLst/>
            </a:prstGeom>
          </p:spPr>
        </p:pic>
      </p:grpSp>
      <p:pic>
        <p:nvPicPr>
          <p:cNvPr id="174" name="Grafik 173"/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6612" y="3883111"/>
            <a:ext cx="188585" cy="188585"/>
          </a:xfrm>
          <a:prstGeom prst="rect">
            <a:avLst/>
          </a:prstGeom>
        </p:spPr>
      </p:pic>
      <p:pic>
        <p:nvPicPr>
          <p:cNvPr id="176" name="Grafik 175"/>
          <p:cNvPicPr>
            <a:picLocks noChangeAspect="1"/>
          </p:cNvPicPr>
          <p:nvPr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4236" y="3195227"/>
            <a:ext cx="188585" cy="188585"/>
          </a:xfrm>
          <a:prstGeom prst="rect">
            <a:avLst/>
          </a:prstGeom>
        </p:spPr>
      </p:pic>
      <p:pic>
        <p:nvPicPr>
          <p:cNvPr id="164" name="Grafik 163"/>
          <p:cNvPicPr>
            <a:picLocks noChangeAspect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2591" y="1130642"/>
            <a:ext cx="171441" cy="171441"/>
          </a:xfrm>
          <a:prstGeom prst="rect">
            <a:avLst/>
          </a:prstGeom>
        </p:spPr>
      </p:pic>
      <p:pic>
        <p:nvPicPr>
          <p:cNvPr id="178" name="Grafik 177"/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464" y="3558377"/>
            <a:ext cx="188585" cy="188585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9440" y="3869992"/>
            <a:ext cx="333145" cy="199887"/>
          </a:xfrm>
          <a:prstGeom prst="rect">
            <a:avLst/>
          </a:prstGeom>
        </p:spPr>
      </p:pic>
      <p:sp>
        <p:nvSpPr>
          <p:cNvPr id="65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2642907" y="1840581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sp>
        <p:nvSpPr>
          <p:cNvPr id="72" name="Oval 115">
            <a:extLst>
              <a:ext uri="{FF2B5EF4-FFF2-40B4-BE49-F238E27FC236}">
                <a16:creationId xmlns="" xmlns:a16="http://schemas.microsoft.com/office/drawing/2014/main" id="{BC5401A6-1385-4E65-973F-51FC7E6C4612}"/>
              </a:ext>
            </a:extLst>
          </p:cNvPr>
          <p:cNvSpPr>
            <a:spLocks/>
          </p:cNvSpPr>
          <p:nvPr/>
        </p:nvSpPr>
        <p:spPr bwMode="gray">
          <a:xfrm>
            <a:off x="2645710" y="2512316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35357"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pic>
        <p:nvPicPr>
          <p:cNvPr id="162" name="Grafik 161"/>
          <p:cNvPicPr>
            <a:picLocks noChangeAspect="1"/>
          </p:cNvPicPr>
          <p:nvPr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6822" y="1799432"/>
            <a:ext cx="188585" cy="188585"/>
          </a:xfrm>
          <a:prstGeom prst="rect">
            <a:avLst/>
          </a:prstGeom>
        </p:spPr>
      </p:pic>
      <p:pic>
        <p:nvPicPr>
          <p:cNvPr id="173" name="Grafik 172"/>
          <p:cNvPicPr>
            <a:picLocks noChangeAspect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2187" y="2509964"/>
            <a:ext cx="188585" cy="188585"/>
          </a:xfrm>
          <a:prstGeom prst="rect">
            <a:avLst/>
          </a:prstGeom>
        </p:spPr>
      </p:pic>
      <p:pic>
        <p:nvPicPr>
          <p:cNvPr id="77" name="Grafik 76"/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7664" y="3193162"/>
            <a:ext cx="188585" cy="188585"/>
          </a:xfrm>
          <a:prstGeom prst="rect">
            <a:avLst/>
          </a:prstGeom>
        </p:spPr>
      </p:pic>
      <p:sp>
        <p:nvSpPr>
          <p:cNvPr id="81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5165397" y="3463931"/>
            <a:ext cx="889150" cy="293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13. Hochschulabschlusszeugnis erhalten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Zum erfolgreichen Abschluss des Studiums wird ein Zeugnis ausgestellt</a:t>
            </a:r>
          </a:p>
        </p:txBody>
      </p:sp>
      <p:sp>
        <p:nvSpPr>
          <p:cNvPr id="86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96204" y="2157689"/>
            <a:ext cx="924226" cy="21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7. Studienfinanzierung beantragen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Zur Studienfinanzierung existieren verschiedene Förderungsmöglichkeiten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1647" y="2140093"/>
            <a:ext cx="258314" cy="258314"/>
          </a:xfrm>
          <a:prstGeom prst="rect">
            <a:avLst/>
          </a:prstGeom>
        </p:spPr>
      </p:pic>
      <p:sp>
        <p:nvSpPr>
          <p:cNvPr id="82" name="Oval 56">
            <a:extLst>
              <a:ext uri="{FF2B5EF4-FFF2-40B4-BE49-F238E27FC236}">
                <a16:creationId xmlns="" xmlns:a16="http://schemas.microsoft.com/office/drawing/2014/main" id="{9F071C12-1D5A-4147-9CDF-92A815376796}"/>
              </a:ext>
            </a:extLst>
          </p:cNvPr>
          <p:cNvSpPr>
            <a:spLocks/>
          </p:cNvSpPr>
          <p:nvPr/>
        </p:nvSpPr>
        <p:spPr bwMode="gray">
          <a:xfrm>
            <a:off x="7064307" y="3894698"/>
            <a:ext cx="171441" cy="171441"/>
          </a:xfrm>
          <a:prstGeom prst="ellipse">
            <a:avLst/>
          </a:prstGeom>
          <a:solidFill>
            <a:schemeClr val="bg1"/>
          </a:solidFill>
          <a:ln w="381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rIns="0" rtlCol="0" anchor="ctr"/>
          <a:lstStyle/>
          <a:p>
            <a:pPr algn="ctr" defTabSz="435357"/>
            <a:endParaRPr lang="de-DE" sz="572" b="1" dirty="0">
              <a:solidFill>
                <a:srgbClr val="FFFFFF"/>
              </a:solidFill>
              <a:latin typeface="BundesSans Regular"/>
              <a:ea typeface="ＭＳ Ｐゴシック"/>
            </a:endParaRPr>
          </a:p>
        </p:txBody>
      </p:sp>
      <p:pic>
        <p:nvPicPr>
          <p:cNvPr id="179" name="Grafik 178"/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0000" y="3898732"/>
            <a:ext cx="141066" cy="137153"/>
          </a:xfrm>
          <a:prstGeom prst="rect">
            <a:avLst/>
          </a:prstGeom>
        </p:spPr>
      </p:pic>
      <p:sp>
        <p:nvSpPr>
          <p:cNvPr id="87" name="TextBox 53">
            <a:extLst>
              <a:ext uri="{FF2B5EF4-FFF2-40B4-BE49-F238E27FC236}">
                <a16:creationId xmlns:a16="http://schemas.microsoft.com/office/drawing/2014/main" xmlns="" id="{9D924013-24A3-4BEE-A5E5-1DD448AD7636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5088343" y="4122649"/>
            <a:ext cx="910538" cy="146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671496" eaLnBrk="1" hangingPunct="1">
              <a:buClr>
                <a:schemeClr val="tx2"/>
              </a:buClr>
              <a:defRPr sz="1600" baseline="0">
                <a:latin typeface="+mn-lt"/>
                <a:sym typeface="+mn-lt"/>
              </a:defRPr>
            </a:lvl1pPr>
            <a:lvl2pPr marL="180000" lvl="1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2pPr>
            <a:lvl3pPr marL="360000" lvl="2" indent="-180000" defTabSz="671496" eaLnBrk="1" hangingPunct="1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600" baseline="0">
                <a:latin typeface="+mn-lt"/>
                <a:sym typeface="+mn-lt"/>
              </a:defRPr>
            </a:lvl3pPr>
            <a:lvl4pPr marL="540000" lvl="3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–"/>
              <a:defRPr sz="1600" baseline="0">
                <a:latin typeface="+mn-lt"/>
                <a:sym typeface="+mn-lt"/>
              </a:defRPr>
            </a:lvl4pPr>
            <a:lvl5pPr marL="720000" lvl="4" indent="-180000" defTabSz="671496" eaLnBrk="1" hangingPunct="1">
              <a:buClr>
                <a:schemeClr val="tx2"/>
              </a:buClr>
              <a:buSzPct val="100000"/>
              <a:buFont typeface="Calibri" panose="020F0502020204030204" pitchFamily="34" charset="0"/>
              <a:buChar char="»"/>
              <a:defRPr sz="1600" baseline="0">
                <a:latin typeface="+mn-lt"/>
                <a:sym typeface="+mn-lt"/>
              </a:defRPr>
            </a:lvl5pPr>
            <a:lvl6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6pPr>
            <a:lvl7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7pPr>
            <a:lvl8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8pPr>
            <a:lvl9pPr marL="562342" indent="-97628" defTabSz="67149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00" baseline="0">
                <a:latin typeface="+mn-lt"/>
              </a:defRPr>
            </a:lvl9pPr>
          </a:lstStyle>
          <a:p>
            <a:pPr>
              <a:spcBef>
                <a:spcPts val="95"/>
              </a:spcBef>
              <a:buClr>
                <a:srgbClr val="44546A"/>
              </a:buClr>
            </a:pPr>
            <a:r>
              <a:rPr lang="de-DE" sz="508" b="1" dirty="0">
                <a:solidFill>
                  <a:srgbClr val="FFC000"/>
                </a:solidFill>
              </a:rPr>
              <a:t>17. Suchen und informieren</a:t>
            </a:r>
          </a:p>
          <a:p>
            <a:pPr marL="0" lvl="1" indent="0">
              <a:spcBef>
                <a:spcPts val="48"/>
              </a:spcBef>
              <a:buClr>
                <a:srgbClr val="44546A"/>
              </a:buClr>
              <a:buNone/>
            </a:pPr>
            <a:r>
              <a:rPr lang="de-DE" sz="445" dirty="0">
                <a:solidFill>
                  <a:prstClr val="black"/>
                </a:solidFill>
              </a:rPr>
              <a:t>Online-Suche nach geeigneten Jobs</a:t>
            </a:r>
          </a:p>
        </p:txBody>
      </p:sp>
      <p:pic>
        <p:nvPicPr>
          <p:cNvPr id="89" name="Grafik 88"/>
          <p:cNvPicPr>
            <a:picLocks noChangeAspect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6536" y="3889751"/>
            <a:ext cx="171441" cy="17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1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548" y="1783418"/>
            <a:ext cx="5583279" cy="1466143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6522" y="405014"/>
            <a:ext cx="1939813" cy="509386"/>
          </a:xfrm>
          <a:prstGeom prst="rect">
            <a:avLst/>
          </a:prstGeom>
        </p:spPr>
      </p:pic>
      <p:pic>
        <p:nvPicPr>
          <p:cNvPr id="9" name="Picture 4" descr="Bildergebnis für sachsen anhalt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18" y="186301"/>
            <a:ext cx="1540951" cy="728099"/>
          </a:xfrm>
          <a:prstGeom prst="rect">
            <a:avLst/>
          </a:prstGeom>
          <a:solidFill>
            <a:srgbClr val="E65A23"/>
          </a:solidFill>
          <a:extLst/>
        </p:spPr>
      </p:pic>
      <p:pic>
        <p:nvPicPr>
          <p:cNvPr id="10" name="Picture 2" descr="Logo BMB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084" y="293866"/>
            <a:ext cx="1124593" cy="56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079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3273175"/>
            <a:ext cx="8958942" cy="3357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2836254"/>
            <a:ext cx="8958942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36616" y="158328"/>
            <a:ext cx="8568151" cy="994172"/>
          </a:xfrm>
        </p:spPr>
        <p:txBody>
          <a:bodyPr/>
          <a:lstStyle/>
          <a:p>
            <a:r>
              <a:rPr lang="de-DE" sz="2000" dirty="0"/>
              <a:t>Interoperabilitätsstandard </a:t>
            </a:r>
            <a:r>
              <a:rPr lang="de-DE" sz="2000" dirty="0" smtClean="0"/>
              <a:t>im </a:t>
            </a:r>
            <a:r>
              <a:rPr lang="de-DE" sz="2000" dirty="0" smtClean="0">
                <a:solidFill>
                  <a:schemeClr val="tx2"/>
                </a:solidFill>
              </a:rPr>
              <a:t>Hochschulwesen</a:t>
            </a:r>
            <a:br>
              <a:rPr lang="de-DE" sz="2000" dirty="0" smtClean="0">
                <a:solidFill>
                  <a:schemeClr val="tx2"/>
                </a:solidFill>
              </a:rPr>
            </a:br>
            <a:r>
              <a:rPr lang="de-DE" sz="2000" dirty="0" smtClean="0">
                <a:solidFill>
                  <a:schemeClr val="tx2"/>
                </a:solidFill>
              </a:rPr>
              <a:t>– bestehende rechtliche und organisatorische Vorgaben</a:t>
            </a:r>
            <a:endParaRPr lang="de-DE" sz="2000" dirty="0">
              <a:solidFill>
                <a:schemeClr val="tx2"/>
              </a:solidFill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455646" y="2931604"/>
            <a:ext cx="172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3309457"/>
            <a:ext cx="20781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874988" y="2893536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428524" y="2893534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DSGVO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6396133" y="2893533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weitere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4" name="Rechteck 33"/>
          <p:cNvSpPr/>
          <p:nvPr/>
        </p:nvSpPr>
        <p:spPr>
          <a:xfrm>
            <a:off x="2860894" y="3296934"/>
            <a:ext cx="1103699" cy="2760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 smtClean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  <a:endParaRPr lang="de-DE" sz="8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5" name="Rechteck 34"/>
          <p:cNvSpPr/>
          <p:nvPr/>
        </p:nvSpPr>
        <p:spPr>
          <a:xfrm>
            <a:off x="6674280" y="3296933"/>
            <a:ext cx="1515900" cy="276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 smtClean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  <a:endParaRPr lang="de-DE" sz="8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3651756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SDG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9" name="Rechteck 38"/>
          <p:cNvSpPr/>
          <p:nvPr/>
        </p:nvSpPr>
        <p:spPr>
          <a:xfrm>
            <a:off x="5584442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eIDAS</a:t>
            </a:r>
            <a:endParaRPr lang="de-DE" sz="1050" dirty="0">
              <a:solidFill>
                <a:schemeClr val="tx1"/>
              </a:solidFill>
            </a:endParaRPr>
          </a:p>
        </p:txBody>
      </p:sp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862616"/>
            <a:ext cx="341413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16" name="Grafik 15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431" y="3288232"/>
            <a:ext cx="335728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18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66695" y="4923408"/>
            <a:ext cx="5614698" cy="147364"/>
          </a:xfrm>
          <a:prstGeom prst="rect">
            <a:avLst/>
          </a:prstGeom>
        </p:spPr>
        <p:txBody>
          <a:bodyPr/>
          <a:lstStyle/>
          <a:p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© CC BY 4.0 „]</a:t>
            </a:r>
            <a:r>
              <a:rPr lang="de-DE" sz="600" dirty="0" err="1" smtClean="0">
                <a:solidFill>
                  <a:schemeClr val="bg2">
                    <a:lumMod val="25000"/>
                  </a:schemeClr>
                </a:solidFill>
              </a:rPr>
              <a:t>init</a:t>
            </a:r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[ AG im Auftrag des Landes Sachsen-Anhalt“ – Standardisierung im Hochschulwesen zur OZG-Umsetzung, „</a:t>
            </a:r>
            <a:r>
              <a:rPr lang="de-DE" sz="600" dirty="0" err="1" smtClean="0">
                <a:solidFill>
                  <a:schemeClr val="bg2">
                    <a:lumMod val="25000"/>
                  </a:schemeClr>
                </a:solidFill>
              </a:rPr>
              <a:t>XHochschule</a:t>
            </a:r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 und XBildung“</a:t>
            </a:r>
          </a:p>
        </p:txBody>
      </p:sp>
    </p:spTree>
    <p:extLst>
      <p:ext uri="{BB962C8B-B14F-4D97-AF65-F5344CB8AC3E}">
        <p14:creationId xmlns:p14="http://schemas.microsoft.com/office/powerpoint/2010/main" val="210245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/>
          <p:cNvSpPr/>
          <p:nvPr/>
        </p:nvSpPr>
        <p:spPr>
          <a:xfrm>
            <a:off x="68944" y="3641611"/>
            <a:ext cx="8939674" cy="3679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36616" y="158328"/>
            <a:ext cx="6866942" cy="994172"/>
          </a:xfrm>
        </p:spPr>
        <p:txBody>
          <a:bodyPr/>
          <a:lstStyle/>
          <a:p>
            <a:r>
              <a:rPr lang="de-DE" sz="2000" dirty="0"/>
              <a:t>Interoperabilitätsstandard </a:t>
            </a:r>
            <a:r>
              <a:rPr lang="de-DE" sz="2000" dirty="0" smtClean="0"/>
              <a:t>im </a:t>
            </a:r>
            <a:r>
              <a:rPr lang="de-DE" sz="2000" dirty="0" smtClean="0">
                <a:solidFill>
                  <a:schemeClr val="tx2"/>
                </a:solidFill>
              </a:rPr>
              <a:t>Bildungswesen</a:t>
            </a:r>
            <a:br>
              <a:rPr lang="de-DE" sz="2000" dirty="0" smtClean="0">
                <a:solidFill>
                  <a:schemeClr val="tx2"/>
                </a:solidFill>
              </a:rPr>
            </a:br>
            <a:r>
              <a:rPr lang="de-DE" sz="2000" dirty="0" smtClean="0">
                <a:solidFill>
                  <a:srgbClr val="00B0F0"/>
                </a:solidFill>
              </a:rPr>
              <a:t>zukünftig: XBildung UND </a:t>
            </a:r>
            <a:r>
              <a:rPr lang="de-DE" sz="2000" dirty="0" err="1" smtClean="0">
                <a:solidFill>
                  <a:srgbClr val="00B0F0"/>
                </a:solidFill>
              </a:rPr>
              <a:t>XHochschule</a:t>
            </a:r>
            <a:endParaRPr lang="de-DE" sz="2000" dirty="0">
              <a:solidFill>
                <a:srgbClr val="00B0F0"/>
              </a:solidFill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469508" y="3681184"/>
            <a:ext cx="1858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42" name="Rechteck 41"/>
          <p:cNvSpPr/>
          <p:nvPr/>
        </p:nvSpPr>
        <p:spPr>
          <a:xfrm>
            <a:off x="2931858" y="3658145"/>
            <a:ext cx="5310442" cy="33874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hteck 42"/>
          <p:cNvSpPr/>
          <p:nvPr/>
        </p:nvSpPr>
        <p:spPr>
          <a:xfrm>
            <a:off x="3687971" y="3711178"/>
            <a:ext cx="760120" cy="232679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rgbClr val="FF0000"/>
                </a:solidFill>
                <a:latin typeface="Arial" panose="020B0604020202020204" pitchFamily="34" charset="0"/>
              </a:rPr>
              <a:t>XHochschule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2708020" y="1415943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 smtClean="0"/>
          </a:p>
        </p:txBody>
      </p:sp>
      <p:sp>
        <p:nvSpPr>
          <p:cNvPr id="50" name="Rechteck 49"/>
          <p:cNvSpPr/>
          <p:nvPr/>
        </p:nvSpPr>
        <p:spPr>
          <a:xfrm>
            <a:off x="4466216" y="3716430"/>
            <a:ext cx="465104" cy="230972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XSchule</a:t>
            </a:r>
            <a:endParaRPr lang="de-DE" sz="800" b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hteck 44"/>
          <p:cNvSpPr/>
          <p:nvPr/>
        </p:nvSpPr>
        <p:spPr>
          <a:xfrm>
            <a:off x="4938022" y="3715975"/>
            <a:ext cx="465104" cy="223083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XBAföG</a:t>
            </a:r>
            <a:endParaRPr lang="de-DE" sz="8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hteck 45"/>
          <p:cNvSpPr/>
          <p:nvPr/>
        </p:nvSpPr>
        <p:spPr>
          <a:xfrm>
            <a:off x="5438205" y="3713695"/>
            <a:ext cx="808178" cy="232679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XWeiterbildung</a:t>
            </a:r>
            <a:endParaRPr lang="de-DE" sz="8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hteck 48"/>
          <p:cNvSpPr/>
          <p:nvPr/>
        </p:nvSpPr>
        <p:spPr>
          <a:xfrm>
            <a:off x="6281462" y="3706379"/>
            <a:ext cx="999191" cy="232679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XBerufsausbildung</a:t>
            </a:r>
            <a:endParaRPr lang="de-DE" sz="8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7315732" y="3696561"/>
            <a:ext cx="808178" cy="232679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400" b="1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…</a:t>
            </a:r>
            <a:endParaRPr lang="de-DE" sz="800" b="1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17" name="Grafik 1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132" y="3675412"/>
            <a:ext cx="350189" cy="301045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18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66695" y="4923408"/>
            <a:ext cx="5614698" cy="147364"/>
          </a:xfrm>
          <a:prstGeom prst="rect">
            <a:avLst/>
          </a:prstGeom>
        </p:spPr>
        <p:txBody>
          <a:bodyPr/>
          <a:lstStyle/>
          <a:p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© CC BY 4.0 „]</a:t>
            </a:r>
            <a:r>
              <a:rPr lang="de-DE" sz="600" dirty="0" err="1" smtClean="0">
                <a:solidFill>
                  <a:schemeClr val="bg2">
                    <a:lumMod val="25000"/>
                  </a:schemeClr>
                </a:solidFill>
              </a:rPr>
              <a:t>init</a:t>
            </a:r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[ AG im Auftrag des Landes Sachsen-Anhalt“ – Standardisierung im Hochschulwesen zur OZG-Umsetzung, „</a:t>
            </a:r>
            <a:r>
              <a:rPr lang="de-DE" sz="600" dirty="0" err="1" smtClean="0">
                <a:solidFill>
                  <a:schemeClr val="bg2">
                    <a:lumMod val="25000"/>
                  </a:schemeClr>
                </a:solidFill>
              </a:rPr>
              <a:t>XHochschule</a:t>
            </a:r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 und XBildung“</a:t>
            </a:r>
          </a:p>
        </p:txBody>
      </p:sp>
    </p:spTree>
    <p:extLst>
      <p:ext uri="{BB962C8B-B14F-4D97-AF65-F5344CB8AC3E}">
        <p14:creationId xmlns:p14="http://schemas.microsoft.com/office/powerpoint/2010/main" val="122642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/>
          <p:cNvSpPr/>
          <p:nvPr/>
        </p:nvSpPr>
        <p:spPr>
          <a:xfrm>
            <a:off x="68944" y="4042287"/>
            <a:ext cx="8958942" cy="3856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3641611"/>
            <a:ext cx="8958942" cy="3679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36616" y="158328"/>
            <a:ext cx="7791384" cy="994172"/>
          </a:xfrm>
        </p:spPr>
        <p:txBody>
          <a:bodyPr/>
          <a:lstStyle/>
          <a:p>
            <a:r>
              <a:rPr lang="de-DE" sz="2000" dirty="0"/>
              <a:t>Interoperabilitätsstandard </a:t>
            </a:r>
            <a:r>
              <a:rPr lang="de-DE" sz="2000" dirty="0" smtClean="0"/>
              <a:t>im </a:t>
            </a:r>
            <a:r>
              <a:rPr lang="de-DE" sz="2000" dirty="0" smtClean="0">
                <a:solidFill>
                  <a:schemeClr val="tx2"/>
                </a:solidFill>
              </a:rPr>
              <a:t>Bildungswesen</a:t>
            </a:r>
            <a:br>
              <a:rPr lang="de-DE" sz="2000" dirty="0" smtClean="0">
                <a:solidFill>
                  <a:schemeClr val="tx2"/>
                </a:solidFill>
              </a:rPr>
            </a:br>
            <a:r>
              <a:rPr lang="de-DE" sz="2000" dirty="0" smtClean="0">
                <a:solidFill>
                  <a:srgbClr val="00B0F0"/>
                </a:solidFill>
              </a:rPr>
              <a:t>zukünftig: XBildung, </a:t>
            </a:r>
            <a:r>
              <a:rPr lang="de-DE" sz="2000" u="sng" dirty="0" err="1" smtClean="0">
                <a:solidFill>
                  <a:srgbClr val="FF0000"/>
                </a:solidFill>
              </a:rPr>
              <a:t>XHochschule</a:t>
            </a:r>
            <a:r>
              <a:rPr lang="de-DE" sz="2000" dirty="0" smtClean="0">
                <a:solidFill>
                  <a:srgbClr val="FF0000"/>
                </a:solidFill>
              </a:rPr>
              <a:t> </a:t>
            </a:r>
            <a:r>
              <a:rPr lang="de-DE" sz="2000" dirty="0" smtClean="0">
                <a:solidFill>
                  <a:srgbClr val="00B0F0"/>
                </a:solidFill>
              </a:rPr>
              <a:t>und XSchule </a:t>
            </a:r>
            <a:br>
              <a:rPr lang="de-DE" sz="2000" dirty="0" smtClean="0">
                <a:solidFill>
                  <a:srgbClr val="00B0F0"/>
                </a:solidFill>
              </a:rPr>
            </a:br>
            <a:r>
              <a:rPr lang="de-DE" sz="2000" dirty="0" smtClean="0"/>
              <a:t>und bestehende Standards</a:t>
            </a:r>
            <a:endParaRPr lang="de-DE" sz="2000" dirty="0"/>
          </a:p>
        </p:txBody>
      </p:sp>
      <p:sp>
        <p:nvSpPr>
          <p:cNvPr id="31" name="Textfeld 30"/>
          <p:cNvSpPr txBox="1"/>
          <p:nvPr/>
        </p:nvSpPr>
        <p:spPr>
          <a:xfrm>
            <a:off x="469508" y="3681184"/>
            <a:ext cx="1858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4104048"/>
            <a:ext cx="175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pic>
        <p:nvPicPr>
          <p:cNvPr id="29" name="Grafik 2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768" y="4083291"/>
            <a:ext cx="342540" cy="303623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42" name="Rechteck 41"/>
          <p:cNvSpPr/>
          <p:nvPr/>
        </p:nvSpPr>
        <p:spPr>
          <a:xfrm>
            <a:off x="3552718" y="3689961"/>
            <a:ext cx="3267198" cy="29538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hteck 42"/>
          <p:cNvSpPr/>
          <p:nvPr/>
        </p:nvSpPr>
        <p:spPr>
          <a:xfrm>
            <a:off x="4331461" y="3705056"/>
            <a:ext cx="490973" cy="255273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1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b="1" dirty="0">
                <a:solidFill>
                  <a:srgbClr val="FF0000"/>
                </a:solidFill>
                <a:latin typeface="Arial" panose="020B0604020202020204" pitchFamily="34" charset="0"/>
              </a:rPr>
              <a:t>XHochschule</a:t>
            </a:r>
          </a:p>
        </p:txBody>
      </p:sp>
      <p:sp>
        <p:nvSpPr>
          <p:cNvPr id="17" name="Rechteck 16"/>
          <p:cNvSpPr/>
          <p:nvPr/>
        </p:nvSpPr>
        <p:spPr>
          <a:xfrm>
            <a:off x="2860894" y="3716328"/>
            <a:ext cx="584546" cy="6208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500" dirty="0" smtClean="0">
                <a:solidFill>
                  <a:schemeClr val="tx1"/>
                </a:solidFill>
                <a:latin typeface="Arial" panose="020B0604020202020204" pitchFamily="34" charset="0"/>
              </a:rPr>
              <a:t>Europass Digital Credential Infrastructure (EDCI)</a:t>
            </a:r>
            <a:endParaRPr lang="de-DE" sz="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hteck 19"/>
          <p:cNvSpPr/>
          <p:nvPr/>
        </p:nvSpPr>
        <p:spPr>
          <a:xfrm>
            <a:off x="7558486" y="3664986"/>
            <a:ext cx="1450131" cy="324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XInneres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8304009" y="3686293"/>
            <a:ext cx="226114" cy="27861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XMeld</a:t>
            </a:r>
          </a:p>
        </p:txBody>
      </p:sp>
      <p:sp>
        <p:nvSpPr>
          <p:cNvPr id="19" name="Rechteck 18"/>
          <p:cNvSpPr/>
          <p:nvPr/>
        </p:nvSpPr>
        <p:spPr>
          <a:xfrm>
            <a:off x="8559800" y="3689961"/>
            <a:ext cx="399528" cy="271277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 smtClean="0">
                <a:solidFill>
                  <a:schemeClr val="tx1"/>
                </a:solidFill>
                <a:latin typeface="Arial" panose="020B0604020202020204" pitchFamily="34" charset="0"/>
              </a:rPr>
              <a:t>XPersonenstand</a:t>
            </a:r>
            <a:endParaRPr lang="de-DE" sz="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7018459" y="4076323"/>
            <a:ext cx="1990158" cy="335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OZG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8048218" y="3686293"/>
            <a:ext cx="226114" cy="27861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 smtClean="0">
                <a:solidFill>
                  <a:schemeClr val="tx1"/>
                </a:solidFill>
                <a:latin typeface="Arial" panose="020B0604020202020204" pitchFamily="34" charset="0"/>
              </a:rPr>
              <a:t>XAusl</a:t>
            </a:r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3" name="Rechteck 22"/>
          <p:cNvSpPr/>
          <p:nvPr/>
        </p:nvSpPr>
        <p:spPr>
          <a:xfrm>
            <a:off x="8530123" y="4113026"/>
            <a:ext cx="448924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500" dirty="0" smtClean="0">
                <a:solidFill>
                  <a:schemeClr val="tx1"/>
                </a:solidFill>
                <a:latin typeface="Arial" panose="020B0604020202020204" pitchFamily="34" charset="0"/>
              </a:rPr>
              <a:t>Datenschutz-cockpit</a:t>
            </a:r>
            <a:endParaRPr lang="de-DE" sz="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hteck 23"/>
          <p:cNvSpPr/>
          <p:nvPr/>
        </p:nvSpPr>
        <p:spPr>
          <a:xfrm>
            <a:off x="7919076" y="4113026"/>
            <a:ext cx="572985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 smtClean="0">
                <a:solidFill>
                  <a:schemeClr val="tx1"/>
                </a:solidFill>
                <a:latin typeface="Arial" panose="020B0604020202020204" pitchFamily="34" charset="0"/>
              </a:rPr>
              <a:t>OZG-Nutzerkonten</a:t>
            </a:r>
            <a:endParaRPr lang="de-DE" sz="7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hteck 24"/>
          <p:cNvSpPr/>
          <p:nvPr/>
        </p:nvSpPr>
        <p:spPr>
          <a:xfrm>
            <a:off x="7457505" y="4114528"/>
            <a:ext cx="435281" cy="2734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 smtClean="0">
                <a:solidFill>
                  <a:schemeClr val="tx1"/>
                </a:solidFill>
                <a:latin typeface="Arial" panose="020B0604020202020204" pitchFamily="34" charset="0"/>
              </a:rPr>
              <a:t>ePayment</a:t>
            </a:r>
            <a:endParaRPr lang="de-DE" sz="7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7" name="Textfeld 46"/>
          <p:cNvSpPr txBox="1"/>
          <p:nvPr/>
        </p:nvSpPr>
        <p:spPr>
          <a:xfrm>
            <a:off x="2708020" y="1415943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 smtClean="0"/>
          </a:p>
        </p:txBody>
      </p:sp>
      <p:sp>
        <p:nvSpPr>
          <p:cNvPr id="50" name="Rechteck 49"/>
          <p:cNvSpPr/>
          <p:nvPr/>
        </p:nvSpPr>
        <p:spPr>
          <a:xfrm>
            <a:off x="4849620" y="3707839"/>
            <a:ext cx="318293" cy="253400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5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XSchule</a:t>
            </a:r>
            <a:endParaRPr lang="de-DE" sz="500" b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cxnSp>
        <p:nvCxnSpPr>
          <p:cNvPr id="51" name="Gerade Verbindung mit Pfeil 50"/>
          <p:cNvCxnSpPr>
            <a:stCxn id="42" idx="3"/>
          </p:cNvCxnSpPr>
          <p:nvPr/>
        </p:nvCxnSpPr>
        <p:spPr>
          <a:xfrm flipV="1">
            <a:off x="6819916" y="3832539"/>
            <a:ext cx="203113" cy="51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hteck 43"/>
          <p:cNvSpPr/>
          <p:nvPr/>
        </p:nvSpPr>
        <p:spPr>
          <a:xfrm>
            <a:off x="5189703" y="3707839"/>
            <a:ext cx="318293" cy="253400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XBAföG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hteck 44"/>
          <p:cNvSpPr/>
          <p:nvPr/>
        </p:nvSpPr>
        <p:spPr>
          <a:xfrm>
            <a:off x="5532417" y="3708243"/>
            <a:ext cx="576736" cy="25303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XWeiterbildung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hteck 45"/>
          <p:cNvSpPr/>
          <p:nvPr/>
        </p:nvSpPr>
        <p:spPr>
          <a:xfrm>
            <a:off x="6127528" y="3708381"/>
            <a:ext cx="666733" cy="25303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XBerufsausbildung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hteck 48"/>
          <p:cNvSpPr/>
          <p:nvPr/>
        </p:nvSpPr>
        <p:spPr>
          <a:xfrm>
            <a:off x="7032569" y="3671138"/>
            <a:ext cx="496239" cy="3082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XOEV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53" name="Gerade Verbindung mit Pfeil 52"/>
          <p:cNvCxnSpPr>
            <a:stCxn id="17" idx="3"/>
            <a:endCxn id="42" idx="1"/>
          </p:cNvCxnSpPr>
          <p:nvPr/>
        </p:nvCxnSpPr>
        <p:spPr>
          <a:xfrm flipV="1">
            <a:off x="3445440" y="3837655"/>
            <a:ext cx="107278" cy="189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Grafik 29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228" y="3671815"/>
            <a:ext cx="346659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68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66695" y="4923408"/>
            <a:ext cx="5614698" cy="147364"/>
          </a:xfrm>
          <a:prstGeom prst="rect">
            <a:avLst/>
          </a:prstGeom>
        </p:spPr>
        <p:txBody>
          <a:bodyPr/>
          <a:lstStyle/>
          <a:p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© CC BY 4.0 „]</a:t>
            </a:r>
            <a:r>
              <a:rPr lang="de-DE" sz="600" dirty="0" err="1" smtClean="0">
                <a:solidFill>
                  <a:schemeClr val="bg2">
                    <a:lumMod val="25000"/>
                  </a:schemeClr>
                </a:solidFill>
              </a:rPr>
              <a:t>init</a:t>
            </a:r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[ AG im Auftrag des Landes Sachsen-Anhalt“ – Standardisierung im Hochschulwesen zur OZG-Umsetzung, „</a:t>
            </a:r>
            <a:r>
              <a:rPr lang="de-DE" sz="600" dirty="0" err="1" smtClean="0">
                <a:solidFill>
                  <a:schemeClr val="bg2">
                    <a:lumMod val="25000"/>
                  </a:schemeClr>
                </a:solidFill>
              </a:rPr>
              <a:t>XHochschule</a:t>
            </a:r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 und XBildung“</a:t>
            </a:r>
          </a:p>
        </p:txBody>
      </p:sp>
    </p:spTree>
    <p:extLst>
      <p:ext uri="{BB962C8B-B14F-4D97-AF65-F5344CB8AC3E}">
        <p14:creationId xmlns:p14="http://schemas.microsoft.com/office/powerpoint/2010/main" val="45670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/>
          <p:cNvSpPr/>
          <p:nvPr/>
        </p:nvSpPr>
        <p:spPr>
          <a:xfrm>
            <a:off x="68944" y="4042287"/>
            <a:ext cx="8958942" cy="3856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3641611"/>
            <a:ext cx="8958942" cy="3679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36616" y="158328"/>
            <a:ext cx="7791384" cy="994172"/>
          </a:xfrm>
        </p:spPr>
        <p:txBody>
          <a:bodyPr/>
          <a:lstStyle/>
          <a:p>
            <a:r>
              <a:rPr lang="de-DE" sz="2000" dirty="0"/>
              <a:t>Interoperabilitätsstandard </a:t>
            </a:r>
            <a:r>
              <a:rPr lang="de-DE" sz="2000" dirty="0" smtClean="0"/>
              <a:t>im </a:t>
            </a:r>
            <a:r>
              <a:rPr lang="de-DE" sz="2000" dirty="0" smtClean="0">
                <a:solidFill>
                  <a:schemeClr val="tx2"/>
                </a:solidFill>
              </a:rPr>
              <a:t>Bildungswesen</a:t>
            </a:r>
            <a:br>
              <a:rPr lang="de-DE" sz="2000" dirty="0" smtClean="0">
                <a:solidFill>
                  <a:schemeClr val="tx2"/>
                </a:solidFill>
              </a:rPr>
            </a:br>
            <a:r>
              <a:rPr lang="de-DE" sz="2000" dirty="0" smtClean="0">
                <a:solidFill>
                  <a:srgbClr val="00B0F0"/>
                </a:solidFill>
              </a:rPr>
              <a:t>zukünftig: XBildung, </a:t>
            </a:r>
            <a:r>
              <a:rPr lang="de-DE" sz="2000" u="sng" dirty="0" err="1" smtClean="0">
                <a:solidFill>
                  <a:srgbClr val="FF0000"/>
                </a:solidFill>
              </a:rPr>
              <a:t>XHochschule</a:t>
            </a:r>
            <a:r>
              <a:rPr lang="de-DE" sz="2000" dirty="0" smtClean="0">
                <a:solidFill>
                  <a:srgbClr val="FF0000"/>
                </a:solidFill>
              </a:rPr>
              <a:t> </a:t>
            </a:r>
            <a:r>
              <a:rPr lang="de-DE" sz="2000" dirty="0" smtClean="0">
                <a:solidFill>
                  <a:srgbClr val="00B0F0"/>
                </a:solidFill>
              </a:rPr>
              <a:t>und XSchule </a:t>
            </a:r>
            <a:br>
              <a:rPr lang="de-DE" sz="2000" dirty="0" smtClean="0">
                <a:solidFill>
                  <a:srgbClr val="00B0F0"/>
                </a:solidFill>
              </a:rPr>
            </a:br>
            <a:r>
              <a:rPr lang="de-DE" sz="2000" dirty="0" smtClean="0"/>
              <a:t>und bestehende Standards</a:t>
            </a:r>
            <a:endParaRPr lang="de-DE" sz="2000" dirty="0"/>
          </a:p>
        </p:txBody>
      </p:sp>
      <p:sp>
        <p:nvSpPr>
          <p:cNvPr id="31" name="Textfeld 30"/>
          <p:cNvSpPr txBox="1"/>
          <p:nvPr/>
        </p:nvSpPr>
        <p:spPr>
          <a:xfrm>
            <a:off x="469508" y="3681184"/>
            <a:ext cx="1858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4104048"/>
            <a:ext cx="175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pic>
        <p:nvPicPr>
          <p:cNvPr id="29" name="Grafik 2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768" y="4083291"/>
            <a:ext cx="342540" cy="303623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42" name="Rechteck 41"/>
          <p:cNvSpPr/>
          <p:nvPr/>
        </p:nvSpPr>
        <p:spPr>
          <a:xfrm>
            <a:off x="3552718" y="3689961"/>
            <a:ext cx="3267198" cy="29538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hteck 42"/>
          <p:cNvSpPr/>
          <p:nvPr/>
        </p:nvSpPr>
        <p:spPr>
          <a:xfrm>
            <a:off x="4331461" y="3705056"/>
            <a:ext cx="490973" cy="255273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100" dirty="0" smtClean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b="1" dirty="0">
                <a:solidFill>
                  <a:srgbClr val="FF0000"/>
                </a:solidFill>
                <a:latin typeface="Arial" panose="020B0604020202020204" pitchFamily="34" charset="0"/>
              </a:rPr>
              <a:t>XHochschule</a:t>
            </a:r>
          </a:p>
        </p:txBody>
      </p:sp>
      <p:sp>
        <p:nvSpPr>
          <p:cNvPr id="17" name="Rechteck 16"/>
          <p:cNvSpPr/>
          <p:nvPr/>
        </p:nvSpPr>
        <p:spPr>
          <a:xfrm>
            <a:off x="2860894" y="3716328"/>
            <a:ext cx="584546" cy="6208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500" dirty="0" smtClean="0">
                <a:solidFill>
                  <a:schemeClr val="tx1"/>
                </a:solidFill>
                <a:latin typeface="Arial" panose="020B0604020202020204" pitchFamily="34" charset="0"/>
              </a:rPr>
              <a:t>Europass Digital Credential Infrastructure (EDCI)</a:t>
            </a:r>
            <a:endParaRPr lang="de-DE" sz="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hteck 19"/>
          <p:cNvSpPr/>
          <p:nvPr/>
        </p:nvSpPr>
        <p:spPr>
          <a:xfrm>
            <a:off x="7558486" y="3664986"/>
            <a:ext cx="1450131" cy="324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XInneres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8304009" y="3686293"/>
            <a:ext cx="226114" cy="27861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XMeld</a:t>
            </a:r>
          </a:p>
        </p:txBody>
      </p:sp>
      <p:sp>
        <p:nvSpPr>
          <p:cNvPr id="19" name="Rechteck 18"/>
          <p:cNvSpPr/>
          <p:nvPr/>
        </p:nvSpPr>
        <p:spPr>
          <a:xfrm>
            <a:off x="8559800" y="3689961"/>
            <a:ext cx="399528" cy="271277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 smtClean="0">
                <a:solidFill>
                  <a:schemeClr val="tx1"/>
                </a:solidFill>
                <a:latin typeface="Arial" panose="020B0604020202020204" pitchFamily="34" charset="0"/>
              </a:rPr>
              <a:t>XPersonenstand</a:t>
            </a:r>
            <a:endParaRPr lang="de-DE" sz="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7018459" y="4076323"/>
            <a:ext cx="1990158" cy="335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OZG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8048218" y="3686293"/>
            <a:ext cx="226114" cy="27861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 smtClean="0">
                <a:solidFill>
                  <a:schemeClr val="tx1"/>
                </a:solidFill>
                <a:latin typeface="Arial" panose="020B0604020202020204" pitchFamily="34" charset="0"/>
              </a:rPr>
              <a:t>XAusl</a:t>
            </a:r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3" name="Rechteck 22"/>
          <p:cNvSpPr/>
          <p:nvPr/>
        </p:nvSpPr>
        <p:spPr>
          <a:xfrm>
            <a:off x="8530123" y="4113026"/>
            <a:ext cx="448924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500" dirty="0" smtClean="0">
                <a:solidFill>
                  <a:schemeClr val="tx1"/>
                </a:solidFill>
                <a:latin typeface="Arial" panose="020B0604020202020204" pitchFamily="34" charset="0"/>
              </a:rPr>
              <a:t>Datenschutz-cockpit</a:t>
            </a:r>
            <a:endParaRPr lang="de-DE" sz="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hteck 23"/>
          <p:cNvSpPr/>
          <p:nvPr/>
        </p:nvSpPr>
        <p:spPr>
          <a:xfrm>
            <a:off x="7919076" y="4113026"/>
            <a:ext cx="572985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 smtClean="0">
                <a:solidFill>
                  <a:schemeClr val="tx1"/>
                </a:solidFill>
                <a:latin typeface="Arial" panose="020B0604020202020204" pitchFamily="34" charset="0"/>
              </a:rPr>
              <a:t>OZG-Nutzerkonten</a:t>
            </a:r>
            <a:endParaRPr lang="de-DE" sz="7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hteck 24"/>
          <p:cNvSpPr/>
          <p:nvPr/>
        </p:nvSpPr>
        <p:spPr>
          <a:xfrm>
            <a:off x="7457505" y="4114528"/>
            <a:ext cx="435281" cy="2734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 smtClean="0">
                <a:solidFill>
                  <a:schemeClr val="tx1"/>
                </a:solidFill>
                <a:latin typeface="Arial" panose="020B0604020202020204" pitchFamily="34" charset="0"/>
              </a:rPr>
              <a:t>ePayment</a:t>
            </a:r>
            <a:endParaRPr lang="de-DE" sz="7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7" name="Textfeld 46"/>
          <p:cNvSpPr txBox="1"/>
          <p:nvPr/>
        </p:nvSpPr>
        <p:spPr>
          <a:xfrm>
            <a:off x="2708020" y="1415943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 smtClean="0"/>
          </a:p>
        </p:txBody>
      </p:sp>
      <p:sp>
        <p:nvSpPr>
          <p:cNvPr id="50" name="Rechteck 49"/>
          <p:cNvSpPr/>
          <p:nvPr/>
        </p:nvSpPr>
        <p:spPr>
          <a:xfrm>
            <a:off x="4849620" y="3707839"/>
            <a:ext cx="318293" cy="253400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500" b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XSchule</a:t>
            </a:r>
            <a:endParaRPr lang="de-DE" sz="500" b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cxnSp>
        <p:nvCxnSpPr>
          <p:cNvPr id="51" name="Gerade Verbindung mit Pfeil 50"/>
          <p:cNvCxnSpPr>
            <a:stCxn id="42" idx="3"/>
          </p:cNvCxnSpPr>
          <p:nvPr/>
        </p:nvCxnSpPr>
        <p:spPr>
          <a:xfrm flipV="1">
            <a:off x="6819916" y="3832539"/>
            <a:ext cx="203113" cy="51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hteck 43"/>
          <p:cNvSpPr/>
          <p:nvPr/>
        </p:nvSpPr>
        <p:spPr>
          <a:xfrm>
            <a:off x="5189703" y="3707839"/>
            <a:ext cx="318293" cy="253400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XBAföG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hteck 44"/>
          <p:cNvSpPr/>
          <p:nvPr/>
        </p:nvSpPr>
        <p:spPr>
          <a:xfrm>
            <a:off x="5532417" y="3708243"/>
            <a:ext cx="576736" cy="25303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XWeiterbildung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hteck 45"/>
          <p:cNvSpPr/>
          <p:nvPr/>
        </p:nvSpPr>
        <p:spPr>
          <a:xfrm>
            <a:off x="6127528" y="3708381"/>
            <a:ext cx="666733" cy="25303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 smtClean="0">
                <a:solidFill>
                  <a:srgbClr val="0070C0"/>
                </a:solidFill>
                <a:latin typeface="Arial" panose="020B0604020202020204" pitchFamily="34" charset="0"/>
              </a:rPr>
              <a:t> XBerufsausbildung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hteck 48"/>
          <p:cNvSpPr/>
          <p:nvPr/>
        </p:nvSpPr>
        <p:spPr>
          <a:xfrm>
            <a:off x="7032569" y="3671138"/>
            <a:ext cx="496239" cy="3082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XOEV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53" name="Gerade Verbindung mit Pfeil 52"/>
          <p:cNvCxnSpPr>
            <a:stCxn id="17" idx="3"/>
            <a:endCxn id="42" idx="1"/>
          </p:cNvCxnSpPr>
          <p:nvPr/>
        </p:nvCxnSpPr>
        <p:spPr>
          <a:xfrm flipV="1">
            <a:off x="3445440" y="3837655"/>
            <a:ext cx="107278" cy="1890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Grafik 29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228" y="3671815"/>
            <a:ext cx="346659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55" name="Rechteck 54"/>
          <p:cNvSpPr/>
          <p:nvPr/>
        </p:nvSpPr>
        <p:spPr>
          <a:xfrm>
            <a:off x="68944" y="3273175"/>
            <a:ext cx="8958942" cy="3357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56" name="Rechteck 55"/>
          <p:cNvSpPr/>
          <p:nvPr/>
        </p:nvSpPr>
        <p:spPr>
          <a:xfrm>
            <a:off x="68944" y="2836254"/>
            <a:ext cx="8958942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57" name="Textfeld 56"/>
          <p:cNvSpPr txBox="1"/>
          <p:nvPr/>
        </p:nvSpPr>
        <p:spPr>
          <a:xfrm>
            <a:off x="455646" y="2931604"/>
            <a:ext cx="172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58" name="Textfeld 57"/>
          <p:cNvSpPr txBox="1"/>
          <p:nvPr/>
        </p:nvSpPr>
        <p:spPr>
          <a:xfrm>
            <a:off x="455646" y="3309457"/>
            <a:ext cx="20781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59" name="Rechteck 58"/>
          <p:cNvSpPr/>
          <p:nvPr/>
        </p:nvSpPr>
        <p:spPr>
          <a:xfrm>
            <a:off x="2874988" y="2893536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60" name="Rechteck 59"/>
          <p:cNvSpPr/>
          <p:nvPr/>
        </p:nvSpPr>
        <p:spPr>
          <a:xfrm>
            <a:off x="4428524" y="2893534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DSGVO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61" name="Rechteck 60"/>
          <p:cNvSpPr/>
          <p:nvPr/>
        </p:nvSpPr>
        <p:spPr>
          <a:xfrm>
            <a:off x="6396133" y="2893533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weitere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62" name="Rechteck 61"/>
          <p:cNvSpPr/>
          <p:nvPr/>
        </p:nvSpPr>
        <p:spPr>
          <a:xfrm>
            <a:off x="2860894" y="3296934"/>
            <a:ext cx="1103699" cy="2760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 smtClean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  <a:endParaRPr lang="de-DE" sz="8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3" name="Rechteck 62"/>
          <p:cNvSpPr/>
          <p:nvPr/>
        </p:nvSpPr>
        <p:spPr>
          <a:xfrm>
            <a:off x="6674280" y="3296933"/>
            <a:ext cx="1515900" cy="276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 smtClean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  <a:endParaRPr lang="de-DE" sz="8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64" name="Rechteck 63"/>
          <p:cNvSpPr/>
          <p:nvPr/>
        </p:nvSpPr>
        <p:spPr>
          <a:xfrm>
            <a:off x="3651756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SDG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65" name="Rechteck 64"/>
          <p:cNvSpPr/>
          <p:nvPr/>
        </p:nvSpPr>
        <p:spPr>
          <a:xfrm>
            <a:off x="5584442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eIDAS</a:t>
            </a:r>
            <a:endParaRPr lang="de-DE" sz="1050" dirty="0">
              <a:solidFill>
                <a:schemeClr val="tx1"/>
              </a:solidFill>
            </a:endParaRPr>
          </a:p>
        </p:txBody>
      </p:sp>
      <p:pic>
        <p:nvPicPr>
          <p:cNvPr id="66" name="Grafik 65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862616"/>
            <a:ext cx="341413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67" name="Grafik 66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431" y="3288232"/>
            <a:ext cx="335728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11" name="Rechteck 10"/>
          <p:cNvSpPr/>
          <p:nvPr/>
        </p:nvSpPr>
        <p:spPr>
          <a:xfrm>
            <a:off x="3490203" y="1343428"/>
            <a:ext cx="5518414" cy="1161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/>
              <a:t>Abschlüsse und Nachweise sind selten nur hochschulspezifisch</a:t>
            </a:r>
          </a:p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/>
              <a:t>Schulabschlüsse als Eingang für die Lebenslage „Studium“</a:t>
            </a:r>
          </a:p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/>
              <a:t>Weitere </a:t>
            </a:r>
            <a:r>
              <a:rPr lang="de-DE" sz="1200" dirty="0"/>
              <a:t>fachliche Module entstehen durch die OZG-Umsetzung </a:t>
            </a:r>
            <a:br>
              <a:rPr lang="de-DE" sz="1200" dirty="0"/>
            </a:br>
            <a:r>
              <a:rPr lang="de-DE" sz="1200" dirty="0" smtClean="0"/>
              <a:t>(Anerkennung </a:t>
            </a:r>
            <a:r>
              <a:rPr lang="de-DE" sz="1200" dirty="0"/>
              <a:t>ausländischer </a:t>
            </a:r>
            <a:r>
              <a:rPr lang="de-DE" sz="1200" dirty="0" smtClean="0"/>
              <a:t>Berufsabschlüsse, </a:t>
            </a:r>
            <a:r>
              <a:rPr lang="de-DE" sz="1200" dirty="0" err="1" smtClean="0"/>
              <a:t>Xweiterbildung</a:t>
            </a:r>
            <a:r>
              <a:rPr lang="de-DE" sz="1200" dirty="0" smtClean="0"/>
              <a:t>, …)</a:t>
            </a:r>
            <a:endParaRPr lang="de-DE" sz="1100" dirty="0"/>
          </a:p>
        </p:txBody>
      </p:sp>
      <p:sp>
        <p:nvSpPr>
          <p:cNvPr id="68" name="Fußzeilenplatzhalter 4"/>
          <p:cNvSpPr>
            <a:spLocks noGrp="1"/>
          </p:cNvSpPr>
          <p:nvPr>
            <p:ph type="ftr" sz="quarter" idx="4294967295"/>
          </p:nvPr>
        </p:nvSpPr>
        <p:spPr>
          <a:xfrm>
            <a:off x="66695" y="4923408"/>
            <a:ext cx="5614698" cy="147364"/>
          </a:xfrm>
          <a:prstGeom prst="rect">
            <a:avLst/>
          </a:prstGeom>
        </p:spPr>
        <p:txBody>
          <a:bodyPr/>
          <a:lstStyle/>
          <a:p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© CC BY 4.0 „]</a:t>
            </a:r>
            <a:r>
              <a:rPr lang="de-DE" sz="600" dirty="0" err="1" smtClean="0">
                <a:solidFill>
                  <a:schemeClr val="bg2">
                    <a:lumMod val="25000"/>
                  </a:schemeClr>
                </a:solidFill>
              </a:rPr>
              <a:t>init</a:t>
            </a:r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[ AG im Auftrag des Landes Sachsen-Anhalt“ – Standardisierung im Hochschulwesen zur OZG-Umsetzung, „</a:t>
            </a:r>
            <a:r>
              <a:rPr lang="de-DE" sz="600" dirty="0" err="1" smtClean="0">
                <a:solidFill>
                  <a:schemeClr val="bg2">
                    <a:lumMod val="25000"/>
                  </a:schemeClr>
                </a:solidFill>
              </a:rPr>
              <a:t>XHochschule</a:t>
            </a:r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 und XBildung“</a:t>
            </a:r>
          </a:p>
        </p:txBody>
      </p:sp>
    </p:spTree>
    <p:extLst>
      <p:ext uri="{BB962C8B-B14F-4D97-AF65-F5344CB8AC3E}">
        <p14:creationId xmlns:p14="http://schemas.microsoft.com/office/powerpoint/2010/main" val="259953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smtClean="0"/>
              <a:t>XBildung nutzt EDCI nach und ist SDG- und XÖV-konform</a:t>
            </a:r>
            <a:endParaRPr lang="de-DE" sz="1800" dirty="0"/>
          </a:p>
        </p:txBody>
      </p:sp>
      <p:sp>
        <p:nvSpPr>
          <p:cNvPr id="3" name="Rechteck 2"/>
          <p:cNvSpPr/>
          <p:nvPr/>
        </p:nvSpPr>
        <p:spPr>
          <a:xfrm>
            <a:off x="1616827" y="3446976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XÖV</a:t>
            </a:r>
            <a:endParaRPr lang="de-DE" sz="1600" dirty="0"/>
          </a:p>
        </p:txBody>
      </p:sp>
      <p:sp>
        <p:nvSpPr>
          <p:cNvPr id="5" name="Textfeld 4"/>
          <p:cNvSpPr txBox="1"/>
          <p:nvPr/>
        </p:nvSpPr>
        <p:spPr>
          <a:xfrm>
            <a:off x="642937" y="1152308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Vererbungshierarchie</a:t>
            </a:r>
            <a:br>
              <a:rPr lang="de-DE" sz="1600" dirty="0" smtClean="0"/>
            </a:br>
            <a:r>
              <a:rPr lang="de-DE" sz="1600" dirty="0" smtClean="0"/>
              <a:t>der Datenmodelle</a:t>
            </a:r>
          </a:p>
        </p:txBody>
      </p:sp>
      <p:sp>
        <p:nvSpPr>
          <p:cNvPr id="6" name="Rechteck 5"/>
          <p:cNvSpPr/>
          <p:nvPr/>
        </p:nvSpPr>
        <p:spPr>
          <a:xfrm>
            <a:off x="1626617" y="3936431"/>
            <a:ext cx="2565401" cy="36671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XBildung </a:t>
            </a:r>
            <a:endParaRPr lang="de-DE" sz="1600" dirty="0"/>
          </a:p>
        </p:txBody>
      </p:sp>
      <p:sp>
        <p:nvSpPr>
          <p:cNvPr id="7" name="Rechteck 6"/>
          <p:cNvSpPr/>
          <p:nvPr/>
        </p:nvSpPr>
        <p:spPr>
          <a:xfrm>
            <a:off x="132752" y="4676382"/>
            <a:ext cx="1402869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XHochschule</a:t>
            </a:r>
            <a:endParaRPr lang="de-DE" sz="1600" dirty="0"/>
          </a:p>
        </p:txBody>
      </p:sp>
      <p:sp>
        <p:nvSpPr>
          <p:cNvPr id="8" name="Rechteck 7"/>
          <p:cNvSpPr/>
          <p:nvPr/>
        </p:nvSpPr>
        <p:spPr>
          <a:xfrm>
            <a:off x="3406205" y="299046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EDCI</a:t>
            </a:r>
            <a:endParaRPr lang="de-DE" sz="1600" dirty="0"/>
          </a:p>
        </p:txBody>
      </p:sp>
      <p:sp>
        <p:nvSpPr>
          <p:cNvPr id="14" name="Rechteck 13"/>
          <p:cNvSpPr/>
          <p:nvPr/>
        </p:nvSpPr>
        <p:spPr>
          <a:xfrm>
            <a:off x="2759959" y="225051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W3C</a:t>
            </a:r>
            <a:endParaRPr lang="de-DE" sz="1600" dirty="0"/>
          </a:p>
        </p:txBody>
      </p:sp>
      <p:cxnSp>
        <p:nvCxnSpPr>
          <p:cNvPr id="47" name="Gerade Verbindung mit Pfeil 46"/>
          <p:cNvCxnSpPr>
            <a:stCxn id="6" idx="2"/>
            <a:endCxn id="7" idx="0"/>
          </p:cNvCxnSpPr>
          <p:nvPr/>
        </p:nvCxnSpPr>
        <p:spPr>
          <a:xfrm flipH="1">
            <a:off x="834187" y="4303143"/>
            <a:ext cx="2075131" cy="373239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hteck 31"/>
          <p:cNvSpPr/>
          <p:nvPr/>
        </p:nvSpPr>
        <p:spPr>
          <a:xfrm>
            <a:off x="2113714" y="299046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SDG</a:t>
            </a:r>
            <a:endParaRPr lang="de-DE" sz="1600" dirty="0"/>
          </a:p>
        </p:txBody>
      </p:sp>
      <p:cxnSp>
        <p:nvCxnSpPr>
          <p:cNvPr id="39" name="Gerade Verbindung mit Pfeil 38"/>
          <p:cNvCxnSpPr>
            <a:stCxn id="8" idx="2"/>
            <a:endCxn id="6" idx="0"/>
          </p:cNvCxnSpPr>
          <p:nvPr/>
        </p:nvCxnSpPr>
        <p:spPr>
          <a:xfrm flipH="1">
            <a:off x="2909318" y="3357174"/>
            <a:ext cx="889794" cy="579257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>
            <a:stCxn id="14" idx="2"/>
            <a:endCxn id="8" idx="0"/>
          </p:cNvCxnSpPr>
          <p:nvPr/>
        </p:nvCxnSpPr>
        <p:spPr>
          <a:xfrm>
            <a:off x="3152866" y="2617223"/>
            <a:ext cx="646246" cy="373239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3" idx="2"/>
            <a:endCxn id="6" idx="0"/>
          </p:cNvCxnSpPr>
          <p:nvPr/>
        </p:nvCxnSpPr>
        <p:spPr>
          <a:xfrm>
            <a:off x="2009734" y="3813688"/>
            <a:ext cx="899584" cy="122743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/>
          <p:cNvCxnSpPr>
            <a:stCxn id="32" idx="2"/>
            <a:endCxn id="6" idx="0"/>
          </p:cNvCxnSpPr>
          <p:nvPr/>
        </p:nvCxnSpPr>
        <p:spPr>
          <a:xfrm>
            <a:off x="2506621" y="3357174"/>
            <a:ext cx="402697" cy="579257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Gerade Verbindung mit Pfeil 54"/>
          <p:cNvCxnSpPr>
            <a:stCxn id="6" idx="2"/>
            <a:endCxn id="65" idx="0"/>
          </p:cNvCxnSpPr>
          <p:nvPr/>
        </p:nvCxnSpPr>
        <p:spPr>
          <a:xfrm flipH="1">
            <a:off x="2506621" y="4303143"/>
            <a:ext cx="402697" cy="362402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hteck 61"/>
          <p:cNvSpPr/>
          <p:nvPr/>
        </p:nvSpPr>
        <p:spPr>
          <a:xfrm>
            <a:off x="3088061" y="4665545"/>
            <a:ext cx="879094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XSchule</a:t>
            </a:r>
            <a:endParaRPr lang="de-DE" sz="1600" dirty="0"/>
          </a:p>
        </p:txBody>
      </p:sp>
      <p:sp>
        <p:nvSpPr>
          <p:cNvPr id="64" name="Rechteck 63"/>
          <p:cNvSpPr/>
          <p:nvPr/>
        </p:nvSpPr>
        <p:spPr>
          <a:xfrm>
            <a:off x="4358296" y="4665546"/>
            <a:ext cx="1576392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i="1" dirty="0" smtClean="0"/>
              <a:t>XWeiterbildung</a:t>
            </a:r>
            <a:endParaRPr lang="de-DE" sz="1600" i="1" dirty="0"/>
          </a:p>
        </p:txBody>
      </p:sp>
      <p:sp>
        <p:nvSpPr>
          <p:cNvPr id="65" name="Rechteck 64"/>
          <p:cNvSpPr/>
          <p:nvPr/>
        </p:nvSpPr>
        <p:spPr>
          <a:xfrm>
            <a:off x="2067074" y="4665545"/>
            <a:ext cx="879094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i="1" dirty="0" smtClean="0"/>
              <a:t>XBAföG</a:t>
            </a:r>
            <a:endParaRPr lang="de-DE" sz="1600" i="1" dirty="0"/>
          </a:p>
        </p:txBody>
      </p:sp>
      <p:cxnSp>
        <p:nvCxnSpPr>
          <p:cNvPr id="67" name="Gerade Verbindung mit Pfeil 66"/>
          <p:cNvCxnSpPr>
            <a:stCxn id="6" idx="2"/>
            <a:endCxn id="62" idx="0"/>
          </p:cNvCxnSpPr>
          <p:nvPr/>
        </p:nvCxnSpPr>
        <p:spPr>
          <a:xfrm>
            <a:off x="2909318" y="4303143"/>
            <a:ext cx="618290" cy="362402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Gerade Verbindung mit Pfeil 69"/>
          <p:cNvCxnSpPr>
            <a:stCxn id="6" idx="2"/>
            <a:endCxn id="64" idx="0"/>
          </p:cNvCxnSpPr>
          <p:nvPr/>
        </p:nvCxnSpPr>
        <p:spPr>
          <a:xfrm>
            <a:off x="2909318" y="4303143"/>
            <a:ext cx="2237174" cy="362403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Gerade Verbindung mit Pfeil 72"/>
          <p:cNvCxnSpPr>
            <a:stCxn id="14" idx="2"/>
            <a:endCxn id="32" idx="0"/>
          </p:cNvCxnSpPr>
          <p:nvPr/>
        </p:nvCxnSpPr>
        <p:spPr>
          <a:xfrm flipH="1">
            <a:off x="2506621" y="2617223"/>
            <a:ext cx="646245" cy="373239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hteck 92"/>
          <p:cNvSpPr/>
          <p:nvPr/>
        </p:nvSpPr>
        <p:spPr>
          <a:xfrm>
            <a:off x="451461" y="299046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ELMO</a:t>
            </a:r>
            <a:endParaRPr lang="de-DE" sz="1600" dirty="0"/>
          </a:p>
        </p:txBody>
      </p:sp>
      <p:cxnSp>
        <p:nvCxnSpPr>
          <p:cNvPr id="94" name="Gerade Verbindung mit Pfeil 93"/>
          <p:cNvCxnSpPr>
            <a:stCxn id="93" idx="2"/>
            <a:endCxn id="7" idx="0"/>
          </p:cNvCxnSpPr>
          <p:nvPr/>
        </p:nvCxnSpPr>
        <p:spPr>
          <a:xfrm flipH="1">
            <a:off x="834187" y="3357174"/>
            <a:ext cx="10181" cy="1319208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Gerade Verbindung mit Pfeil 101"/>
          <p:cNvCxnSpPr>
            <a:stCxn id="8" idx="1"/>
            <a:endCxn id="32" idx="3"/>
          </p:cNvCxnSpPr>
          <p:nvPr/>
        </p:nvCxnSpPr>
        <p:spPr>
          <a:xfrm flipH="1">
            <a:off x="2899527" y="3173818"/>
            <a:ext cx="506678" cy="0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25057" y="5015103"/>
            <a:ext cx="4103688" cy="146643"/>
          </a:xfrm>
        </p:spPr>
        <p:txBody>
          <a:bodyPr/>
          <a:lstStyle/>
          <a:p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© CC BY 4.0 „]</a:t>
            </a:r>
            <a:r>
              <a:rPr lang="de-DE" sz="600" dirty="0" err="1" smtClean="0">
                <a:solidFill>
                  <a:schemeClr val="bg2">
                    <a:lumMod val="25000"/>
                  </a:schemeClr>
                </a:solidFill>
              </a:rPr>
              <a:t>init</a:t>
            </a:r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[ AG im Auftrag des Landes Sachsen-Anhalt“ – Standardisierung im Hochschulwesen zur OZG-Umsetzung, „</a:t>
            </a:r>
            <a:r>
              <a:rPr lang="de-DE" sz="600" dirty="0" err="1" smtClean="0">
                <a:solidFill>
                  <a:schemeClr val="bg2">
                    <a:lumMod val="25000"/>
                  </a:schemeClr>
                </a:solidFill>
              </a:rPr>
              <a:t>XHochschule</a:t>
            </a:r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 und XBildung“</a:t>
            </a:r>
          </a:p>
        </p:txBody>
      </p:sp>
    </p:spTree>
    <p:extLst>
      <p:ext uri="{BB962C8B-B14F-4D97-AF65-F5344CB8AC3E}">
        <p14:creationId xmlns:p14="http://schemas.microsoft.com/office/powerpoint/2010/main" val="77495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/>
              <a:t>XBildung nutzt EDCI nach und ist SDG- und XÖV-konform</a:t>
            </a:r>
          </a:p>
        </p:txBody>
      </p:sp>
      <p:sp>
        <p:nvSpPr>
          <p:cNvPr id="3" name="Rechteck 2"/>
          <p:cNvSpPr/>
          <p:nvPr/>
        </p:nvSpPr>
        <p:spPr>
          <a:xfrm>
            <a:off x="1616827" y="3446976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XÖV</a:t>
            </a:r>
            <a:endParaRPr lang="de-DE" sz="1600" dirty="0"/>
          </a:p>
        </p:txBody>
      </p:sp>
      <p:sp>
        <p:nvSpPr>
          <p:cNvPr id="5" name="Textfeld 4"/>
          <p:cNvSpPr txBox="1"/>
          <p:nvPr/>
        </p:nvSpPr>
        <p:spPr>
          <a:xfrm>
            <a:off x="642937" y="1152308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Vererbungshierarchie</a:t>
            </a:r>
            <a:br>
              <a:rPr lang="de-DE" sz="1600" dirty="0" smtClean="0"/>
            </a:br>
            <a:r>
              <a:rPr lang="de-DE" sz="1600" dirty="0" smtClean="0"/>
              <a:t>der Datenmodelle</a:t>
            </a:r>
          </a:p>
        </p:txBody>
      </p:sp>
      <p:sp>
        <p:nvSpPr>
          <p:cNvPr id="6" name="Rechteck 5"/>
          <p:cNvSpPr/>
          <p:nvPr/>
        </p:nvSpPr>
        <p:spPr>
          <a:xfrm>
            <a:off x="1626617" y="3936431"/>
            <a:ext cx="2565401" cy="36671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XBildung </a:t>
            </a:r>
            <a:endParaRPr lang="de-DE" sz="1600" dirty="0"/>
          </a:p>
        </p:txBody>
      </p:sp>
      <p:sp>
        <p:nvSpPr>
          <p:cNvPr id="7" name="Rechteck 6"/>
          <p:cNvSpPr/>
          <p:nvPr/>
        </p:nvSpPr>
        <p:spPr>
          <a:xfrm>
            <a:off x="132752" y="4676382"/>
            <a:ext cx="1402869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XHochschule</a:t>
            </a:r>
            <a:endParaRPr lang="de-DE" sz="1600" dirty="0"/>
          </a:p>
        </p:txBody>
      </p:sp>
      <p:sp>
        <p:nvSpPr>
          <p:cNvPr id="8" name="Rechteck 7"/>
          <p:cNvSpPr/>
          <p:nvPr/>
        </p:nvSpPr>
        <p:spPr>
          <a:xfrm>
            <a:off x="3406205" y="299046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EDCI</a:t>
            </a:r>
            <a:endParaRPr lang="de-DE" sz="1600" dirty="0"/>
          </a:p>
        </p:txBody>
      </p:sp>
      <p:sp>
        <p:nvSpPr>
          <p:cNvPr id="14" name="Rechteck 13"/>
          <p:cNvSpPr/>
          <p:nvPr/>
        </p:nvSpPr>
        <p:spPr>
          <a:xfrm>
            <a:off x="2759959" y="225051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W3C</a:t>
            </a:r>
            <a:endParaRPr lang="de-DE" sz="1600" dirty="0"/>
          </a:p>
        </p:txBody>
      </p:sp>
      <p:cxnSp>
        <p:nvCxnSpPr>
          <p:cNvPr id="47" name="Gerade Verbindung mit Pfeil 46"/>
          <p:cNvCxnSpPr>
            <a:stCxn id="6" idx="2"/>
            <a:endCxn id="7" idx="0"/>
          </p:cNvCxnSpPr>
          <p:nvPr/>
        </p:nvCxnSpPr>
        <p:spPr>
          <a:xfrm flipH="1">
            <a:off x="834187" y="4303143"/>
            <a:ext cx="2075131" cy="373239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hteck 29"/>
          <p:cNvSpPr/>
          <p:nvPr/>
        </p:nvSpPr>
        <p:spPr>
          <a:xfrm>
            <a:off x="7530844" y="3572436"/>
            <a:ext cx="1304812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Sportabzeichen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6878783" y="2006209"/>
            <a:ext cx="2238472" cy="2978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295849" y="2104815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>
                <a:solidFill>
                  <a:srgbClr val="FFFFFF"/>
                </a:solidFill>
              </a:rPr>
              <a:t>international</a:t>
            </a:r>
          </a:p>
        </p:txBody>
      </p:sp>
      <p:sp>
        <p:nvSpPr>
          <p:cNvPr id="38" name="Textfeld 37"/>
          <p:cNvSpPr txBox="1"/>
          <p:nvPr/>
        </p:nvSpPr>
        <p:spPr>
          <a:xfrm>
            <a:off x="7295848" y="3048027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Europäisch / Bologna</a:t>
            </a:r>
          </a:p>
        </p:txBody>
      </p:sp>
      <p:sp>
        <p:nvSpPr>
          <p:cNvPr id="54" name="Textfeld 53"/>
          <p:cNvSpPr txBox="1"/>
          <p:nvPr/>
        </p:nvSpPr>
        <p:spPr>
          <a:xfrm>
            <a:off x="7295847" y="3566839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National / OZG</a:t>
            </a:r>
          </a:p>
        </p:txBody>
      </p:sp>
      <p:sp>
        <p:nvSpPr>
          <p:cNvPr id="56" name="Textfeld 55"/>
          <p:cNvSpPr txBox="1"/>
          <p:nvPr/>
        </p:nvSpPr>
        <p:spPr>
          <a:xfrm>
            <a:off x="6930795" y="4013291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Bildungswesen allgemein</a:t>
            </a:r>
          </a:p>
        </p:txBody>
      </p:sp>
      <p:sp>
        <p:nvSpPr>
          <p:cNvPr id="57" name="Textfeld 56"/>
          <p:cNvSpPr txBox="1"/>
          <p:nvPr/>
        </p:nvSpPr>
        <p:spPr>
          <a:xfrm>
            <a:off x="6947391" y="4527318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Bildungswesen spezifisch</a:t>
            </a:r>
            <a:br>
              <a:rPr lang="de-DE" sz="1200" dirty="0" smtClean="0">
                <a:solidFill>
                  <a:srgbClr val="FFFFFF"/>
                </a:solidFill>
              </a:rPr>
            </a:br>
            <a:r>
              <a:rPr lang="de-DE" sz="1200" dirty="0" smtClean="0">
                <a:solidFill>
                  <a:srgbClr val="FFFFFF"/>
                </a:solidFill>
              </a:rPr>
              <a:t>(</a:t>
            </a:r>
            <a:r>
              <a:rPr lang="de-DE" sz="1200" dirty="0" err="1" smtClean="0">
                <a:solidFill>
                  <a:srgbClr val="FFFFFF"/>
                </a:solidFill>
              </a:rPr>
              <a:t>z.b.</a:t>
            </a:r>
            <a:r>
              <a:rPr lang="de-DE" sz="1200" dirty="0" smtClean="0">
                <a:solidFill>
                  <a:srgbClr val="FFFFFF"/>
                </a:solidFill>
              </a:rPr>
              <a:t> Hochschulwesen)</a:t>
            </a:r>
          </a:p>
        </p:txBody>
      </p:sp>
      <p:sp>
        <p:nvSpPr>
          <p:cNvPr id="63" name="Textfeld 62"/>
          <p:cNvSpPr txBox="1"/>
          <p:nvPr/>
        </p:nvSpPr>
        <p:spPr>
          <a:xfrm>
            <a:off x="6971912" y="814167"/>
            <a:ext cx="914400" cy="59109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Zu berücksichtigende </a:t>
            </a:r>
            <a:br>
              <a:rPr lang="de-DE" sz="1600" dirty="0" smtClean="0"/>
            </a:br>
            <a:r>
              <a:rPr lang="de-DE" sz="1600" dirty="0" smtClean="0"/>
              <a:t>Ebene der </a:t>
            </a:r>
            <a:br>
              <a:rPr lang="de-DE" sz="1600" dirty="0" smtClean="0"/>
            </a:br>
            <a:r>
              <a:rPr lang="de-DE" sz="1600" dirty="0" smtClean="0"/>
              <a:t>Anwendungsfälle</a:t>
            </a:r>
          </a:p>
        </p:txBody>
      </p:sp>
      <p:sp>
        <p:nvSpPr>
          <p:cNvPr id="32" name="Rechteck 31"/>
          <p:cNvSpPr/>
          <p:nvPr/>
        </p:nvSpPr>
        <p:spPr>
          <a:xfrm>
            <a:off x="2113714" y="299046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SDG</a:t>
            </a:r>
            <a:endParaRPr lang="de-DE" sz="1600" dirty="0"/>
          </a:p>
        </p:txBody>
      </p:sp>
      <p:cxnSp>
        <p:nvCxnSpPr>
          <p:cNvPr id="39" name="Gerade Verbindung mit Pfeil 38"/>
          <p:cNvCxnSpPr>
            <a:stCxn id="8" idx="2"/>
            <a:endCxn id="6" idx="0"/>
          </p:cNvCxnSpPr>
          <p:nvPr/>
        </p:nvCxnSpPr>
        <p:spPr>
          <a:xfrm flipH="1">
            <a:off x="2909318" y="3357174"/>
            <a:ext cx="889794" cy="579257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/>
          <p:cNvCxnSpPr>
            <a:stCxn id="14" idx="2"/>
            <a:endCxn id="8" idx="0"/>
          </p:cNvCxnSpPr>
          <p:nvPr/>
        </p:nvCxnSpPr>
        <p:spPr>
          <a:xfrm>
            <a:off x="3152866" y="2617223"/>
            <a:ext cx="646246" cy="373239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3" idx="2"/>
            <a:endCxn id="6" idx="0"/>
          </p:cNvCxnSpPr>
          <p:nvPr/>
        </p:nvCxnSpPr>
        <p:spPr>
          <a:xfrm>
            <a:off x="2009734" y="3813688"/>
            <a:ext cx="899584" cy="122743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/>
          <p:cNvCxnSpPr>
            <a:stCxn id="32" idx="2"/>
            <a:endCxn id="6" idx="0"/>
          </p:cNvCxnSpPr>
          <p:nvPr/>
        </p:nvCxnSpPr>
        <p:spPr>
          <a:xfrm>
            <a:off x="2506621" y="3357174"/>
            <a:ext cx="402697" cy="579257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Gerade Verbindung mit Pfeil 54"/>
          <p:cNvCxnSpPr>
            <a:stCxn id="6" idx="2"/>
            <a:endCxn id="65" idx="0"/>
          </p:cNvCxnSpPr>
          <p:nvPr/>
        </p:nvCxnSpPr>
        <p:spPr>
          <a:xfrm flipH="1">
            <a:off x="2506621" y="4303143"/>
            <a:ext cx="402697" cy="362402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hteck 61"/>
          <p:cNvSpPr/>
          <p:nvPr/>
        </p:nvSpPr>
        <p:spPr>
          <a:xfrm>
            <a:off x="3088061" y="4665545"/>
            <a:ext cx="879094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XSchule</a:t>
            </a:r>
            <a:endParaRPr lang="de-DE" sz="1600" dirty="0"/>
          </a:p>
        </p:txBody>
      </p:sp>
      <p:sp>
        <p:nvSpPr>
          <p:cNvPr id="64" name="Rechteck 63"/>
          <p:cNvSpPr/>
          <p:nvPr/>
        </p:nvSpPr>
        <p:spPr>
          <a:xfrm>
            <a:off x="4358296" y="4665546"/>
            <a:ext cx="1576392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i="1" dirty="0" smtClean="0"/>
              <a:t>XWeiterbildung</a:t>
            </a:r>
            <a:endParaRPr lang="de-DE" sz="1600" i="1" dirty="0"/>
          </a:p>
        </p:txBody>
      </p:sp>
      <p:sp>
        <p:nvSpPr>
          <p:cNvPr id="65" name="Rechteck 64"/>
          <p:cNvSpPr/>
          <p:nvPr/>
        </p:nvSpPr>
        <p:spPr>
          <a:xfrm>
            <a:off x="2067074" y="4665545"/>
            <a:ext cx="879094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i="1" dirty="0" smtClean="0"/>
              <a:t>XBAföG</a:t>
            </a:r>
            <a:endParaRPr lang="de-DE" sz="1600" i="1" dirty="0"/>
          </a:p>
        </p:txBody>
      </p:sp>
      <p:cxnSp>
        <p:nvCxnSpPr>
          <p:cNvPr id="67" name="Gerade Verbindung mit Pfeil 66"/>
          <p:cNvCxnSpPr>
            <a:stCxn id="6" idx="2"/>
            <a:endCxn id="62" idx="0"/>
          </p:cNvCxnSpPr>
          <p:nvPr/>
        </p:nvCxnSpPr>
        <p:spPr>
          <a:xfrm>
            <a:off x="2909318" y="4303143"/>
            <a:ext cx="618290" cy="362402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Gerade Verbindung mit Pfeil 69"/>
          <p:cNvCxnSpPr>
            <a:stCxn id="6" idx="2"/>
            <a:endCxn id="64" idx="0"/>
          </p:cNvCxnSpPr>
          <p:nvPr/>
        </p:nvCxnSpPr>
        <p:spPr>
          <a:xfrm>
            <a:off x="2909318" y="4303143"/>
            <a:ext cx="2237174" cy="362403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Gerade Verbindung mit Pfeil 72"/>
          <p:cNvCxnSpPr>
            <a:stCxn id="14" idx="2"/>
            <a:endCxn id="32" idx="0"/>
          </p:cNvCxnSpPr>
          <p:nvPr/>
        </p:nvCxnSpPr>
        <p:spPr>
          <a:xfrm flipH="1">
            <a:off x="2506621" y="2617223"/>
            <a:ext cx="646245" cy="373239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hteck 92"/>
          <p:cNvSpPr/>
          <p:nvPr/>
        </p:nvSpPr>
        <p:spPr>
          <a:xfrm>
            <a:off x="451461" y="299046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ELMO</a:t>
            </a:r>
            <a:endParaRPr lang="de-DE" sz="1600" dirty="0"/>
          </a:p>
        </p:txBody>
      </p:sp>
      <p:cxnSp>
        <p:nvCxnSpPr>
          <p:cNvPr id="94" name="Gerade Verbindung mit Pfeil 93"/>
          <p:cNvCxnSpPr>
            <a:stCxn id="93" idx="2"/>
            <a:endCxn id="7" idx="0"/>
          </p:cNvCxnSpPr>
          <p:nvPr/>
        </p:nvCxnSpPr>
        <p:spPr>
          <a:xfrm flipH="1">
            <a:off x="834187" y="3357174"/>
            <a:ext cx="10181" cy="1319208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Gerade Verbindung mit Pfeil 101"/>
          <p:cNvCxnSpPr>
            <a:stCxn id="8" idx="1"/>
            <a:endCxn id="32" idx="3"/>
          </p:cNvCxnSpPr>
          <p:nvPr/>
        </p:nvCxnSpPr>
        <p:spPr>
          <a:xfrm flipH="1">
            <a:off x="2899527" y="3173818"/>
            <a:ext cx="506678" cy="0"/>
          </a:xfrm>
          <a:prstGeom prst="straightConnector1">
            <a:avLst/>
          </a:prstGeom>
          <a:ln w="34925"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Rechteck 109"/>
          <p:cNvSpPr/>
          <p:nvPr/>
        </p:nvSpPr>
        <p:spPr>
          <a:xfrm>
            <a:off x="132752" y="2006210"/>
            <a:ext cx="8992198" cy="643612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1" name="Rechteck 110"/>
          <p:cNvSpPr/>
          <p:nvPr/>
        </p:nvSpPr>
        <p:spPr>
          <a:xfrm>
            <a:off x="132752" y="2916434"/>
            <a:ext cx="8992198" cy="492734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2" name="Rechteck 111"/>
          <p:cNvSpPr/>
          <p:nvPr/>
        </p:nvSpPr>
        <p:spPr>
          <a:xfrm>
            <a:off x="125057" y="3451623"/>
            <a:ext cx="8992198" cy="408227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3" name="Rechteck 112"/>
          <p:cNvSpPr/>
          <p:nvPr/>
        </p:nvSpPr>
        <p:spPr>
          <a:xfrm>
            <a:off x="132752" y="3926360"/>
            <a:ext cx="8992198" cy="408227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4" name="Rechteck 113"/>
          <p:cNvSpPr/>
          <p:nvPr/>
        </p:nvSpPr>
        <p:spPr>
          <a:xfrm>
            <a:off x="125057" y="4540366"/>
            <a:ext cx="8992198" cy="454697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25057" y="5015103"/>
            <a:ext cx="4103688" cy="146643"/>
          </a:xfrm>
        </p:spPr>
        <p:txBody>
          <a:bodyPr/>
          <a:lstStyle/>
          <a:p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© CC BY 4.0 „]</a:t>
            </a:r>
            <a:r>
              <a:rPr lang="de-DE" sz="600" dirty="0" err="1" smtClean="0">
                <a:solidFill>
                  <a:schemeClr val="bg2">
                    <a:lumMod val="25000"/>
                  </a:schemeClr>
                </a:solidFill>
              </a:rPr>
              <a:t>init</a:t>
            </a:r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[ AG im Auftrag des Landes Sachsen-Anhalt“ – Standardisierung im Hochschulwesen zur OZG-Umsetzung, „</a:t>
            </a:r>
            <a:r>
              <a:rPr lang="de-DE" sz="600" dirty="0" err="1" smtClean="0">
                <a:solidFill>
                  <a:schemeClr val="bg2">
                    <a:lumMod val="25000"/>
                  </a:schemeClr>
                </a:solidFill>
              </a:rPr>
              <a:t>XHochschule</a:t>
            </a:r>
            <a:r>
              <a:rPr lang="de-DE" sz="600" dirty="0" smtClean="0">
                <a:solidFill>
                  <a:schemeClr val="bg2">
                    <a:lumMod val="25000"/>
                  </a:schemeClr>
                </a:solidFill>
              </a:rPr>
              <a:t> und XBildung“</a:t>
            </a:r>
          </a:p>
        </p:txBody>
      </p:sp>
    </p:spTree>
    <p:extLst>
      <p:ext uri="{BB962C8B-B14F-4D97-AF65-F5344CB8AC3E}">
        <p14:creationId xmlns:p14="http://schemas.microsoft.com/office/powerpoint/2010/main" val="156927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/>
        </p:nvSpPr>
        <p:spPr>
          <a:xfrm>
            <a:off x="500768" y="2198889"/>
            <a:ext cx="2722359" cy="274222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 smtClean="0"/>
              <a:t>XHochschule und XBildung nutzen XÖV und EDCI nach</a:t>
            </a:r>
            <a:endParaRPr lang="de-DE" sz="1800" dirty="0"/>
          </a:p>
        </p:txBody>
      </p:sp>
      <p:sp>
        <p:nvSpPr>
          <p:cNvPr id="3" name="Rechteck 2"/>
          <p:cNvSpPr/>
          <p:nvPr/>
        </p:nvSpPr>
        <p:spPr>
          <a:xfrm>
            <a:off x="567339" y="344982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XÖV</a:t>
            </a:r>
            <a:endParaRPr lang="de-DE" sz="1600" dirty="0"/>
          </a:p>
        </p:txBody>
      </p:sp>
      <p:sp>
        <p:nvSpPr>
          <p:cNvPr id="5" name="Textfeld 4"/>
          <p:cNvSpPr txBox="1"/>
          <p:nvPr/>
        </p:nvSpPr>
        <p:spPr>
          <a:xfrm>
            <a:off x="642937" y="1152308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Vererbungshierarchie</a:t>
            </a:r>
            <a:br>
              <a:rPr lang="de-DE" sz="1600" dirty="0" smtClean="0"/>
            </a:br>
            <a:r>
              <a:rPr lang="de-DE" sz="1600" dirty="0" smtClean="0"/>
              <a:t>der Datenmodelle</a:t>
            </a:r>
          </a:p>
        </p:txBody>
      </p:sp>
      <p:sp>
        <p:nvSpPr>
          <p:cNvPr id="6" name="Rechteck 5"/>
          <p:cNvSpPr/>
          <p:nvPr/>
        </p:nvSpPr>
        <p:spPr>
          <a:xfrm>
            <a:off x="539257" y="3934239"/>
            <a:ext cx="2565401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XBildung </a:t>
            </a:r>
            <a:endParaRPr lang="de-DE" sz="1600" dirty="0"/>
          </a:p>
        </p:txBody>
      </p:sp>
      <p:sp>
        <p:nvSpPr>
          <p:cNvPr id="7" name="Rechteck 6"/>
          <p:cNvSpPr/>
          <p:nvPr/>
        </p:nvSpPr>
        <p:spPr>
          <a:xfrm>
            <a:off x="543811" y="4570139"/>
            <a:ext cx="2565400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XHochschule</a:t>
            </a:r>
            <a:endParaRPr lang="de-DE" sz="1600" dirty="0"/>
          </a:p>
        </p:txBody>
      </p:sp>
      <p:sp>
        <p:nvSpPr>
          <p:cNvPr id="8" name="Rechteck 7"/>
          <p:cNvSpPr/>
          <p:nvPr/>
        </p:nvSpPr>
        <p:spPr>
          <a:xfrm>
            <a:off x="2323399" y="2977984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EDCI</a:t>
            </a:r>
            <a:endParaRPr lang="de-DE" sz="1600" dirty="0"/>
          </a:p>
        </p:txBody>
      </p:sp>
      <p:sp>
        <p:nvSpPr>
          <p:cNvPr id="14" name="Rechteck 13"/>
          <p:cNvSpPr/>
          <p:nvPr/>
        </p:nvSpPr>
        <p:spPr>
          <a:xfrm>
            <a:off x="1738608" y="238353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W3C</a:t>
            </a:r>
            <a:endParaRPr lang="de-DE" sz="1600" dirty="0"/>
          </a:p>
        </p:txBody>
      </p:sp>
      <p:cxnSp>
        <p:nvCxnSpPr>
          <p:cNvPr id="26" name="Gerade Verbindung mit Pfeil 25"/>
          <p:cNvCxnSpPr>
            <a:stCxn id="14" idx="2"/>
            <a:endCxn id="3" idx="0"/>
          </p:cNvCxnSpPr>
          <p:nvPr/>
        </p:nvCxnSpPr>
        <p:spPr>
          <a:xfrm flipH="1">
            <a:off x="960246" y="2750244"/>
            <a:ext cx="1171269" cy="699577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Gerade Verbindung mit Pfeil 36"/>
          <p:cNvCxnSpPr>
            <a:stCxn id="14" idx="2"/>
            <a:endCxn id="8" idx="0"/>
          </p:cNvCxnSpPr>
          <p:nvPr/>
        </p:nvCxnSpPr>
        <p:spPr>
          <a:xfrm>
            <a:off x="2131515" y="2750244"/>
            <a:ext cx="584791" cy="227740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8" idx="2"/>
          </p:cNvCxnSpPr>
          <p:nvPr/>
        </p:nvCxnSpPr>
        <p:spPr>
          <a:xfrm flipH="1">
            <a:off x="2712881" y="3344696"/>
            <a:ext cx="3425" cy="597442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>
            <a:off x="1821957" y="4273208"/>
            <a:ext cx="0" cy="282037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hteck 26"/>
          <p:cNvSpPr/>
          <p:nvPr/>
        </p:nvSpPr>
        <p:spPr>
          <a:xfrm>
            <a:off x="4773542" y="3498944"/>
            <a:ext cx="887394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smtClean="0">
                <a:solidFill>
                  <a:schemeClr val="tx1"/>
                </a:solidFill>
              </a:rPr>
              <a:t>Zeugnis</a:t>
            </a:r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8" name="Rechteck 27"/>
          <p:cNvSpPr/>
          <p:nvPr/>
        </p:nvSpPr>
        <p:spPr>
          <a:xfrm>
            <a:off x="3557215" y="4576582"/>
            <a:ext cx="1279580" cy="3204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Hochschulzeugnis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0" name="Rechteck 29"/>
          <p:cNvSpPr/>
          <p:nvPr/>
        </p:nvSpPr>
        <p:spPr>
          <a:xfrm>
            <a:off x="7530844" y="3572436"/>
            <a:ext cx="1304812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Sportabzeichen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31" name="Rechteck 30"/>
          <p:cNvSpPr/>
          <p:nvPr/>
        </p:nvSpPr>
        <p:spPr>
          <a:xfrm>
            <a:off x="4181142" y="2316686"/>
            <a:ext cx="1806426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 smtClean="0">
                <a:solidFill>
                  <a:schemeClr val="tx1"/>
                </a:solidFill>
              </a:rPr>
              <a:t>Verifiable</a:t>
            </a:r>
            <a:r>
              <a:rPr lang="de-DE" sz="1400" dirty="0" smtClean="0">
                <a:solidFill>
                  <a:schemeClr val="tx1"/>
                </a:solidFill>
              </a:rPr>
              <a:t> </a:t>
            </a:r>
            <a:r>
              <a:rPr lang="de-DE" sz="1400" dirty="0" err="1" smtClean="0">
                <a:solidFill>
                  <a:schemeClr val="tx1"/>
                </a:solidFill>
              </a:rPr>
              <a:t>credential</a:t>
            </a:r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endCxn id="27" idx="0"/>
          </p:cNvCxnSpPr>
          <p:nvPr/>
        </p:nvCxnSpPr>
        <p:spPr>
          <a:xfrm flipH="1">
            <a:off x="5217239" y="3286567"/>
            <a:ext cx="416820" cy="212377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27" idx="2"/>
            <a:endCxn id="28" idx="0"/>
          </p:cNvCxnSpPr>
          <p:nvPr/>
        </p:nvCxnSpPr>
        <p:spPr>
          <a:xfrm flipH="1">
            <a:off x="4197005" y="3830014"/>
            <a:ext cx="1020234" cy="746568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49" idx="2"/>
            <a:endCxn id="48" idx="0"/>
          </p:cNvCxnSpPr>
          <p:nvPr/>
        </p:nvCxnSpPr>
        <p:spPr>
          <a:xfrm>
            <a:off x="6333368" y="3827294"/>
            <a:ext cx="49007" cy="140862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hteck 41"/>
          <p:cNvSpPr/>
          <p:nvPr/>
        </p:nvSpPr>
        <p:spPr>
          <a:xfrm>
            <a:off x="3547404" y="2977984"/>
            <a:ext cx="1137867" cy="3310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err="1" smtClean="0"/>
              <a:t>Issuer</a:t>
            </a:r>
            <a:endParaRPr lang="de-DE" sz="1600" dirty="0"/>
          </a:p>
        </p:txBody>
      </p:sp>
      <p:sp>
        <p:nvSpPr>
          <p:cNvPr id="48" name="Rechteck 47"/>
          <p:cNvSpPr/>
          <p:nvPr/>
        </p:nvSpPr>
        <p:spPr>
          <a:xfrm>
            <a:off x="5823842" y="3968156"/>
            <a:ext cx="1117065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Sprachzertifikat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49" name="Rechteck 48"/>
          <p:cNvSpPr/>
          <p:nvPr/>
        </p:nvSpPr>
        <p:spPr>
          <a:xfrm>
            <a:off x="5889671" y="3496224"/>
            <a:ext cx="887394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smtClean="0">
                <a:solidFill>
                  <a:schemeClr val="tx1"/>
                </a:solidFill>
              </a:rPr>
              <a:t>Zertifikat</a:t>
            </a:r>
            <a:endParaRPr lang="de-DE" sz="1400" dirty="0">
              <a:solidFill>
                <a:schemeClr val="tx1"/>
              </a:solidFill>
            </a:endParaRPr>
          </a:p>
        </p:txBody>
      </p:sp>
      <p:cxnSp>
        <p:nvCxnSpPr>
          <p:cNvPr id="55" name="Gerade Verbindung mit Pfeil 54"/>
          <p:cNvCxnSpPr>
            <a:stCxn id="66" idx="2"/>
          </p:cNvCxnSpPr>
          <p:nvPr/>
        </p:nvCxnSpPr>
        <p:spPr>
          <a:xfrm>
            <a:off x="5826761" y="3286567"/>
            <a:ext cx="439080" cy="197574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Gerade Verbindung mit Pfeil 57"/>
          <p:cNvCxnSpPr>
            <a:stCxn id="31" idx="2"/>
          </p:cNvCxnSpPr>
          <p:nvPr/>
        </p:nvCxnSpPr>
        <p:spPr>
          <a:xfrm>
            <a:off x="5084355" y="2647756"/>
            <a:ext cx="685316" cy="291820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hteck 8"/>
          <p:cNvSpPr/>
          <p:nvPr/>
        </p:nvSpPr>
        <p:spPr>
          <a:xfrm>
            <a:off x="7317657" y="2060477"/>
            <a:ext cx="1807293" cy="28806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91400" y="2404981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>
                <a:solidFill>
                  <a:srgbClr val="FFFFFF"/>
                </a:solidFill>
              </a:rPr>
              <a:t>international</a:t>
            </a:r>
          </a:p>
        </p:txBody>
      </p:sp>
      <p:sp>
        <p:nvSpPr>
          <p:cNvPr id="38" name="Textfeld 37"/>
          <p:cNvSpPr txBox="1"/>
          <p:nvPr/>
        </p:nvSpPr>
        <p:spPr>
          <a:xfrm>
            <a:off x="7360245" y="3027167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Europäisch / Bologna</a:t>
            </a:r>
          </a:p>
        </p:txBody>
      </p:sp>
      <p:cxnSp>
        <p:nvCxnSpPr>
          <p:cNvPr id="51" name="Gerade Verbindung mit Pfeil 50"/>
          <p:cNvCxnSpPr>
            <a:stCxn id="3" idx="2"/>
            <a:endCxn id="6" idx="0"/>
          </p:cNvCxnSpPr>
          <p:nvPr/>
        </p:nvCxnSpPr>
        <p:spPr>
          <a:xfrm>
            <a:off x="960246" y="3816533"/>
            <a:ext cx="861712" cy="117706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feld 53"/>
          <p:cNvSpPr txBox="1"/>
          <p:nvPr/>
        </p:nvSpPr>
        <p:spPr>
          <a:xfrm>
            <a:off x="7372868" y="3576361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National</a:t>
            </a:r>
          </a:p>
        </p:txBody>
      </p:sp>
      <p:sp>
        <p:nvSpPr>
          <p:cNvPr id="56" name="Textfeld 55"/>
          <p:cNvSpPr txBox="1"/>
          <p:nvPr/>
        </p:nvSpPr>
        <p:spPr>
          <a:xfrm>
            <a:off x="7391399" y="4061351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Bildungswesen</a:t>
            </a:r>
          </a:p>
        </p:txBody>
      </p:sp>
      <p:sp>
        <p:nvSpPr>
          <p:cNvPr id="57" name="Textfeld 56"/>
          <p:cNvSpPr txBox="1"/>
          <p:nvPr/>
        </p:nvSpPr>
        <p:spPr>
          <a:xfrm>
            <a:off x="7429112" y="4672768"/>
            <a:ext cx="1539807" cy="268346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200" dirty="0" smtClean="0">
                <a:solidFill>
                  <a:srgbClr val="FFFFFF"/>
                </a:solidFill>
              </a:rPr>
              <a:t>Hochschulwesen</a:t>
            </a:r>
          </a:p>
        </p:txBody>
      </p:sp>
      <p:sp>
        <p:nvSpPr>
          <p:cNvPr id="66" name="Rechteck 65"/>
          <p:cNvSpPr/>
          <p:nvPr/>
        </p:nvSpPr>
        <p:spPr>
          <a:xfrm>
            <a:off x="4851808" y="2955497"/>
            <a:ext cx="1949905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European </a:t>
            </a:r>
            <a:br>
              <a:rPr lang="de-DE" sz="1050" dirty="0" smtClean="0">
                <a:solidFill>
                  <a:schemeClr val="tx1"/>
                </a:solidFill>
              </a:rPr>
            </a:br>
            <a:r>
              <a:rPr lang="de-DE" sz="1050" dirty="0" err="1" smtClean="0">
                <a:solidFill>
                  <a:schemeClr val="tx1"/>
                </a:solidFill>
              </a:rPr>
              <a:t>educational</a:t>
            </a:r>
            <a:r>
              <a:rPr lang="de-DE" sz="1050" dirty="0" smtClean="0">
                <a:solidFill>
                  <a:schemeClr val="tx1"/>
                </a:solidFill>
              </a:rPr>
              <a:t> </a:t>
            </a:r>
            <a:r>
              <a:rPr lang="de-DE" sz="1050" dirty="0" err="1" smtClean="0">
                <a:solidFill>
                  <a:schemeClr val="tx1"/>
                </a:solidFill>
              </a:rPr>
              <a:t>credential</a:t>
            </a:r>
            <a:r>
              <a:rPr lang="de-DE" sz="1050" dirty="0" smtClean="0">
                <a:solidFill>
                  <a:schemeClr val="tx1"/>
                </a:solidFill>
              </a:rPr>
              <a:t> 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78" name="Rechteck 77"/>
          <p:cNvSpPr/>
          <p:nvPr/>
        </p:nvSpPr>
        <p:spPr>
          <a:xfrm>
            <a:off x="1400913" y="344982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OZG</a:t>
            </a:r>
            <a:endParaRPr lang="de-DE" sz="1600" dirty="0"/>
          </a:p>
        </p:txBody>
      </p:sp>
      <p:cxnSp>
        <p:nvCxnSpPr>
          <p:cNvPr id="79" name="Gerade Verbindung mit Pfeil 78"/>
          <p:cNvCxnSpPr>
            <a:stCxn id="14" idx="2"/>
            <a:endCxn id="78" idx="0"/>
          </p:cNvCxnSpPr>
          <p:nvPr/>
        </p:nvCxnSpPr>
        <p:spPr>
          <a:xfrm flipH="1">
            <a:off x="1793820" y="2750244"/>
            <a:ext cx="337695" cy="699577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hteck 3"/>
          <p:cNvSpPr/>
          <p:nvPr/>
        </p:nvSpPr>
        <p:spPr>
          <a:xfrm>
            <a:off x="544665" y="2225991"/>
            <a:ext cx="8517395" cy="586969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/>
          <p:cNvSpPr/>
          <p:nvPr/>
        </p:nvSpPr>
        <p:spPr>
          <a:xfrm>
            <a:off x="550179" y="2898717"/>
            <a:ext cx="8517395" cy="477230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5" name="Textfeld 84"/>
          <p:cNvSpPr txBox="1"/>
          <p:nvPr/>
        </p:nvSpPr>
        <p:spPr>
          <a:xfrm>
            <a:off x="3937408" y="1477855"/>
            <a:ext cx="914400" cy="59109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Nachweise entlang </a:t>
            </a:r>
            <a:br>
              <a:rPr lang="de-DE" sz="1600" dirty="0" smtClean="0"/>
            </a:br>
            <a:r>
              <a:rPr lang="de-DE" sz="1600" dirty="0" smtClean="0"/>
              <a:t>der OZG-</a:t>
            </a:r>
            <a:r>
              <a:rPr lang="de-DE" sz="1600" dirty="0" err="1" smtClean="0"/>
              <a:t>Bildungsjourney</a:t>
            </a:r>
            <a:endParaRPr lang="de-DE" sz="1600" dirty="0" smtClean="0"/>
          </a:p>
        </p:txBody>
      </p:sp>
      <p:sp>
        <p:nvSpPr>
          <p:cNvPr id="59" name="Rechteck 58"/>
          <p:cNvSpPr/>
          <p:nvPr/>
        </p:nvSpPr>
        <p:spPr>
          <a:xfrm>
            <a:off x="506902" y="3905000"/>
            <a:ext cx="8528421" cy="472928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0" name="Textfeld 89"/>
          <p:cNvSpPr txBox="1"/>
          <p:nvPr/>
        </p:nvSpPr>
        <p:spPr>
          <a:xfrm>
            <a:off x="7029062" y="1050263"/>
            <a:ext cx="914400" cy="59109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r>
              <a:rPr lang="de-DE" sz="1600" dirty="0" smtClean="0"/>
              <a:t>Zu berücksichtigende </a:t>
            </a:r>
            <a:br>
              <a:rPr lang="de-DE" sz="1600" dirty="0" smtClean="0"/>
            </a:br>
            <a:r>
              <a:rPr lang="de-DE" sz="1600" dirty="0" smtClean="0"/>
              <a:t>Ebene der </a:t>
            </a:r>
            <a:br>
              <a:rPr lang="de-DE" sz="1600" dirty="0" smtClean="0"/>
            </a:br>
            <a:r>
              <a:rPr lang="de-DE" sz="1600" dirty="0" smtClean="0"/>
              <a:t>Anwendungsfälle</a:t>
            </a:r>
          </a:p>
        </p:txBody>
      </p:sp>
      <p:sp>
        <p:nvSpPr>
          <p:cNvPr id="60" name="Rechteck 59"/>
          <p:cNvSpPr/>
          <p:nvPr/>
        </p:nvSpPr>
        <p:spPr>
          <a:xfrm>
            <a:off x="533638" y="4487542"/>
            <a:ext cx="8528422" cy="444800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3" name="Rechteck 52"/>
          <p:cNvSpPr/>
          <p:nvPr/>
        </p:nvSpPr>
        <p:spPr>
          <a:xfrm>
            <a:off x="539153" y="3425864"/>
            <a:ext cx="8528421" cy="441286"/>
          </a:xfrm>
          <a:prstGeom prst="rect">
            <a:avLst/>
          </a:prstGeom>
          <a:solidFill>
            <a:schemeClr val="bg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1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05093" y="4948257"/>
            <a:ext cx="4103688" cy="146643"/>
          </a:xfrm>
        </p:spPr>
        <p:txBody>
          <a:bodyPr/>
          <a:lstStyle/>
          <a:p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© CC BY 4.0 „]</a:t>
            </a:r>
            <a:r>
              <a:rPr lang="de-DE" dirty="0" err="1" smtClean="0">
                <a:solidFill>
                  <a:schemeClr val="bg2">
                    <a:lumMod val="25000"/>
                  </a:schemeClr>
                </a:solidFill>
              </a:rPr>
              <a:t>init</a:t>
            </a:r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[ AG im Auftrag des Landes Sachsen-Anhalt“ – Standardisierung im Hochschulwesen zur OZG-Umsetzung, „</a:t>
            </a:r>
            <a:r>
              <a:rPr lang="de-DE" dirty="0" err="1" smtClean="0">
                <a:solidFill>
                  <a:schemeClr val="bg2">
                    <a:lumMod val="25000"/>
                  </a:schemeClr>
                </a:solidFill>
              </a:rPr>
              <a:t>XHochschule</a:t>
            </a:r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 und XBildung“</a:t>
            </a:r>
          </a:p>
        </p:txBody>
      </p:sp>
    </p:spTree>
    <p:extLst>
      <p:ext uri="{BB962C8B-B14F-4D97-AF65-F5344CB8AC3E}">
        <p14:creationId xmlns:p14="http://schemas.microsoft.com/office/powerpoint/2010/main" val="249225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initiales XBildung V0.3 als „EDCI.de+“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7AA-7EB5-443C-AC31-37E37436B174}" type="slidenum">
              <a:rPr lang="de-DE" smtClean="0"/>
              <a:t>10</a:t>
            </a:fld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subTitle" idx="4294967295"/>
          </p:nvPr>
        </p:nvSpPr>
        <p:spPr>
          <a:xfrm>
            <a:off x="266183" y="1135732"/>
            <a:ext cx="5353568" cy="387350"/>
          </a:xfrm>
        </p:spPr>
        <p:txBody>
          <a:bodyPr>
            <a:noAutofit/>
          </a:bodyPr>
          <a:lstStyle/>
          <a:p>
            <a:r>
              <a:rPr lang="de-DE" dirty="0" smtClean="0"/>
              <a:t>ein </a:t>
            </a:r>
            <a:r>
              <a:rPr lang="de-DE" dirty="0" err="1" smtClean="0"/>
              <a:t>XStandard</a:t>
            </a:r>
            <a:r>
              <a:rPr lang="de-DE" dirty="0" smtClean="0"/>
              <a:t> „XBildung“, der</a:t>
            </a:r>
          </a:p>
          <a:p>
            <a:pPr lvl="1"/>
            <a:r>
              <a:rPr lang="de-DE" sz="1400" dirty="0" smtClean="0"/>
              <a:t>Auf dem Datenmodell der Europass Digital Credential Infrastructure basiert</a:t>
            </a:r>
          </a:p>
          <a:p>
            <a:pPr lvl="1"/>
            <a:r>
              <a:rPr lang="de-DE" sz="1400" dirty="0" smtClean="0"/>
              <a:t>Damit eine Erweiterung des W3C </a:t>
            </a:r>
            <a:r>
              <a:rPr lang="de-DE" sz="1400" dirty="0" err="1" smtClean="0"/>
              <a:t>verifiable</a:t>
            </a:r>
            <a:r>
              <a:rPr lang="de-DE" sz="1400" dirty="0" smtClean="0"/>
              <a:t> </a:t>
            </a:r>
            <a:r>
              <a:rPr lang="de-DE" sz="1400" dirty="0" err="1" smtClean="0"/>
              <a:t>credentials</a:t>
            </a:r>
            <a:r>
              <a:rPr lang="de-DE" sz="1400" dirty="0" smtClean="0"/>
              <a:t> ist und</a:t>
            </a:r>
          </a:p>
          <a:p>
            <a:pPr lvl="1"/>
            <a:r>
              <a:rPr lang="de-DE" sz="1400" dirty="0" smtClean="0"/>
              <a:t>Im Bereich außerhalb von </a:t>
            </a:r>
            <a:r>
              <a:rPr lang="de-DE" sz="1400" dirty="0" err="1" smtClean="0"/>
              <a:t>credentials</a:t>
            </a:r>
            <a:r>
              <a:rPr lang="de-DE" sz="1400" dirty="0" smtClean="0"/>
              <a:t> um weitere TF Bildungs- lebenslagenübergreifende Konzepte erweitert ist</a:t>
            </a:r>
          </a:p>
          <a:p>
            <a:pPr lvl="1"/>
            <a:r>
              <a:rPr lang="de-DE" sz="1400" dirty="0" smtClean="0"/>
              <a:t>Fachübergreifende XÖV Kernkomponenten (Person, Name, Zeitraum, Anschrift) sowie Datentypen (</a:t>
            </a:r>
            <a:r>
              <a:rPr lang="de-DE" sz="1400" dirty="0" err="1" smtClean="0"/>
              <a:t>String.Latin</a:t>
            </a:r>
            <a:r>
              <a:rPr lang="de-DE" sz="1400" dirty="0" smtClean="0"/>
              <a:t>; Themenfeld-spezifische Codelisten wie ISCED) einsetzt</a:t>
            </a:r>
          </a:p>
          <a:p>
            <a:pPr lvl="1"/>
            <a:endParaRPr lang="de-DE" dirty="0"/>
          </a:p>
        </p:txBody>
      </p:sp>
      <p:sp>
        <p:nvSpPr>
          <p:cNvPr id="8" name="Datumsplatzhalter 3"/>
          <p:cNvSpPr txBox="1">
            <a:spLocks/>
          </p:cNvSpPr>
          <p:nvPr/>
        </p:nvSpPr>
        <p:spPr>
          <a:xfrm>
            <a:off x="6162993" y="3621763"/>
            <a:ext cx="2052000" cy="14658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217684" rtl="0" eaLnBrk="1" latinLnBrk="0" hangingPunct="1">
              <a:defRPr sz="953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17684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5368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3052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0736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8420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06103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23787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41471" algn="l" defTabSz="217684" rtl="0" eaLnBrk="1" latinLnBrk="0" hangingPunct="1">
              <a:defRPr sz="8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E238DF-2687-4338-88E1-832315DA2F4E}" type="datetime1">
              <a:rPr lang="de-DE" smtClean="0"/>
              <a:pPr/>
              <a:t>21.03.2021</a:t>
            </a:fld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6164968" y="1227338"/>
            <a:ext cx="2722359" cy="28685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/>
          <p:cNvSpPr/>
          <p:nvPr/>
        </p:nvSpPr>
        <p:spPr>
          <a:xfrm>
            <a:off x="6231539" y="247827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XÖV</a:t>
            </a:r>
            <a:endParaRPr lang="de-DE" sz="1600" dirty="0"/>
          </a:p>
        </p:txBody>
      </p:sp>
      <p:sp>
        <p:nvSpPr>
          <p:cNvPr id="11" name="Rechteck 10"/>
          <p:cNvSpPr/>
          <p:nvPr/>
        </p:nvSpPr>
        <p:spPr>
          <a:xfrm>
            <a:off x="6203457" y="2962689"/>
            <a:ext cx="2565401" cy="36671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XBildung </a:t>
            </a:r>
            <a:endParaRPr lang="de-DE" sz="1600" dirty="0"/>
          </a:p>
        </p:txBody>
      </p:sp>
      <p:sp>
        <p:nvSpPr>
          <p:cNvPr id="12" name="Rechteck 11"/>
          <p:cNvSpPr/>
          <p:nvPr/>
        </p:nvSpPr>
        <p:spPr>
          <a:xfrm>
            <a:off x="6208011" y="3598589"/>
            <a:ext cx="2565400" cy="260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/>
              <a:t>XHochschule</a:t>
            </a:r>
          </a:p>
        </p:txBody>
      </p:sp>
      <p:sp>
        <p:nvSpPr>
          <p:cNvPr id="13" name="Rechteck 12"/>
          <p:cNvSpPr/>
          <p:nvPr/>
        </p:nvSpPr>
        <p:spPr>
          <a:xfrm>
            <a:off x="8214993" y="2006434"/>
            <a:ext cx="558419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/>
              <a:t>EDCI</a:t>
            </a:r>
            <a:endParaRPr lang="de-DE" sz="1050" dirty="0"/>
          </a:p>
        </p:txBody>
      </p:sp>
      <p:sp>
        <p:nvSpPr>
          <p:cNvPr id="14" name="Rechteck 13"/>
          <p:cNvSpPr/>
          <p:nvPr/>
        </p:nvSpPr>
        <p:spPr>
          <a:xfrm>
            <a:off x="7402808" y="141198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W3C</a:t>
            </a:r>
            <a:endParaRPr lang="de-DE" sz="1600" dirty="0"/>
          </a:p>
        </p:txBody>
      </p:sp>
      <p:sp>
        <p:nvSpPr>
          <p:cNvPr id="15" name="Rechteck 14"/>
          <p:cNvSpPr/>
          <p:nvPr/>
        </p:nvSpPr>
        <p:spPr>
          <a:xfrm>
            <a:off x="7538355" y="2970588"/>
            <a:ext cx="1228208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EDCI.de</a:t>
            </a:r>
            <a:endParaRPr lang="de-DE" sz="1050" dirty="0">
              <a:solidFill>
                <a:schemeClr val="tx1"/>
              </a:solidFill>
            </a:endParaRPr>
          </a:p>
        </p:txBody>
      </p:sp>
      <p:cxnSp>
        <p:nvCxnSpPr>
          <p:cNvPr id="16" name="Gerade Verbindung mit Pfeil 15"/>
          <p:cNvCxnSpPr>
            <a:stCxn id="14" idx="2"/>
            <a:endCxn id="10" idx="0"/>
          </p:cNvCxnSpPr>
          <p:nvPr/>
        </p:nvCxnSpPr>
        <p:spPr>
          <a:xfrm flipH="1">
            <a:off x="6624446" y="1778694"/>
            <a:ext cx="1171269" cy="699577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Gerade Verbindung mit Pfeil 16"/>
          <p:cNvCxnSpPr>
            <a:stCxn id="14" idx="2"/>
            <a:endCxn id="13" idx="0"/>
          </p:cNvCxnSpPr>
          <p:nvPr/>
        </p:nvCxnSpPr>
        <p:spPr>
          <a:xfrm>
            <a:off x="7795715" y="1778694"/>
            <a:ext cx="698488" cy="227740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mit Pfeil 17"/>
          <p:cNvCxnSpPr/>
          <p:nvPr/>
        </p:nvCxnSpPr>
        <p:spPr>
          <a:xfrm>
            <a:off x="7486157" y="3301658"/>
            <a:ext cx="1" cy="296931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>
            <a:stCxn id="10" idx="2"/>
            <a:endCxn id="11" idx="0"/>
          </p:cNvCxnSpPr>
          <p:nvPr/>
        </p:nvCxnSpPr>
        <p:spPr>
          <a:xfrm>
            <a:off x="6624446" y="2844983"/>
            <a:ext cx="861712" cy="117706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hteck 19"/>
          <p:cNvSpPr/>
          <p:nvPr/>
        </p:nvSpPr>
        <p:spPr>
          <a:xfrm>
            <a:off x="7065113" y="247014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OZG</a:t>
            </a:r>
            <a:endParaRPr lang="de-DE" sz="1600" dirty="0"/>
          </a:p>
        </p:txBody>
      </p:sp>
      <p:cxnSp>
        <p:nvCxnSpPr>
          <p:cNvPr id="21" name="Gerade Verbindung mit Pfeil 20"/>
          <p:cNvCxnSpPr>
            <a:stCxn id="14" idx="2"/>
          </p:cNvCxnSpPr>
          <p:nvPr/>
        </p:nvCxnSpPr>
        <p:spPr>
          <a:xfrm flipH="1">
            <a:off x="7538354" y="1778694"/>
            <a:ext cx="257361" cy="672342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>
            <a:stCxn id="20" idx="2"/>
          </p:cNvCxnSpPr>
          <p:nvPr/>
        </p:nvCxnSpPr>
        <p:spPr>
          <a:xfrm>
            <a:off x="7458020" y="2836853"/>
            <a:ext cx="18810" cy="125836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/>
          <p:cNvCxnSpPr>
            <a:stCxn id="13" idx="2"/>
            <a:endCxn id="15" idx="0"/>
          </p:cNvCxnSpPr>
          <p:nvPr/>
        </p:nvCxnSpPr>
        <p:spPr>
          <a:xfrm flipH="1">
            <a:off x="8152459" y="2373146"/>
            <a:ext cx="341744" cy="597442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05093" y="4948257"/>
            <a:ext cx="4103688" cy="146643"/>
          </a:xfrm>
        </p:spPr>
        <p:txBody>
          <a:bodyPr/>
          <a:lstStyle/>
          <a:p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© CC BY 4.0 „]</a:t>
            </a:r>
            <a:r>
              <a:rPr lang="de-DE" dirty="0" err="1" smtClean="0">
                <a:solidFill>
                  <a:schemeClr val="bg2">
                    <a:lumMod val="25000"/>
                  </a:schemeClr>
                </a:solidFill>
              </a:rPr>
              <a:t>init</a:t>
            </a:r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[ AG im Auftrag des Landes Sachsen-Anhalt“ – Standardisierung im Hochschulwesen zur OZG-Umsetzung, „</a:t>
            </a:r>
            <a:r>
              <a:rPr lang="de-DE" dirty="0" err="1" smtClean="0">
                <a:solidFill>
                  <a:schemeClr val="bg2">
                    <a:lumMod val="25000"/>
                  </a:schemeClr>
                </a:solidFill>
              </a:rPr>
              <a:t>XHochschule</a:t>
            </a:r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 und XBildung“</a:t>
            </a:r>
          </a:p>
        </p:txBody>
      </p:sp>
    </p:spTree>
    <p:extLst>
      <p:ext uri="{BB962C8B-B14F-4D97-AF65-F5344CB8AC3E}">
        <p14:creationId xmlns:p14="http://schemas.microsoft.com/office/powerpoint/2010/main" val="254945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XHochschule</a:t>
            </a:r>
            <a:r>
              <a:rPr lang="de-DE" dirty="0" smtClean="0"/>
              <a:t> V0.3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62993" y="3621763"/>
            <a:ext cx="2052000" cy="146582"/>
          </a:xfrm>
        </p:spPr>
        <p:txBody>
          <a:bodyPr/>
          <a:lstStyle/>
          <a:p>
            <a:fld id="{9EE238DF-2687-4338-88E1-832315DA2F4E}" type="datetime1">
              <a:rPr lang="de-DE" smtClean="0"/>
              <a:t>21.03.2021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05093" y="4948257"/>
            <a:ext cx="4103688" cy="146643"/>
          </a:xfrm>
        </p:spPr>
        <p:txBody>
          <a:bodyPr/>
          <a:lstStyle/>
          <a:p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© CC BY 4.0 „]</a:t>
            </a:r>
            <a:r>
              <a:rPr lang="de-DE" dirty="0" err="1" smtClean="0">
                <a:solidFill>
                  <a:schemeClr val="bg2">
                    <a:lumMod val="25000"/>
                  </a:schemeClr>
                </a:solidFill>
              </a:rPr>
              <a:t>init</a:t>
            </a:r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[ AG im Auftrag des Landes Sachsen-Anhalt“ – Standardisierung im Hochschulwesen zur OZG-Umsetzung, „</a:t>
            </a:r>
            <a:r>
              <a:rPr lang="de-DE" dirty="0" err="1" smtClean="0">
                <a:solidFill>
                  <a:schemeClr val="bg2">
                    <a:lumMod val="25000"/>
                  </a:schemeClr>
                </a:solidFill>
              </a:rPr>
              <a:t>XHochschule</a:t>
            </a:r>
            <a:r>
              <a:rPr lang="de-DE" dirty="0" smtClean="0">
                <a:solidFill>
                  <a:schemeClr val="bg2">
                    <a:lumMod val="25000"/>
                  </a:schemeClr>
                </a:solidFill>
              </a:rPr>
              <a:t> und XBildung“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B7AA-7EB5-443C-AC31-37E37436B174}" type="slidenum">
              <a:rPr lang="de-DE" smtClean="0"/>
              <a:t>11</a:t>
            </a:fld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type="subTitle" idx="4294967295"/>
          </p:nvPr>
        </p:nvSpPr>
        <p:spPr>
          <a:xfrm>
            <a:off x="266182" y="1129381"/>
            <a:ext cx="5856823" cy="3318495"/>
          </a:xfrm>
        </p:spPr>
        <p:txBody>
          <a:bodyPr>
            <a:noAutofit/>
          </a:bodyPr>
          <a:lstStyle/>
          <a:p>
            <a:r>
              <a:rPr lang="de-DE" dirty="0" smtClean="0"/>
              <a:t>Eine XÖV-konforme Spezifikation „XHochschule“, die</a:t>
            </a:r>
          </a:p>
          <a:p>
            <a:pPr lvl="1"/>
            <a:r>
              <a:rPr lang="de-DE" sz="1400" dirty="0" smtClean="0"/>
              <a:t>lebenslagenübergreifende Konzepte aus einem abstrakten XBildung nachnutzt und erweitert</a:t>
            </a:r>
          </a:p>
          <a:p>
            <a:pPr lvl="1"/>
            <a:r>
              <a:rPr lang="de-DE" sz="1400" dirty="0" smtClean="0"/>
              <a:t>Weitere für OZG Lebenslage „Studium“ benötigte Konzepte und Wertelisten aufnimmt </a:t>
            </a:r>
            <a:r>
              <a:rPr lang="de-DE" sz="1100" dirty="0" smtClean="0"/>
              <a:t>(Studienzeiten, Studiengang, Immatrikulation, Semesterbeitrag, lateinische Ehrenbezeichnungen)</a:t>
            </a:r>
            <a:endParaRPr lang="de-DE" sz="1400" dirty="0" smtClean="0"/>
          </a:p>
          <a:p>
            <a:pPr lvl="1"/>
            <a:r>
              <a:rPr lang="de-DE" sz="1400" dirty="0" smtClean="0"/>
              <a:t>Weitere in </a:t>
            </a:r>
            <a:r>
              <a:rPr lang="de-DE" sz="1400" dirty="0" err="1" smtClean="0"/>
              <a:t>CaMS</a:t>
            </a:r>
            <a:r>
              <a:rPr lang="de-DE" sz="1400" dirty="0" smtClean="0"/>
              <a:t>-Systemen hinterlegte Daten aufnehmen kann </a:t>
            </a:r>
            <a:br>
              <a:rPr lang="de-DE" sz="1400" dirty="0" smtClean="0"/>
            </a:br>
            <a:r>
              <a:rPr lang="de-DE" sz="1400" dirty="0" smtClean="0"/>
              <a:t>und dabei</a:t>
            </a:r>
          </a:p>
          <a:p>
            <a:pPr lvl="1"/>
            <a:r>
              <a:rPr lang="de-DE" sz="1400" dirty="0" smtClean="0"/>
              <a:t>durch das in EDCI eingebaute </a:t>
            </a:r>
            <a:r>
              <a:rPr lang="de-DE" sz="1400" dirty="0" err="1" smtClean="0"/>
              <a:t>alignement</a:t>
            </a:r>
            <a:r>
              <a:rPr lang="de-DE" sz="1400" dirty="0" smtClean="0"/>
              <a:t> auch z.B. auf </a:t>
            </a:r>
            <a:br>
              <a:rPr lang="de-DE" sz="1400" dirty="0" smtClean="0"/>
            </a:br>
            <a:r>
              <a:rPr lang="de-DE" sz="1400" dirty="0" smtClean="0"/>
              <a:t>das </a:t>
            </a:r>
            <a:r>
              <a:rPr lang="de-DE" sz="1400" dirty="0"/>
              <a:t>internationale ELMO </a:t>
            </a:r>
            <a:r>
              <a:rPr lang="de-DE" sz="1400" dirty="0" err="1" smtClean="0"/>
              <a:t>mappt</a:t>
            </a:r>
            <a:endParaRPr lang="de-DE" sz="1400" dirty="0" smtClean="0"/>
          </a:p>
          <a:p>
            <a:pPr lvl="1"/>
            <a:r>
              <a:rPr lang="de-DE" sz="1400" dirty="0" smtClean="0"/>
              <a:t>Informationsmodell (UML, PDF, XSD, WSDL)</a:t>
            </a:r>
          </a:p>
          <a:p>
            <a:pPr lvl="1"/>
            <a:endParaRPr lang="de-DE" sz="1400" dirty="0"/>
          </a:p>
        </p:txBody>
      </p:sp>
      <p:sp>
        <p:nvSpPr>
          <p:cNvPr id="15" name="Rechteck 14"/>
          <p:cNvSpPr/>
          <p:nvPr/>
        </p:nvSpPr>
        <p:spPr>
          <a:xfrm>
            <a:off x="6164968" y="1227338"/>
            <a:ext cx="2722359" cy="28685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Rechteck 15"/>
          <p:cNvSpPr/>
          <p:nvPr/>
        </p:nvSpPr>
        <p:spPr>
          <a:xfrm>
            <a:off x="6231539" y="247827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XÖV</a:t>
            </a:r>
            <a:endParaRPr lang="de-DE" sz="1600" dirty="0"/>
          </a:p>
        </p:txBody>
      </p:sp>
      <p:sp>
        <p:nvSpPr>
          <p:cNvPr id="17" name="Rechteck 16"/>
          <p:cNvSpPr/>
          <p:nvPr/>
        </p:nvSpPr>
        <p:spPr>
          <a:xfrm>
            <a:off x="6203457" y="2962689"/>
            <a:ext cx="2565401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XBildung </a:t>
            </a:r>
            <a:endParaRPr lang="de-DE" sz="1600" dirty="0"/>
          </a:p>
        </p:txBody>
      </p:sp>
      <p:sp>
        <p:nvSpPr>
          <p:cNvPr id="18" name="Rechteck 17"/>
          <p:cNvSpPr/>
          <p:nvPr/>
        </p:nvSpPr>
        <p:spPr>
          <a:xfrm>
            <a:off x="6208011" y="3598589"/>
            <a:ext cx="2565400" cy="26023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dirty="0" smtClean="0"/>
              <a:t>XHochschule</a:t>
            </a:r>
            <a:endParaRPr lang="de-DE" sz="1600" dirty="0"/>
          </a:p>
        </p:txBody>
      </p:sp>
      <p:sp>
        <p:nvSpPr>
          <p:cNvPr id="19" name="Rechteck 18"/>
          <p:cNvSpPr/>
          <p:nvPr/>
        </p:nvSpPr>
        <p:spPr>
          <a:xfrm>
            <a:off x="7987599" y="2006434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EDCI</a:t>
            </a:r>
            <a:endParaRPr lang="de-DE" sz="1600" dirty="0"/>
          </a:p>
        </p:txBody>
      </p:sp>
      <p:sp>
        <p:nvSpPr>
          <p:cNvPr id="20" name="Rechteck 19"/>
          <p:cNvSpPr/>
          <p:nvPr/>
        </p:nvSpPr>
        <p:spPr>
          <a:xfrm>
            <a:off x="7402808" y="1411982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W3C</a:t>
            </a:r>
            <a:endParaRPr lang="de-DE" sz="1600" dirty="0"/>
          </a:p>
        </p:txBody>
      </p:sp>
      <p:sp>
        <p:nvSpPr>
          <p:cNvPr id="21" name="Rechteck 20"/>
          <p:cNvSpPr/>
          <p:nvPr/>
        </p:nvSpPr>
        <p:spPr>
          <a:xfrm>
            <a:off x="7987599" y="2970588"/>
            <a:ext cx="778963" cy="3310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smtClean="0">
                <a:solidFill>
                  <a:schemeClr val="tx1"/>
                </a:solidFill>
              </a:rPr>
              <a:t>EDCI.de(?)</a:t>
            </a:r>
            <a:endParaRPr lang="de-DE" sz="1050" dirty="0">
              <a:solidFill>
                <a:schemeClr val="tx1"/>
              </a:solidFill>
            </a:endParaRPr>
          </a:p>
        </p:txBody>
      </p:sp>
      <p:cxnSp>
        <p:nvCxnSpPr>
          <p:cNvPr id="22" name="Gerade Verbindung mit Pfeil 21"/>
          <p:cNvCxnSpPr>
            <a:stCxn id="20" idx="2"/>
            <a:endCxn id="16" idx="0"/>
          </p:cNvCxnSpPr>
          <p:nvPr/>
        </p:nvCxnSpPr>
        <p:spPr>
          <a:xfrm flipH="1">
            <a:off x="6624446" y="1778694"/>
            <a:ext cx="1171269" cy="699577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/>
          <p:cNvCxnSpPr>
            <a:stCxn id="20" idx="2"/>
            <a:endCxn id="19" idx="0"/>
          </p:cNvCxnSpPr>
          <p:nvPr/>
        </p:nvCxnSpPr>
        <p:spPr>
          <a:xfrm>
            <a:off x="7795715" y="1778694"/>
            <a:ext cx="584791" cy="227740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Gerade Verbindung mit Pfeil 23"/>
          <p:cNvCxnSpPr/>
          <p:nvPr/>
        </p:nvCxnSpPr>
        <p:spPr>
          <a:xfrm>
            <a:off x="7486157" y="3301658"/>
            <a:ext cx="1" cy="296931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>
            <a:stCxn id="16" idx="2"/>
            <a:endCxn id="17" idx="0"/>
          </p:cNvCxnSpPr>
          <p:nvPr/>
        </p:nvCxnSpPr>
        <p:spPr>
          <a:xfrm>
            <a:off x="6624446" y="2844983"/>
            <a:ext cx="861712" cy="117706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hteck 25"/>
          <p:cNvSpPr/>
          <p:nvPr/>
        </p:nvSpPr>
        <p:spPr>
          <a:xfrm>
            <a:off x="7065113" y="2470141"/>
            <a:ext cx="785813" cy="36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 smtClean="0"/>
              <a:t>OZG</a:t>
            </a:r>
            <a:endParaRPr lang="de-DE" sz="1600" dirty="0"/>
          </a:p>
        </p:txBody>
      </p:sp>
      <p:cxnSp>
        <p:nvCxnSpPr>
          <p:cNvPr id="27" name="Gerade Verbindung mit Pfeil 26"/>
          <p:cNvCxnSpPr>
            <a:stCxn id="20" idx="2"/>
          </p:cNvCxnSpPr>
          <p:nvPr/>
        </p:nvCxnSpPr>
        <p:spPr>
          <a:xfrm flipH="1">
            <a:off x="7538354" y="1778694"/>
            <a:ext cx="257361" cy="672342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437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2"/>
  <p:tag name="2LEVEL" val="1"/>
  <p:tag name="3LEVEL" val="0.5"/>
  <p:tag name="4LEVEL" val="0.25"/>
  <p:tag name="5LEVEL" val="0.12"/>
</p:tagLst>
</file>

<file path=ppt/theme/theme1.xml><?xml version="1.0" encoding="utf-8"?>
<a:theme xmlns:a="http://schemas.openxmlformats.org/drawingml/2006/main" name="Office">
  <a:themeElements>
    <a:clrScheme name="]init[ PPT 2017">
      <a:dk1>
        <a:srgbClr val="2E2E2E"/>
      </a:dk1>
      <a:lt1>
        <a:sysClr val="window" lastClr="FFFFFF"/>
      </a:lt1>
      <a:dk2>
        <a:srgbClr val="E65A23"/>
      </a:dk2>
      <a:lt2>
        <a:srgbClr val="EAEBE7"/>
      </a:lt2>
      <a:accent1>
        <a:srgbClr val="506E78"/>
      </a:accent1>
      <a:accent2>
        <a:srgbClr val="AA9678"/>
      </a:accent2>
      <a:accent3>
        <a:srgbClr val="55B478"/>
      </a:accent3>
      <a:accent4>
        <a:srgbClr val="D24150"/>
      </a:accent4>
      <a:accent5>
        <a:srgbClr val="46ABB4"/>
      </a:accent5>
      <a:accent6>
        <a:srgbClr val="DCB45A"/>
      </a:accent6>
      <a:hlink>
        <a:srgbClr val="E65A23"/>
      </a:hlink>
      <a:folHlink>
        <a:srgbClr val="E65A23"/>
      </a:folHlink>
    </a:clrScheme>
    <a:fontScheme name="Benutzerdefiniert 1">
      <a:majorFont>
        <a:latin typeface="Fago Offc Pro"/>
        <a:ea typeface=""/>
        <a:cs typeface=""/>
      </a:majorFont>
      <a:minorFont>
        <a:latin typeface="Fago Offc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marL="216000" indent="-180000">
          <a:lnSpc>
            <a:spcPct val="110000"/>
          </a:lnSpc>
          <a:spcBef>
            <a:spcPts val="1000"/>
          </a:spcBef>
          <a:buClr>
            <a:schemeClr val="tx2"/>
          </a:buClr>
          <a:buFont typeface="init_signs normal" panose="00000500000000000000" pitchFamily="2" charset="0"/>
          <a:buChar char="A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E (16-9)" id="{C3FAAF77-A557-4E48-B0C2-DD73D6BAF1EA}" vid="{329FF523-B77A-4CE6-AD79-314F37AACC46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UI/customUI.xml>
</file>

<file path=docProps/app.xml><?xml version="1.0" encoding="utf-8"?>
<Properties xmlns="http://schemas.openxmlformats.org/officeDocument/2006/extended-properties" xmlns:vt="http://schemas.openxmlformats.org/officeDocument/2006/docPropsVTypes">
  <Template>DE (16-9)</Template>
  <TotalTime>0</TotalTime>
  <Words>811</Words>
  <Application>Microsoft Office PowerPoint</Application>
  <PresentationFormat>Bildschirmpräsentation (16:9)</PresentationFormat>
  <Paragraphs>201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11</vt:i4>
      </vt:variant>
    </vt:vector>
  </HeadingPairs>
  <TitlesOfParts>
    <vt:vector size="20" baseType="lpstr">
      <vt:lpstr>ＭＳ Ｐゴシック</vt:lpstr>
      <vt:lpstr>Arial</vt:lpstr>
      <vt:lpstr>BundesSans Regular</vt:lpstr>
      <vt:lpstr>Calibri</vt:lpstr>
      <vt:lpstr>Calibri Light</vt:lpstr>
      <vt:lpstr>Fago Offc Pro</vt:lpstr>
      <vt:lpstr>init_signs normal</vt:lpstr>
      <vt:lpstr>Office</vt:lpstr>
      <vt:lpstr>Office Theme</vt:lpstr>
      <vt:lpstr>PowerPoint-Präsentation</vt:lpstr>
      <vt:lpstr>PowerPoint-Präsentation</vt:lpstr>
      <vt:lpstr>Interoperabilitätsstandard im Hochschulwesen – bestehende rechtliche und organisatorische Vorgaben</vt:lpstr>
      <vt:lpstr>Interoperabilitätsstandard im Bildungswesen zukünftig: XBildung UND XHochschule</vt:lpstr>
      <vt:lpstr>Interoperabilitätsstandard im Bildungswesen zukünftig: XBildung, XHochschule und XSchule  und bestehende Standards</vt:lpstr>
      <vt:lpstr>Interoperabilitätsstandard im Bildungswesen zukünftig: XBildung, XHochschule und XSchule  und bestehende Standards</vt:lpstr>
      <vt:lpstr>XBildung nutzt EDCI nach und ist SDG- und XÖV-konform</vt:lpstr>
      <vt:lpstr>XBildung nutzt EDCI nach und ist SDG- und XÖV-konform</vt:lpstr>
      <vt:lpstr>XHochschule und XBildung nutzen XÖV und EDCI nach</vt:lpstr>
      <vt:lpstr>initiales XBildung V0.3 als „EDCI.de+“</vt:lpstr>
      <vt:lpstr>XHochschule V0.3</vt:lpstr>
    </vt:vector>
  </TitlesOfParts>
  <Company>Init AG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Foliensatz für Abbildungen in XBildung</dc:title>
  <dc:creator>"Sebastian Sklarß"</dc:creator>
  <dc:description>FagoUpdate 17.11.2016</dc:description>
  <cp:lastModifiedBy>Sklarß, Sebastian (init)</cp:lastModifiedBy>
  <cp:revision>66</cp:revision>
  <dcterms:created xsi:type="dcterms:W3CDTF">2020-03-31T13:11:24Z</dcterms:created>
  <dcterms:modified xsi:type="dcterms:W3CDTF">2021-03-21T12:32:46Z</dcterms:modified>
</cp:coreProperties>
</file>

<file path=userCustomization/customUI.xml><?xml version="1.0" encoding="utf-8"?>
<mso:customUI xmlns:doc="http://schemas.microsoft.com/office/2006/01/customui/currentDocument" xmlns:mso="http://schemas.microsoft.com/office/2006/01/customui">
  <mso:ribbon>
    <mso:qat>
      <mso:documentControls>
        <mso:separator idQ="doc:sep3" visible="true"/>
        <mso:control idQ="mso:HeaderFooterInsert" visible="true"/>
        <mso:separator idQ="doc:sep1" visible="true"/>
        <mso:button idQ="doc:ChooseFormat_1" visible="true" label="Markierte Absätze formatieren" imageMso="CharacterBorder" onAction="'init-PPT-AddIn.ppam'!ChooseFormat"/>
        <mso:control idQ="mso:IndentDecrease" visible="true"/>
        <mso:control idQ="mso:IndentIncrease" visible="true"/>
        <mso:separator idQ="doc:sep2" visible="true"/>
        <mso:control idQ="mso:PictureFitCrop" visible="true"/>
        <mso:button idQ="doc:ColorWhite_1" visible="true" label="Icon(s) weiß einfärben" imageMso="AppointmentColor0" onAction="'init-PPT-AddIn.ppam'!ColorWhite"/>
        <mso:button idQ="doc:ColorBlack_1" visible="true" label="Icon(s) zurück auf Standard stellen" imageMso="BlackAndWhiteBlack" onAction="'init-PPT-AddIn.ppam'!ColorBlack"/>
        <mso:control idQ="mso:PictureRecolorGallery" visible="true"/>
        <mso:separator idQ="doc:sep1" visible="true"/>
        <mso:button idQ="doc:ChooseBackground_1" visible="true" label="Fokus-Folien Grundfarbe einstellen" imageMso="AppointmentColorDialog" onAction="'init-PPT-AddIn.ppam'!ChooseBackground"/>
      </mso:documentControls>
    </mso:qat>
  </mso:ribbon>
</mso:customUI>
</file>