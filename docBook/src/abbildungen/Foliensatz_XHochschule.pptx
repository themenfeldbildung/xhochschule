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microsoft.com/office/2006/relationships/ui/userCustomization" Target="userCustomization/customUI.xml"/><Relationship Id="rId1" Type="http://schemas.openxmlformats.org/officeDocument/2006/relationships/officeDocument" Target="ppt/presentation.xml"/><Relationship Id="R456eeb9bf2f64375" Type="http://schemas.microsoft.com/office/2006/relationships/ui/extensibility" Target="customUI/customUI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7" r:id="rId2"/>
  </p:sldMasterIdLst>
  <p:notesMasterIdLst>
    <p:notesMasterId r:id="rId14"/>
  </p:notesMasterIdLst>
  <p:handoutMasterIdLst>
    <p:handoutMasterId r:id="rId15"/>
  </p:handoutMasterIdLst>
  <p:sldIdLst>
    <p:sldId id="426" r:id="rId3"/>
    <p:sldId id="419" r:id="rId4"/>
    <p:sldId id="421" r:id="rId5"/>
    <p:sldId id="420" r:id="rId6"/>
    <p:sldId id="422" r:id="rId7"/>
    <p:sldId id="423" r:id="rId8"/>
    <p:sldId id="424" r:id="rId9"/>
    <p:sldId id="403" r:id="rId10"/>
    <p:sldId id="404" r:id="rId11"/>
    <p:sldId id="405" r:id="rId12"/>
    <p:sldId id="406" r:id="rId13"/>
  </p:sldIdLst>
  <p:sldSz cx="9144000" cy="5143500" type="screen16x9"/>
  <p:notesSz cx="6858000" cy="9144000"/>
  <p:defaultTextStyle>
    <a:defPPr>
      <a:defRPr lang="en-US"/>
    </a:defPPr>
    <a:lvl1pPr marL="0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1pPr>
    <a:lvl2pPr marL="217684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2pPr>
    <a:lvl3pPr marL="435368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3pPr>
    <a:lvl4pPr marL="653052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4pPr>
    <a:lvl5pPr marL="870736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5pPr>
    <a:lvl6pPr marL="1088420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6pPr>
    <a:lvl7pPr marL="1306103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7pPr>
    <a:lvl8pPr marL="1523787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8pPr>
    <a:lvl9pPr marL="1741471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lther, Sascha (init)" initials="WS(" lastIdx="1" clrIdx="0">
    <p:extLst>
      <p:ext uri="{19B8F6BF-5375-455C-9EA6-DF929625EA0E}">
        <p15:presenceInfo xmlns:p15="http://schemas.microsoft.com/office/powerpoint/2012/main" userId="S-1-5-21-2116170847-34277120-1194094237-479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D200"/>
    <a:srgbClr val="99D2AE"/>
    <a:srgbClr val="4F9AF1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32" autoAdjust="0"/>
    <p:restoredTop sz="96473" autoAdjust="0"/>
  </p:normalViewPr>
  <p:slideViewPr>
    <p:cSldViewPr snapToGrid="0" showGuides="1">
      <p:cViewPr varScale="1">
        <p:scale>
          <a:sx n="85" d="100"/>
          <a:sy n="85" d="100"/>
        </p:scale>
        <p:origin x="852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76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EDDCA9-4CFF-4FF6-A92E-131AF0392A32}" type="datetimeFigureOut">
              <a:rPr lang="de-DE" smtClean="0"/>
              <a:t>17.02.2021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93C70-9FE5-4811-8AEE-881571D622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44236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A58F-C29C-4EC8-995E-F6F04C94AD07}" type="datetimeFigureOut">
              <a:rPr lang="de-DE" smtClean="0"/>
              <a:t>17.02.2021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C010B-DAE0-416A-828F-870E221708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1653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1pPr>
    <a:lvl2pPr marL="217684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2pPr>
    <a:lvl3pPr marL="435368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3pPr>
    <a:lvl4pPr marL="653052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4pPr>
    <a:lvl5pPr marL="870736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5pPr>
    <a:lvl6pPr marL="1088420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6pPr>
    <a:lvl7pPr marL="1306103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7pPr>
    <a:lvl8pPr marL="1523787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8pPr>
    <a:lvl9pPr marL="1741471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3555" y="1537214"/>
            <a:ext cx="8207374" cy="470898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3400" dirty="0"/>
            </a:lvl1pPr>
          </a:lstStyle>
          <a:p>
            <a:pPr lvl="0"/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3554" y="2008112"/>
            <a:ext cx="8207374" cy="1920124"/>
          </a:xfrm>
        </p:spPr>
        <p:txBody>
          <a:bodyPr vert="horz" wrap="square" lIns="0" tIns="0" rIns="0" bIns="0" rtlCol="0" anchor="t" anchorCtr="0">
            <a:noAutofit/>
          </a:bodyPr>
          <a:lstStyle>
            <a:lvl1pPr marL="0" indent="0">
              <a:buNone/>
              <a:defRPr lang="en-US" sz="3400" b="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de-DE" dirty="0"/>
              <a:t>Untertitel (optional)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9" name="Textfeld 8"/>
          <p:cNvSpPr txBox="1"/>
          <p:nvPr userDrawn="1"/>
        </p:nvSpPr>
        <p:spPr>
          <a:xfrm>
            <a:off x="468313" y="0"/>
            <a:ext cx="94671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6600" b="0" dirty="0">
                <a:solidFill>
                  <a:schemeClr val="bg1"/>
                </a:solidFill>
                <a:latin typeface="init_signs normal" panose="00000500000000000000" pitchFamily="2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1118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 mod="1">
    <p:ext uri="{DCECCB84-F9BA-43D5-87BE-67443E8EF086}">
      <p15:sldGuideLst xmlns:p15="http://schemas.microsoft.com/office/powerpoint/2012/main">
        <p15:guide id="1" orient="horz" pos="130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/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3552" y="1613315"/>
            <a:ext cx="8207375" cy="38779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18287" y="418290"/>
            <a:ext cx="2057400" cy="146582"/>
          </a:xfrm>
        </p:spPr>
        <p:txBody>
          <a:bodyPr/>
          <a:lstStyle>
            <a:lvl1pPr algn="r">
              <a:defRPr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95687" y="550487"/>
            <a:ext cx="2880000" cy="146643"/>
          </a:xfrm>
        </p:spPr>
        <p:txBody>
          <a:bodyPr/>
          <a:lstStyle>
            <a:lvl1pPr algn="r">
              <a:defRPr/>
            </a:lvl1pPr>
          </a:lstStyle>
          <a:p>
            <a:endParaRPr lang="de-DE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1750"/>
            <a:ext cx="9144000" cy="2571749"/>
          </a:xfrm>
        </p:spPr>
        <p:txBody>
          <a:bodyPr lIns="360000" tIns="360000" rIns="6480000" bIns="360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900" baseline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Füge ein Bild durch Klicken auf das Symbol in der Bildmitte hinzu. 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Nutze den Bilderpool in I:/PPT. 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Verwende die Funktion ZUSCHNEIDEN um das Bild auszurichten.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3553" y="2004863"/>
            <a:ext cx="8207375" cy="387798"/>
          </a:xfrm>
        </p:spPr>
        <p:txBody>
          <a:bodyPr vert="horz" wrap="none" lIns="0" tIns="0" rIns="0" bIns="0" rtlCol="0" anchor="t" anchorCtr="0">
            <a:normAutofit/>
          </a:bodyPr>
          <a:lstStyle>
            <a:lvl1pPr marL="0" indent="0">
              <a:spcBef>
                <a:spcPct val="0"/>
              </a:spcBef>
              <a:buNone/>
              <a:defRPr lang="en-US" sz="2800" b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de-DE" dirty="0"/>
              <a:t>Untertitel (optional)</a:t>
            </a:r>
          </a:p>
        </p:txBody>
      </p:sp>
      <p:sp>
        <p:nvSpPr>
          <p:cNvPr id="10" name="Textfeld 9"/>
          <p:cNvSpPr txBox="1"/>
          <p:nvPr userDrawn="1"/>
        </p:nvSpPr>
        <p:spPr>
          <a:xfrm>
            <a:off x="468313" y="0"/>
            <a:ext cx="94671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6600" b="0" dirty="0">
                <a:solidFill>
                  <a:schemeClr val="tx2"/>
                </a:solidFill>
                <a:latin typeface="init_signs normal" panose="00000500000000000000" pitchFamily="2" charset="0"/>
              </a:rPr>
              <a:t>I</a:t>
            </a:r>
          </a:p>
        </p:txBody>
      </p:sp>
      <p:sp>
        <p:nvSpPr>
          <p:cNvPr id="9" name="Bildplatzhalter 9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622736" y="280023"/>
            <a:ext cx="1176125" cy="612000"/>
          </a:xfrm>
        </p:spPr>
        <p:txBody>
          <a:bodyPr lIns="36000" tIns="36000" rIns="36000" bIns="36000"/>
          <a:lstStyle>
            <a:lvl1pPr>
              <a:defRPr sz="600" baseline="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 </a:t>
            </a:r>
          </a:p>
        </p:txBody>
      </p:sp>
      <p:sp>
        <p:nvSpPr>
          <p:cNvPr id="11" name="Bildplatzhalter 9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006566" y="280023"/>
            <a:ext cx="1176125" cy="61200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 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sz="3800" b="0" baseline="18000" dirty="0" smtClean="0">
                <a:latin typeface="init_signs normal" panose="00000500000000000000" pitchFamily="2" charset="0"/>
              </a:rPr>
              <a:t>I</a:t>
            </a:r>
            <a:r>
              <a:rPr lang="de-DE" b="0" dirty="0" smtClean="0"/>
              <a:t>   </a:t>
            </a:r>
            <a:r>
              <a:rPr lang="de-DE" sz="1000" dirty="0" smtClean="0"/>
              <a:t>1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491423565"/>
      </p:ext>
    </p:extLst>
  </p:cSld>
  <p:clrMapOvr>
    <a:masterClrMapping/>
  </p:clrMapOvr>
  <p:transition spd="med">
    <p:pull/>
  </p:transition>
  <p:extLst mod="1">
    <p:ext uri="{DCECCB84-F9BA-43D5-87BE-67443E8EF086}">
      <p15:sldGuideLst xmlns:p15="http://schemas.microsoft.com/office/powerpoint/2012/main">
        <p15:guide id="1" orient="horz" pos="130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803228" y="675201"/>
            <a:ext cx="4103688" cy="3047121"/>
          </a:xfrm>
        </p:spPr>
        <p:txBody>
          <a:bodyPr/>
          <a:lstStyle>
            <a:lvl1pPr marL="216000" indent="-162000">
              <a:lnSpc>
                <a:spcPct val="110000"/>
              </a:lnSpc>
              <a:spcBef>
                <a:spcPts val="1000"/>
              </a:spcBef>
              <a:buSzPct val="100000"/>
              <a:buFont typeface="init_signs normal" panose="00000500000000000000" pitchFamily="2" charset="0"/>
              <a:buChar char="A"/>
              <a:defRPr baseline="0"/>
            </a:lvl1pPr>
            <a:lvl2pPr>
              <a:defRPr/>
            </a:lvl2pPr>
            <a:lvl3pPr>
              <a:defRPr/>
            </a:lvl3pPr>
            <a:lvl6pPr>
              <a:defRPr/>
            </a:lvl6pPr>
          </a:lstStyle>
          <a:p>
            <a:pPr lvl="0"/>
            <a:r>
              <a:rPr lang="de-DE" dirty="0"/>
              <a:t>Absatzebene ändern durch </a:t>
            </a:r>
            <a:r>
              <a:rPr lang="de-DE" dirty="0" err="1"/>
              <a:t>Strg+Alt+Pfeil</a:t>
            </a:r>
            <a:r>
              <a:rPr lang="de-DE" dirty="0"/>
              <a:t> links/Pfeil rechts</a:t>
            </a:r>
          </a:p>
        </p:txBody>
      </p:sp>
      <p:sp>
        <p:nvSpPr>
          <p:cNvPr id="7" name="Textfeld 6"/>
          <p:cNvSpPr txBox="1"/>
          <p:nvPr userDrawn="1"/>
        </p:nvSpPr>
        <p:spPr>
          <a:xfrm>
            <a:off x="468313" y="0"/>
            <a:ext cx="94671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6600" b="0" dirty="0">
                <a:solidFill>
                  <a:schemeClr val="tx2"/>
                </a:solidFill>
                <a:latin typeface="init_signs normal" panose="00000500000000000000" pitchFamily="2" charset="0"/>
              </a:rPr>
              <a:t>I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3553" y="2004863"/>
            <a:ext cx="4104000" cy="387798"/>
          </a:xfrm>
        </p:spPr>
        <p:txBody>
          <a:bodyPr vert="horz" wrap="square" lIns="0" tIns="0" rIns="0" bIns="0" rtlCol="0" anchor="t" anchorCtr="0">
            <a:noAutofit/>
          </a:bodyPr>
          <a:lstStyle>
            <a:lvl1pPr marL="0" indent="0">
              <a:spcBef>
                <a:spcPct val="0"/>
              </a:spcBef>
              <a:buNone/>
              <a:defRPr lang="en-US" sz="2800" b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de-DE" dirty="0"/>
              <a:t>Untertitel (optional)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83553" y="1609909"/>
            <a:ext cx="4104000" cy="38779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sz="3800" b="0" baseline="18000" dirty="0" smtClean="0">
                <a:latin typeface="init_signs normal" panose="00000500000000000000" pitchFamily="2" charset="0"/>
              </a:rPr>
              <a:t>I</a:t>
            </a:r>
            <a:r>
              <a:rPr lang="de-DE" b="0" dirty="0" smtClean="0"/>
              <a:t>   </a:t>
            </a:r>
            <a:r>
              <a:rPr lang="de-DE" sz="1000" dirty="0" smtClean="0"/>
              <a:t>1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619760614"/>
      </p:ext>
    </p:extLst>
  </p:cSld>
  <p:clrMapOvr>
    <a:masterClrMapping/>
  </p:clrMapOvr>
  <p:transition spd="med">
    <p:pull/>
  </p:transition>
  <p:extLst mod="1">
    <p:ext uri="{DCECCB84-F9BA-43D5-87BE-67443E8EF086}">
      <p15:sldGuideLst xmlns:p15="http://schemas.microsoft.com/office/powerpoint/2012/main">
        <p15:guide id="1" orient="horz" pos="130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5" name="Bildplatzhalter 9"/>
          <p:cNvSpPr>
            <a:spLocks noGrp="1"/>
          </p:cNvSpPr>
          <p:nvPr>
            <p:ph type="pic" sz="quarter" idx="14" hasCustomPrompt="1"/>
          </p:nvPr>
        </p:nvSpPr>
        <p:spPr>
          <a:xfrm>
            <a:off x="7042680" y="412695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sz="3800" b="0" baseline="18000" dirty="0">
                <a:latin typeface="init_signs normal" panose="00000500000000000000" pitchFamily="2" charset="0"/>
              </a:rPr>
              <a:t>I</a:t>
            </a:r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3859577939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13" y="411163"/>
            <a:ext cx="4103687" cy="395771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1635126"/>
            <a:ext cx="3663420" cy="2808287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4103686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4" hasCustomPrompt="1"/>
          </p:nvPr>
        </p:nvSpPr>
        <p:spPr>
          <a:xfrm>
            <a:off x="4983480" y="0"/>
            <a:ext cx="4160520" cy="5143500"/>
          </a:xfrm>
          <a:noFill/>
        </p:spPr>
        <p:txBody>
          <a:bodyPr wrap="square" lIns="360000" tIns="360000" rIns="2160000" bIns="360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900" baseline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Füge ein Bild, eine Grafik, einen Screenshot oder ein </a:t>
            </a:r>
            <a:r>
              <a:rPr lang="de-DE" dirty="0" err="1"/>
              <a:t>Mockup</a:t>
            </a:r>
            <a:r>
              <a:rPr lang="de-DE" dirty="0"/>
              <a:t> durch Klicken auf das Symbol in der Bildmitte hinzu.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Nutze den Bilderpool in I:/PPT.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Verwende die Funktion ZUSCHNEIDEN um das Bild auszurichten.</a:t>
            </a:r>
          </a:p>
        </p:txBody>
      </p:sp>
      <p:sp>
        <p:nvSpPr>
          <p:cNvPr id="12" name="Bildplatzhalter 9"/>
          <p:cNvSpPr>
            <a:spLocks noGrp="1"/>
          </p:cNvSpPr>
          <p:nvPr>
            <p:ph type="pic" sz="quarter" idx="17" hasCustomPrompt="1"/>
          </p:nvPr>
        </p:nvSpPr>
        <p:spPr>
          <a:xfrm>
            <a:off x="5150906" y="4118991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3" name="Bildplatzhalter 9"/>
          <p:cNvSpPr>
            <a:spLocks noGrp="1"/>
          </p:cNvSpPr>
          <p:nvPr>
            <p:ph type="pic" sz="quarter" idx="18" hasCustomPrompt="1"/>
          </p:nvPr>
        </p:nvSpPr>
        <p:spPr>
          <a:xfrm>
            <a:off x="6951340" y="4118991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 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sz="3800" b="0" baseline="18000" dirty="0">
                <a:latin typeface="init_signs normal" panose="00000500000000000000" pitchFamily="2" charset="0"/>
              </a:rPr>
              <a:t>I</a:t>
            </a:r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2200505701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9144000" cy="5143499"/>
          </a:xfrm>
          <a:solidFill>
            <a:schemeClr val="bg1"/>
          </a:solidFill>
          <a:effectLst>
            <a:innerShdw blurRad="1270000" dist="1905000" dir="5400000">
              <a:schemeClr val="tx1">
                <a:alpha val="50000"/>
              </a:schemeClr>
            </a:innerShdw>
          </a:effectLst>
        </p:spPr>
        <p:txBody>
          <a:bodyPr lIns="360000" tIns="360000" rIns="360000" bIns="360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9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Füge ein Bild durch Klicken auf das Symbol in der Bildmitte hinzu. 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Nutze den Bilderpool in I:/PPT. 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Verwende die Funktion ZUSCHNEIDEN um das Bild auszurichten.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13" y="4062692"/>
            <a:ext cx="8207375" cy="395771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4435382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</p:spTree>
    <p:extLst>
      <p:ext uri="{BB962C8B-B14F-4D97-AF65-F5344CB8AC3E}">
        <p14:creationId xmlns:p14="http://schemas.microsoft.com/office/powerpoint/2010/main" val="2668933044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3553" y="1609909"/>
            <a:ext cx="8207375" cy="38779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3553" y="2004863"/>
            <a:ext cx="8207375" cy="387798"/>
          </a:xfrm>
        </p:spPr>
        <p:txBody>
          <a:bodyPr vert="horz" wrap="square" lIns="0" tIns="0" rIns="0" bIns="0" rtlCol="0" anchor="t" anchorCtr="0">
            <a:noAutofit/>
          </a:bodyPr>
          <a:lstStyle>
            <a:lvl1pPr marL="0" indent="0">
              <a:spcBef>
                <a:spcPct val="0"/>
              </a:spcBef>
              <a:buNone/>
              <a:defRPr lang="en-US" sz="2800" b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de-DE" dirty="0"/>
              <a:t>Untertitel (optional)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 hasCustomPrompt="1"/>
          </p:nvPr>
        </p:nvSpPr>
        <p:spPr>
          <a:xfrm>
            <a:off x="468313" y="3568545"/>
            <a:ext cx="1171561" cy="1171350"/>
          </a:xfrm>
        </p:spPr>
        <p:txBody>
          <a:bodyPr wrap="none" lIns="36000" tIns="36000" rIns="36000" bIns="36000" anchor="b" anchorCtr="0">
            <a:noAutofit/>
          </a:bodyPr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  <p:sp>
        <p:nvSpPr>
          <p:cNvPr id="7" name="Textfeld 6"/>
          <p:cNvSpPr txBox="1"/>
          <p:nvPr userDrawn="1"/>
        </p:nvSpPr>
        <p:spPr>
          <a:xfrm>
            <a:off x="468313" y="0"/>
            <a:ext cx="94671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6600" b="0" dirty="0">
                <a:solidFill>
                  <a:schemeClr val="bg1"/>
                </a:solidFill>
                <a:latin typeface="init_signs normal" panose="00000500000000000000" pitchFamily="2" charset="0"/>
              </a:rPr>
              <a:t>I</a:t>
            </a:r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4" hasCustomPrompt="1"/>
          </p:nvPr>
        </p:nvSpPr>
        <p:spPr>
          <a:xfrm>
            <a:off x="5669280" y="708660"/>
            <a:ext cx="3744000" cy="3744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</p:spTree>
    <p:extLst>
      <p:ext uri="{BB962C8B-B14F-4D97-AF65-F5344CB8AC3E}">
        <p14:creationId xmlns:p14="http://schemas.microsoft.com/office/powerpoint/2010/main" val="2371694796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12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kus/Ic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4" hasCustomPrompt="1"/>
          </p:nvPr>
        </p:nvSpPr>
        <p:spPr>
          <a:xfrm>
            <a:off x="2160000" y="1635125"/>
            <a:ext cx="4824000" cy="3097213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</p:spTree>
    <p:extLst>
      <p:ext uri="{BB962C8B-B14F-4D97-AF65-F5344CB8AC3E}">
        <p14:creationId xmlns:p14="http://schemas.microsoft.com/office/powerpoint/2010/main" val="2791451743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kus/3 Icon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5" name="Bildplatzhalter 4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979053" y="2299929"/>
            <a:ext cx="1258413" cy="1260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  <p:sp>
        <p:nvSpPr>
          <p:cNvPr id="6" name="Bildplatzhalter 4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838518" y="2299929"/>
            <a:ext cx="1258413" cy="1260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  <p:sp>
        <p:nvSpPr>
          <p:cNvPr id="8" name="Bildplatzhalt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5697982" y="2299929"/>
            <a:ext cx="1258413" cy="1260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</p:spTree>
    <p:extLst>
      <p:ext uri="{BB962C8B-B14F-4D97-AF65-F5344CB8AC3E}">
        <p14:creationId xmlns:p14="http://schemas.microsoft.com/office/powerpoint/2010/main" val="1939579230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3555" y="1537214"/>
            <a:ext cx="8207374" cy="470898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3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Vielen Dank!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3554" y="2238703"/>
            <a:ext cx="8207374" cy="498191"/>
          </a:xfrm>
        </p:spPr>
        <p:txBody>
          <a:bodyPr vert="horz" wrap="square" lIns="0" tIns="0" rIns="0" bIns="0" rtlCol="0" anchor="t" anchorCtr="0">
            <a:noAutofit/>
          </a:bodyPr>
          <a:lstStyle>
            <a:lvl1pPr marL="0" indent="0">
              <a:buNone/>
              <a:defRPr lang="en-US" sz="1600" b="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de-DE" dirty="0"/>
              <a:t>Vorname Name eintragen</a:t>
            </a:r>
            <a:br>
              <a:rPr lang="de-DE" dirty="0"/>
            </a:br>
            <a:r>
              <a:rPr lang="de-DE" dirty="0"/>
              <a:t>Job Title eintragen</a:t>
            </a:r>
          </a:p>
        </p:txBody>
      </p:sp>
      <p:sp>
        <p:nvSpPr>
          <p:cNvPr id="5" name="Textfeld 4"/>
          <p:cNvSpPr txBox="1"/>
          <p:nvPr userDrawn="1"/>
        </p:nvSpPr>
        <p:spPr>
          <a:xfrm>
            <a:off x="468313" y="0"/>
            <a:ext cx="94671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6600" b="0" dirty="0">
                <a:solidFill>
                  <a:schemeClr val="bg1"/>
                </a:solidFill>
                <a:latin typeface="init_signs normal" panose="00000500000000000000" pitchFamily="2" charset="0"/>
              </a:rPr>
              <a:t>I</a:t>
            </a:r>
          </a:p>
        </p:txBody>
      </p:sp>
      <p:sp>
        <p:nvSpPr>
          <p:cNvPr id="6" name="Bildplatzhalter 4"/>
          <p:cNvSpPr>
            <a:spLocks noGrp="1"/>
          </p:cNvSpPr>
          <p:nvPr>
            <p:ph type="pic" sz="quarter" idx="14" hasCustomPrompt="1"/>
          </p:nvPr>
        </p:nvSpPr>
        <p:spPr>
          <a:xfrm>
            <a:off x="7180832" y="3231152"/>
            <a:ext cx="1510096" cy="1512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0438" y="3573723"/>
            <a:ext cx="220291" cy="220291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 userDrawn="1"/>
        </p:nvPicPr>
        <p:blipFill>
          <a:blip r:embed="rId3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554" y="3126210"/>
            <a:ext cx="234059" cy="220291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 userDrawn="1"/>
        </p:nvPicPr>
        <p:blipFill>
          <a:blip r:embed="rId4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974" y="4022573"/>
            <a:ext cx="165218" cy="234059"/>
          </a:xfrm>
          <a:prstGeom prst="rect">
            <a:avLst/>
          </a:prstGeom>
        </p:spPr>
      </p:pic>
      <p:sp>
        <p:nvSpPr>
          <p:cNvPr id="10" name="Textplatzhalter 25"/>
          <p:cNvSpPr>
            <a:spLocks noGrp="1"/>
          </p:cNvSpPr>
          <p:nvPr>
            <p:ph type="body" sz="quarter" idx="15" hasCustomPrompt="1"/>
          </p:nvPr>
        </p:nvSpPr>
        <p:spPr>
          <a:xfrm>
            <a:off x="916541" y="3109391"/>
            <a:ext cx="4769081" cy="243522"/>
          </a:xfrm>
        </p:spPr>
        <p:txBody>
          <a:bodyPr wrap="square"/>
          <a:lstStyle>
            <a:lvl1pPr marL="0">
              <a:lnSpc>
                <a:spcPct val="110000"/>
              </a:lnSpc>
              <a:spcBef>
                <a:spcPts val="1400"/>
              </a:spcBef>
              <a:defRPr>
                <a:solidFill>
                  <a:schemeClr val="bg1"/>
                </a:solidFill>
              </a:defRPr>
            </a:lvl1pPr>
          </a:lstStyle>
          <a:p>
            <a:pPr marL="0">
              <a:lnSpc>
                <a:spcPct val="110000"/>
              </a:lnSpc>
              <a:spcBef>
                <a:spcPts val="1400"/>
              </a:spcBef>
            </a:pPr>
            <a:r>
              <a:rPr lang="de-DE" dirty="0"/>
              <a:t>Vorname.Nachname@init.de eintragen</a:t>
            </a:r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16" hasCustomPrompt="1"/>
          </p:nvPr>
        </p:nvSpPr>
        <p:spPr>
          <a:xfrm>
            <a:off x="916541" y="3562107"/>
            <a:ext cx="4769081" cy="243522"/>
          </a:xfrm>
        </p:spPr>
        <p:txBody>
          <a:bodyPr wrap="square"/>
          <a:lstStyle>
            <a:lvl1pPr marL="0">
              <a:lnSpc>
                <a:spcPct val="110000"/>
              </a:lnSpc>
              <a:spcBef>
                <a:spcPts val="1400"/>
              </a:spcBef>
              <a:defRPr>
                <a:solidFill>
                  <a:schemeClr val="bg1"/>
                </a:solidFill>
              </a:defRPr>
            </a:lvl1pPr>
          </a:lstStyle>
          <a:p>
            <a:pPr marL="0">
              <a:lnSpc>
                <a:spcPct val="110000"/>
              </a:lnSpc>
              <a:spcBef>
                <a:spcPts val="1400"/>
              </a:spcBef>
            </a:pPr>
            <a:r>
              <a:rPr lang="de-DE" dirty="0"/>
              <a:t>+49 30 97006 xxx eintragen</a:t>
            </a:r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916541" y="4001867"/>
            <a:ext cx="4769081" cy="243522"/>
          </a:xfrm>
        </p:spPr>
        <p:txBody>
          <a:bodyPr wrap="square"/>
          <a:lstStyle>
            <a:lvl1pPr marL="0">
              <a:lnSpc>
                <a:spcPct val="110000"/>
              </a:lnSpc>
              <a:spcBef>
                <a:spcPts val="1400"/>
              </a:spcBef>
              <a:defRPr>
                <a:solidFill>
                  <a:schemeClr val="bg1"/>
                </a:solidFill>
              </a:defRPr>
            </a:lvl1pPr>
          </a:lstStyle>
          <a:p>
            <a:pPr marL="0">
              <a:lnSpc>
                <a:spcPct val="110000"/>
              </a:lnSpc>
              <a:spcBef>
                <a:spcPts val="1400"/>
              </a:spcBef>
            </a:pPr>
            <a:r>
              <a:rPr lang="de-DE" dirty="0"/>
              <a:t>www.init.de eintragen</a:t>
            </a:r>
          </a:p>
        </p:txBody>
      </p:sp>
    </p:spTree>
    <p:extLst>
      <p:ext uri="{BB962C8B-B14F-4D97-AF65-F5344CB8AC3E}">
        <p14:creationId xmlns:p14="http://schemas.microsoft.com/office/powerpoint/2010/main" val="157006927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130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-Wa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4" hasCustomPrompt="1"/>
          </p:nvPr>
        </p:nvSpPr>
        <p:spPr>
          <a:xfrm>
            <a:off x="680504" y="1642491"/>
            <a:ext cx="1633008" cy="849740"/>
          </a:xfrm>
        </p:spPr>
        <p:txBody>
          <a:bodyPr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1" name="Bildplatzhalter 9"/>
          <p:cNvSpPr>
            <a:spLocks noGrp="1"/>
          </p:cNvSpPr>
          <p:nvPr>
            <p:ph type="pic" sz="quarter" idx="15" hasCustomPrompt="1"/>
          </p:nvPr>
        </p:nvSpPr>
        <p:spPr>
          <a:xfrm>
            <a:off x="680504" y="2828435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2" name="Bildplatzhalter 9"/>
          <p:cNvSpPr>
            <a:spLocks noGrp="1"/>
          </p:cNvSpPr>
          <p:nvPr>
            <p:ph type="pic" sz="quarter" idx="16" hasCustomPrompt="1"/>
          </p:nvPr>
        </p:nvSpPr>
        <p:spPr>
          <a:xfrm>
            <a:off x="680504" y="4014379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3" name="Bildplatzhalter 9"/>
          <p:cNvSpPr>
            <a:spLocks noGrp="1"/>
          </p:cNvSpPr>
          <p:nvPr>
            <p:ph type="pic" sz="quarter" idx="17" hasCustomPrompt="1"/>
          </p:nvPr>
        </p:nvSpPr>
        <p:spPr>
          <a:xfrm>
            <a:off x="2731556" y="1642491"/>
            <a:ext cx="1633008" cy="849740"/>
          </a:xfrm>
        </p:spPr>
        <p:txBody>
          <a:bodyPr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8" hasCustomPrompt="1"/>
          </p:nvPr>
        </p:nvSpPr>
        <p:spPr>
          <a:xfrm>
            <a:off x="2731556" y="2828436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9" hasCustomPrompt="1"/>
          </p:nvPr>
        </p:nvSpPr>
        <p:spPr>
          <a:xfrm>
            <a:off x="2731556" y="4014379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6" name="Bildplatzhalter 9"/>
          <p:cNvSpPr>
            <a:spLocks noGrp="1"/>
          </p:cNvSpPr>
          <p:nvPr>
            <p:ph type="pic" sz="quarter" idx="20" hasCustomPrompt="1"/>
          </p:nvPr>
        </p:nvSpPr>
        <p:spPr>
          <a:xfrm>
            <a:off x="4782608" y="1642491"/>
            <a:ext cx="1633008" cy="849740"/>
          </a:xfrm>
        </p:spPr>
        <p:txBody>
          <a:bodyPr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7" name="Bildplatzhalter 9"/>
          <p:cNvSpPr>
            <a:spLocks noGrp="1"/>
          </p:cNvSpPr>
          <p:nvPr>
            <p:ph type="pic" sz="quarter" idx="21" hasCustomPrompt="1"/>
          </p:nvPr>
        </p:nvSpPr>
        <p:spPr>
          <a:xfrm>
            <a:off x="4782608" y="2828436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8" name="Bildplatzhalter 9"/>
          <p:cNvSpPr>
            <a:spLocks noGrp="1"/>
          </p:cNvSpPr>
          <p:nvPr>
            <p:ph type="pic" sz="quarter" idx="22" hasCustomPrompt="1"/>
          </p:nvPr>
        </p:nvSpPr>
        <p:spPr>
          <a:xfrm>
            <a:off x="4782608" y="4014379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9" name="Bildplatzhalter 9"/>
          <p:cNvSpPr>
            <a:spLocks noGrp="1"/>
          </p:cNvSpPr>
          <p:nvPr>
            <p:ph type="pic" sz="quarter" idx="23" hasCustomPrompt="1"/>
          </p:nvPr>
        </p:nvSpPr>
        <p:spPr>
          <a:xfrm>
            <a:off x="6836831" y="1642491"/>
            <a:ext cx="1633008" cy="849740"/>
          </a:xfrm>
        </p:spPr>
        <p:txBody>
          <a:bodyPr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20" name="Bildplatzhalter 9"/>
          <p:cNvSpPr>
            <a:spLocks noGrp="1"/>
          </p:cNvSpPr>
          <p:nvPr>
            <p:ph type="pic" sz="quarter" idx="24" hasCustomPrompt="1"/>
          </p:nvPr>
        </p:nvSpPr>
        <p:spPr>
          <a:xfrm>
            <a:off x="6836831" y="2828436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21" name="Bildplatzhalter 9"/>
          <p:cNvSpPr>
            <a:spLocks noGrp="1"/>
          </p:cNvSpPr>
          <p:nvPr>
            <p:ph type="pic" sz="quarter" idx="25" hasCustomPrompt="1"/>
          </p:nvPr>
        </p:nvSpPr>
        <p:spPr>
          <a:xfrm>
            <a:off x="6836831" y="4014379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24" name="Foliennummernplatzhalter 23"/>
          <p:cNvSpPr>
            <a:spLocks noGrp="1"/>
          </p:cNvSpPr>
          <p:nvPr>
            <p:ph type="sldNum" sz="quarter" idx="28"/>
          </p:nvPr>
        </p:nvSpPr>
        <p:spPr>
          <a:xfrm>
            <a:off x="7673340" y="405776"/>
            <a:ext cx="1002348" cy="241924"/>
          </a:xfrm>
        </p:spPr>
        <p:txBody>
          <a:bodyPr/>
          <a:lstStyle/>
          <a:p>
            <a:r>
              <a:rPr lang="de-DE" sz="3800" b="0" baseline="18000" dirty="0">
                <a:latin typeface="init_signs normal" panose="00000500000000000000" pitchFamily="2" charset="0"/>
              </a:rPr>
              <a:t>I</a:t>
            </a:r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3390569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pos="1587" userDrawn="1">
          <p15:clr>
            <a:srgbClr val="FBAE40"/>
          </p15:clr>
        </p15:guide>
        <p15:guide id="2" pos="4173" userDrawn="1">
          <p15:clr>
            <a:srgbClr val="FBAE40"/>
          </p15:clr>
        </p15:guide>
        <p15:guide id="3" orient="horz" pos="1665" userDrawn="1">
          <p15:clr>
            <a:srgbClr val="FBAE40"/>
          </p15:clr>
        </p15:guide>
        <p15:guide id="4" orient="horz" pos="241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4" hasCustomPrompt="1"/>
          </p:nvPr>
        </p:nvSpPr>
        <p:spPr>
          <a:xfrm>
            <a:off x="473497" y="2680338"/>
            <a:ext cx="2052000" cy="2052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Foto einfügen aus I:\Fotos\Mitarbeiterfotos</a:t>
            </a:r>
          </a:p>
        </p:txBody>
      </p:sp>
      <p:sp>
        <p:nvSpPr>
          <p:cNvPr id="13" name="Bildplatzhalter 11"/>
          <p:cNvSpPr>
            <a:spLocks noGrp="1"/>
          </p:cNvSpPr>
          <p:nvPr>
            <p:ph type="pic" sz="quarter" idx="15" hasCustomPrompt="1"/>
          </p:nvPr>
        </p:nvSpPr>
        <p:spPr>
          <a:xfrm>
            <a:off x="2523175" y="2680338"/>
            <a:ext cx="2052000" cy="2052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Foto einfügen aus I:\Fotos\Mitarbeiterfotos</a:t>
            </a:r>
          </a:p>
        </p:txBody>
      </p:sp>
      <p:sp>
        <p:nvSpPr>
          <p:cNvPr id="14" name="Bildplatzhalter 11"/>
          <p:cNvSpPr>
            <a:spLocks noGrp="1"/>
          </p:cNvSpPr>
          <p:nvPr>
            <p:ph type="pic" sz="quarter" idx="16" hasCustomPrompt="1"/>
          </p:nvPr>
        </p:nvSpPr>
        <p:spPr>
          <a:xfrm>
            <a:off x="4572853" y="2680338"/>
            <a:ext cx="2052000" cy="2052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Foto einfügen aus I:\Fotos\Mitarbeiterfotos</a:t>
            </a:r>
          </a:p>
        </p:txBody>
      </p:sp>
      <p:sp>
        <p:nvSpPr>
          <p:cNvPr id="15" name="Bildplatzhalter 11"/>
          <p:cNvSpPr>
            <a:spLocks noGrp="1"/>
          </p:cNvSpPr>
          <p:nvPr>
            <p:ph type="pic" sz="quarter" idx="17" hasCustomPrompt="1"/>
          </p:nvPr>
        </p:nvSpPr>
        <p:spPr>
          <a:xfrm>
            <a:off x="6622532" y="2680338"/>
            <a:ext cx="2052000" cy="2052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Foto einfügen aus I:\Fotos\Mitarbeiterfotos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 hasCustomPrompt="1"/>
          </p:nvPr>
        </p:nvSpPr>
        <p:spPr>
          <a:xfrm>
            <a:off x="468312" y="1985949"/>
            <a:ext cx="1800000" cy="193899"/>
          </a:xfrm>
        </p:spPr>
        <p:txBody>
          <a:bodyPr anchor="b" anchorCtr="0">
            <a:noAutofit/>
          </a:bodyPr>
          <a:lstStyle>
            <a:lvl1pPr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23" hasCustomPrompt="1"/>
          </p:nvPr>
        </p:nvSpPr>
        <p:spPr>
          <a:xfrm>
            <a:off x="468313" y="2180438"/>
            <a:ext cx="1800792" cy="193899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de-DE" dirty="0"/>
              <a:t>Funktion</a:t>
            </a:r>
          </a:p>
        </p:txBody>
      </p:sp>
      <p:sp>
        <p:nvSpPr>
          <p:cNvPr id="25" name="Textplatzhalter 8"/>
          <p:cNvSpPr>
            <a:spLocks noGrp="1"/>
          </p:cNvSpPr>
          <p:nvPr>
            <p:ph type="body" sz="quarter" idx="24" hasCustomPrompt="1"/>
          </p:nvPr>
        </p:nvSpPr>
        <p:spPr>
          <a:xfrm>
            <a:off x="2523175" y="1985949"/>
            <a:ext cx="1800000" cy="193899"/>
          </a:xfrm>
        </p:spPr>
        <p:txBody>
          <a:bodyPr anchor="b" anchorCtr="0">
            <a:noAutofit/>
          </a:bodyPr>
          <a:lstStyle>
            <a:lvl1pPr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26" name="Textplatzhalter 19"/>
          <p:cNvSpPr>
            <a:spLocks noGrp="1"/>
          </p:cNvSpPr>
          <p:nvPr>
            <p:ph type="body" sz="quarter" idx="25" hasCustomPrompt="1"/>
          </p:nvPr>
        </p:nvSpPr>
        <p:spPr>
          <a:xfrm>
            <a:off x="2523176" y="2180438"/>
            <a:ext cx="1800792" cy="193899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de-DE" dirty="0"/>
              <a:t>Funktion</a:t>
            </a:r>
          </a:p>
        </p:txBody>
      </p:sp>
      <p:sp>
        <p:nvSpPr>
          <p:cNvPr id="27" name="Textplatzhalter 8"/>
          <p:cNvSpPr>
            <a:spLocks noGrp="1"/>
          </p:cNvSpPr>
          <p:nvPr>
            <p:ph type="body" sz="quarter" idx="26" hasCustomPrompt="1"/>
          </p:nvPr>
        </p:nvSpPr>
        <p:spPr>
          <a:xfrm>
            <a:off x="4572853" y="1985949"/>
            <a:ext cx="1800000" cy="193899"/>
          </a:xfrm>
        </p:spPr>
        <p:txBody>
          <a:bodyPr anchor="b" anchorCtr="0">
            <a:noAutofit/>
          </a:bodyPr>
          <a:lstStyle>
            <a:lvl1pPr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28" name="Textplatzhalter 19"/>
          <p:cNvSpPr>
            <a:spLocks noGrp="1"/>
          </p:cNvSpPr>
          <p:nvPr>
            <p:ph type="body" sz="quarter" idx="27" hasCustomPrompt="1"/>
          </p:nvPr>
        </p:nvSpPr>
        <p:spPr>
          <a:xfrm>
            <a:off x="4572854" y="2180438"/>
            <a:ext cx="1800792" cy="193899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de-DE" dirty="0"/>
              <a:t>Funktion</a:t>
            </a:r>
          </a:p>
        </p:txBody>
      </p:sp>
      <p:sp>
        <p:nvSpPr>
          <p:cNvPr id="29" name="Textplatzhalter 8"/>
          <p:cNvSpPr>
            <a:spLocks noGrp="1"/>
          </p:cNvSpPr>
          <p:nvPr>
            <p:ph type="body" sz="quarter" idx="28" hasCustomPrompt="1"/>
          </p:nvPr>
        </p:nvSpPr>
        <p:spPr>
          <a:xfrm>
            <a:off x="6628509" y="1985949"/>
            <a:ext cx="1800000" cy="193899"/>
          </a:xfrm>
        </p:spPr>
        <p:txBody>
          <a:bodyPr anchor="b" anchorCtr="0">
            <a:noAutofit/>
          </a:bodyPr>
          <a:lstStyle>
            <a:lvl1pPr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30" name="Textplatzhalter 19"/>
          <p:cNvSpPr>
            <a:spLocks noGrp="1"/>
          </p:cNvSpPr>
          <p:nvPr>
            <p:ph type="body" sz="quarter" idx="29" hasCustomPrompt="1"/>
          </p:nvPr>
        </p:nvSpPr>
        <p:spPr>
          <a:xfrm>
            <a:off x="6628510" y="2180438"/>
            <a:ext cx="1800792" cy="193899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de-DE" dirty="0"/>
              <a:t>Funktion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sz="3800" b="0" baseline="18000" dirty="0">
                <a:latin typeface="init_signs normal" panose="00000500000000000000" pitchFamily="2" charset="0"/>
              </a:rPr>
              <a:t>I</a:t>
            </a:r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646494916"/>
      </p:ext>
    </p:extLst>
  </p:cSld>
  <p:clrMapOvr>
    <a:masterClrMapping/>
  </p:clrMapOvr>
  <p:transition spd="med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s/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 smtClean="0"/>
              <a:t>Titelmasterformat durch Klicken bearbeiten</a:t>
            </a:r>
            <a:endParaRPr lang="en-US" dirty="0"/>
          </a:p>
        </p:txBody>
      </p:sp>
      <p:cxnSp>
        <p:nvCxnSpPr>
          <p:cNvPr id="10" name="Gerader Verbinder 9"/>
          <p:cNvCxnSpPr/>
          <p:nvPr userDrawn="1"/>
        </p:nvCxnSpPr>
        <p:spPr>
          <a:xfrm>
            <a:off x="468311" y="2906052"/>
            <a:ext cx="820737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Bildplatzhalter 11"/>
          <p:cNvSpPr>
            <a:spLocks noGrp="1"/>
          </p:cNvSpPr>
          <p:nvPr>
            <p:ph type="pic" sz="quarter" idx="14" hasCustomPrompt="1"/>
          </p:nvPr>
        </p:nvSpPr>
        <p:spPr>
          <a:xfrm>
            <a:off x="473497" y="3244354"/>
            <a:ext cx="1139554" cy="960698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3" name="Bildplatzhalter 11"/>
          <p:cNvSpPr>
            <a:spLocks noGrp="1"/>
          </p:cNvSpPr>
          <p:nvPr>
            <p:ph type="pic" sz="quarter" idx="15" hasCustomPrompt="1"/>
          </p:nvPr>
        </p:nvSpPr>
        <p:spPr>
          <a:xfrm>
            <a:off x="1883567" y="3244354"/>
            <a:ext cx="1139554" cy="960698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4" name="Bildplatzhalter 11"/>
          <p:cNvSpPr>
            <a:spLocks noGrp="1"/>
          </p:cNvSpPr>
          <p:nvPr>
            <p:ph type="pic" sz="quarter" idx="16" hasCustomPrompt="1"/>
          </p:nvPr>
        </p:nvSpPr>
        <p:spPr>
          <a:xfrm>
            <a:off x="3293637" y="3244354"/>
            <a:ext cx="1139554" cy="960698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5" name="Bildplatzhalter 11"/>
          <p:cNvSpPr>
            <a:spLocks noGrp="1"/>
          </p:cNvSpPr>
          <p:nvPr>
            <p:ph type="pic" sz="quarter" idx="17" hasCustomPrompt="1"/>
          </p:nvPr>
        </p:nvSpPr>
        <p:spPr>
          <a:xfrm>
            <a:off x="4703707" y="3244354"/>
            <a:ext cx="1139554" cy="960698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6" name="Bildplatzhalter 11"/>
          <p:cNvSpPr>
            <a:spLocks noGrp="1"/>
          </p:cNvSpPr>
          <p:nvPr>
            <p:ph type="pic" sz="quarter" idx="18" hasCustomPrompt="1"/>
          </p:nvPr>
        </p:nvSpPr>
        <p:spPr>
          <a:xfrm>
            <a:off x="6113777" y="3244354"/>
            <a:ext cx="1139554" cy="960698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 hasCustomPrompt="1"/>
          </p:nvPr>
        </p:nvSpPr>
        <p:spPr>
          <a:xfrm>
            <a:off x="468312" y="1566545"/>
            <a:ext cx="1800000" cy="470898"/>
          </a:xfrm>
        </p:spPr>
        <p:txBody>
          <a:bodyPr>
            <a:noAutofit/>
          </a:bodyPr>
          <a:lstStyle>
            <a:lvl1pPr>
              <a:defRPr sz="3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Zahl</a:t>
            </a:r>
          </a:p>
        </p:txBody>
      </p:sp>
      <p:sp>
        <p:nvSpPr>
          <p:cNvPr id="17" name="Textplatzhalter 8"/>
          <p:cNvSpPr>
            <a:spLocks noGrp="1"/>
          </p:cNvSpPr>
          <p:nvPr>
            <p:ph type="body" sz="quarter" idx="20" hasCustomPrompt="1"/>
          </p:nvPr>
        </p:nvSpPr>
        <p:spPr>
          <a:xfrm>
            <a:off x="2520157" y="1566545"/>
            <a:ext cx="1800000" cy="470898"/>
          </a:xfrm>
        </p:spPr>
        <p:txBody>
          <a:bodyPr>
            <a:noAutofit/>
          </a:bodyPr>
          <a:lstStyle>
            <a:lvl1pPr>
              <a:defRPr sz="3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Zahl</a:t>
            </a:r>
          </a:p>
        </p:txBody>
      </p:sp>
      <p:sp>
        <p:nvSpPr>
          <p:cNvPr id="18" name="Textplatzhalter 8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2" y="1566545"/>
            <a:ext cx="1800000" cy="470898"/>
          </a:xfrm>
        </p:spPr>
        <p:txBody>
          <a:bodyPr>
            <a:noAutofit/>
          </a:bodyPr>
          <a:lstStyle>
            <a:lvl1pPr>
              <a:defRPr sz="3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Zahl</a:t>
            </a:r>
          </a:p>
        </p:txBody>
      </p:sp>
      <p:sp>
        <p:nvSpPr>
          <p:cNvPr id="19" name="Textplatzhalter 8"/>
          <p:cNvSpPr>
            <a:spLocks noGrp="1"/>
          </p:cNvSpPr>
          <p:nvPr>
            <p:ph type="body" sz="quarter" idx="22" hasCustomPrompt="1"/>
          </p:nvPr>
        </p:nvSpPr>
        <p:spPr>
          <a:xfrm>
            <a:off x="6623847" y="1566545"/>
            <a:ext cx="1800000" cy="470898"/>
          </a:xfrm>
        </p:spPr>
        <p:txBody>
          <a:bodyPr>
            <a:noAutofit/>
          </a:bodyPr>
          <a:lstStyle>
            <a:lvl1pPr>
              <a:defRPr sz="3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Zahl</a:t>
            </a:r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23" hasCustomPrompt="1"/>
          </p:nvPr>
        </p:nvSpPr>
        <p:spPr>
          <a:xfrm>
            <a:off x="468313" y="2038034"/>
            <a:ext cx="1800792" cy="759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400" baseline="0"/>
            </a:lvl1pPr>
          </a:lstStyle>
          <a:p>
            <a:pPr lvl="0"/>
            <a:r>
              <a:rPr lang="de-DE" dirty="0"/>
              <a:t>Inhalt mit max. 3 Zeilen, Breite &amp; Position anpassen.</a:t>
            </a:r>
          </a:p>
        </p:txBody>
      </p:sp>
      <p:sp>
        <p:nvSpPr>
          <p:cNvPr id="21" name="Textplatzhalter 19"/>
          <p:cNvSpPr>
            <a:spLocks noGrp="1"/>
          </p:cNvSpPr>
          <p:nvPr>
            <p:ph type="body" sz="quarter" idx="24" hasCustomPrompt="1"/>
          </p:nvPr>
        </p:nvSpPr>
        <p:spPr>
          <a:xfrm>
            <a:off x="2519364" y="2038034"/>
            <a:ext cx="1800792" cy="759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400"/>
            </a:lvl1pPr>
          </a:lstStyle>
          <a:p>
            <a:pPr lvl="0"/>
            <a:r>
              <a:rPr lang="de-DE" dirty="0"/>
              <a:t>Inhalt mit max. 3 Zeilen, Breite &amp; Position anpassen.</a:t>
            </a:r>
          </a:p>
        </p:txBody>
      </p:sp>
      <p:sp>
        <p:nvSpPr>
          <p:cNvPr id="22" name="Textplatzhalter 19"/>
          <p:cNvSpPr>
            <a:spLocks noGrp="1"/>
          </p:cNvSpPr>
          <p:nvPr>
            <p:ph type="body" sz="quarter" idx="25" hasCustomPrompt="1"/>
          </p:nvPr>
        </p:nvSpPr>
        <p:spPr>
          <a:xfrm>
            <a:off x="4572000" y="2038034"/>
            <a:ext cx="1800792" cy="759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400"/>
            </a:lvl1pPr>
          </a:lstStyle>
          <a:p>
            <a:pPr lvl="0"/>
            <a:r>
              <a:rPr lang="de-DE" dirty="0"/>
              <a:t>Inhalt mit max. 3 Zeilen, Breite &amp; Position anpassen.</a:t>
            </a:r>
          </a:p>
        </p:txBody>
      </p:sp>
      <p:sp>
        <p:nvSpPr>
          <p:cNvPr id="23" name="Textplatzhalter 19"/>
          <p:cNvSpPr>
            <a:spLocks noGrp="1"/>
          </p:cNvSpPr>
          <p:nvPr>
            <p:ph type="body" sz="quarter" idx="26" hasCustomPrompt="1"/>
          </p:nvPr>
        </p:nvSpPr>
        <p:spPr>
          <a:xfrm>
            <a:off x="6623451" y="2038034"/>
            <a:ext cx="1800792" cy="759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400"/>
            </a:lvl1pPr>
          </a:lstStyle>
          <a:p>
            <a:pPr lvl="0"/>
            <a:r>
              <a:rPr lang="de-DE" dirty="0"/>
              <a:t>Inhalt mit max. 3 Zeilen, Breite &amp; Position anpassen.</a:t>
            </a:r>
          </a:p>
        </p:txBody>
      </p:sp>
      <p:sp>
        <p:nvSpPr>
          <p:cNvPr id="24" name="Bildplatzhalter 11"/>
          <p:cNvSpPr>
            <a:spLocks noGrp="1"/>
          </p:cNvSpPr>
          <p:nvPr>
            <p:ph type="pic" sz="quarter" idx="27" hasCustomPrompt="1"/>
          </p:nvPr>
        </p:nvSpPr>
        <p:spPr>
          <a:xfrm>
            <a:off x="7523847" y="3244354"/>
            <a:ext cx="1139554" cy="960698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sz="3800" b="0" baseline="18000" dirty="0">
                <a:latin typeface="init_signs normal" panose="00000500000000000000" pitchFamily="2" charset="0"/>
              </a:rPr>
              <a:t>I</a:t>
            </a:r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2661338415"/>
      </p:ext>
    </p:extLst>
  </p:cSld>
  <p:clrMapOvr>
    <a:masterClrMapping/>
  </p:clrMapOvr>
  <p:transition spd="med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s/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4" hasCustomPrompt="1"/>
          </p:nvPr>
        </p:nvSpPr>
        <p:spPr>
          <a:xfrm>
            <a:off x="468313" y="2571750"/>
            <a:ext cx="540000" cy="540000"/>
          </a:xfrm>
        </p:spPr>
        <p:txBody>
          <a:bodyPr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</p:txBody>
      </p:sp>
      <p:sp>
        <p:nvSpPr>
          <p:cNvPr id="13" name="Bildplatzhalter 11"/>
          <p:cNvSpPr>
            <a:spLocks noGrp="1"/>
          </p:cNvSpPr>
          <p:nvPr>
            <p:ph type="pic" sz="quarter" idx="15" hasCustomPrompt="1"/>
          </p:nvPr>
        </p:nvSpPr>
        <p:spPr>
          <a:xfrm>
            <a:off x="3198816" y="2571750"/>
            <a:ext cx="540000" cy="540000"/>
          </a:xfrm>
        </p:spPr>
        <p:txBody>
          <a:bodyPr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</p:txBody>
      </p:sp>
      <p:sp>
        <p:nvSpPr>
          <p:cNvPr id="14" name="Bildplatzhalter 11"/>
          <p:cNvSpPr>
            <a:spLocks noGrp="1"/>
          </p:cNvSpPr>
          <p:nvPr>
            <p:ph type="pic" sz="quarter" idx="16" hasCustomPrompt="1"/>
          </p:nvPr>
        </p:nvSpPr>
        <p:spPr>
          <a:xfrm>
            <a:off x="5929319" y="2571750"/>
            <a:ext cx="540000" cy="540000"/>
          </a:xfrm>
        </p:spPr>
        <p:txBody>
          <a:bodyPr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 hasCustomPrompt="1"/>
          </p:nvPr>
        </p:nvSpPr>
        <p:spPr>
          <a:xfrm>
            <a:off x="468311" y="3260112"/>
            <a:ext cx="2736000" cy="221599"/>
          </a:xfrm>
        </p:spPr>
        <p:txBody>
          <a:bodyPr anchor="t" anchorCtr="0">
            <a:noAutofit/>
          </a:bodyPr>
          <a:lstStyle>
            <a:lvl1pPr>
              <a:lnSpc>
                <a:spcPct val="110000"/>
              </a:lnSpc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5" name="Textplatzhalter 8"/>
          <p:cNvSpPr>
            <a:spLocks noGrp="1"/>
          </p:cNvSpPr>
          <p:nvPr>
            <p:ph type="body" sz="quarter" idx="24" hasCustomPrompt="1"/>
          </p:nvPr>
        </p:nvSpPr>
        <p:spPr>
          <a:xfrm>
            <a:off x="3204000" y="3260112"/>
            <a:ext cx="2736000" cy="221599"/>
          </a:xfrm>
        </p:spPr>
        <p:txBody>
          <a:bodyPr anchor="t" anchorCtr="0">
            <a:noAutofit/>
          </a:bodyPr>
          <a:lstStyle>
            <a:lvl1pPr>
              <a:lnSpc>
                <a:spcPct val="110000"/>
              </a:lnSpc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7" name="Textplatzhalter 8"/>
          <p:cNvSpPr>
            <a:spLocks noGrp="1"/>
          </p:cNvSpPr>
          <p:nvPr>
            <p:ph type="body" sz="quarter" idx="26" hasCustomPrompt="1"/>
          </p:nvPr>
        </p:nvSpPr>
        <p:spPr>
          <a:xfrm>
            <a:off x="5939688" y="3260112"/>
            <a:ext cx="2736000" cy="221599"/>
          </a:xfrm>
        </p:spPr>
        <p:txBody>
          <a:bodyPr anchor="t" anchorCtr="0">
            <a:noAutofit/>
          </a:bodyPr>
          <a:lstStyle>
            <a:lvl1pPr>
              <a:lnSpc>
                <a:spcPct val="110000"/>
              </a:lnSpc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17" name="Textplatzhalter 8"/>
          <p:cNvSpPr>
            <a:spLocks noGrp="1"/>
          </p:cNvSpPr>
          <p:nvPr>
            <p:ph type="body" sz="quarter" idx="27"/>
          </p:nvPr>
        </p:nvSpPr>
        <p:spPr>
          <a:xfrm>
            <a:off x="468313" y="3630073"/>
            <a:ext cx="2736000" cy="813339"/>
          </a:xfrm>
        </p:spPr>
        <p:txBody>
          <a:bodyPr anchor="t" anchorCtr="0">
            <a:noAutofit/>
          </a:bodyPr>
          <a:lstStyle>
            <a:lvl1pPr>
              <a:lnSpc>
                <a:spcPct val="110000"/>
              </a:lnSpc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18" name="Textplatzhalter 8"/>
          <p:cNvSpPr>
            <a:spLocks noGrp="1"/>
          </p:cNvSpPr>
          <p:nvPr>
            <p:ph type="body" sz="quarter" idx="28"/>
          </p:nvPr>
        </p:nvSpPr>
        <p:spPr>
          <a:xfrm>
            <a:off x="3204002" y="3630073"/>
            <a:ext cx="2736000" cy="813339"/>
          </a:xfrm>
        </p:spPr>
        <p:txBody>
          <a:bodyPr anchor="t" anchorCtr="0">
            <a:noAutofit/>
          </a:bodyPr>
          <a:lstStyle>
            <a:lvl1pPr>
              <a:lnSpc>
                <a:spcPct val="110000"/>
              </a:lnSpc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19" name="Textplatzhalter 8"/>
          <p:cNvSpPr>
            <a:spLocks noGrp="1"/>
          </p:cNvSpPr>
          <p:nvPr>
            <p:ph type="body" sz="quarter" idx="29"/>
          </p:nvPr>
        </p:nvSpPr>
        <p:spPr>
          <a:xfrm>
            <a:off x="5939690" y="3630073"/>
            <a:ext cx="2736000" cy="813339"/>
          </a:xfrm>
        </p:spPr>
        <p:txBody>
          <a:bodyPr anchor="t" anchorCtr="0">
            <a:noAutofit/>
          </a:bodyPr>
          <a:lstStyle>
            <a:lvl1pPr>
              <a:lnSpc>
                <a:spcPct val="110000"/>
              </a:lnSpc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sz="3800" b="0" baseline="18000" dirty="0">
                <a:latin typeface="init_signs normal" panose="00000500000000000000" pitchFamily="2" charset="0"/>
              </a:rPr>
              <a:t>I</a:t>
            </a:r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1212691164"/>
      </p:ext>
    </p:extLst>
  </p:cSld>
  <p:clrMapOvr>
    <a:masterClrMapping/>
  </p:clrMapOvr>
  <p:transition spd="med"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9FEE-3814-4F4F-A28A-460A140CB558}" type="datetime1">
              <a:rPr lang="de-DE" smtClean="0"/>
              <a:t>17.02.2021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Standardisierungsstrategie im Hochschulwesen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B7AA-7EB5-443C-AC31-37E37436B1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1310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3"/>
            <a:ext cx="6858000" cy="1790700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780" indent="0" algn="ctr">
              <a:buNone/>
              <a:defRPr sz="1334"/>
            </a:lvl2pPr>
            <a:lvl3pPr marL="609560" indent="0" algn="ctr">
              <a:buNone/>
              <a:defRPr sz="1200"/>
            </a:lvl3pPr>
            <a:lvl4pPr marL="914340" indent="0" algn="ctr">
              <a:buNone/>
              <a:defRPr sz="1067"/>
            </a:lvl4pPr>
            <a:lvl5pPr marL="1219120" indent="0" algn="ctr">
              <a:buNone/>
              <a:defRPr sz="1067"/>
            </a:lvl5pPr>
            <a:lvl6pPr marL="1523900" indent="0" algn="ctr">
              <a:buNone/>
              <a:defRPr sz="1067"/>
            </a:lvl6pPr>
            <a:lvl7pPr marL="1828680" indent="0" algn="ctr">
              <a:buNone/>
              <a:defRPr sz="1067"/>
            </a:lvl7pPr>
            <a:lvl8pPr marL="2133460" indent="0" algn="ctr">
              <a:buNone/>
              <a:defRPr sz="1067"/>
            </a:lvl8pPr>
            <a:lvl9pPr marL="2438240" indent="0" algn="ctr">
              <a:buNone/>
              <a:defRPr sz="1067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4F62-7228-4274-A63C-C6B1B1C5B0B1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17.02.2021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31CC-A0F5-4F48-8B32-D5616F917CFA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8234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4F62-7228-4274-A63C-C6B1B1C5B0B1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17.02.2021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31CC-A0F5-4F48-8B32-D5616F917CFA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4048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04780" indent="0">
              <a:buNone/>
              <a:defRPr sz="1334">
                <a:solidFill>
                  <a:schemeClr val="tx1">
                    <a:tint val="75000"/>
                  </a:schemeClr>
                </a:solidFill>
              </a:defRPr>
            </a:lvl2pPr>
            <a:lvl3pPr marL="6095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91434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4pPr>
            <a:lvl5pPr marL="121912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5pPr>
            <a:lvl6pPr marL="152390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6pPr>
            <a:lvl7pPr marL="182868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7pPr>
            <a:lvl8pPr marL="213346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8pPr>
            <a:lvl9pPr marL="243824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4F62-7228-4274-A63C-C6B1B1C5B0B1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17.02.2021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31CC-A0F5-4F48-8B32-D5616F917CFA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8386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369219"/>
            <a:ext cx="3886200" cy="3263504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4F62-7228-4274-A63C-C6B1B1C5B0B1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17.02.2021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31CC-A0F5-4F48-8B32-D5616F917CFA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756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3"/>
            <a:ext cx="3868341" cy="617934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780" indent="0">
              <a:buNone/>
              <a:defRPr sz="1334" b="1"/>
            </a:lvl2pPr>
            <a:lvl3pPr marL="609560" indent="0">
              <a:buNone/>
              <a:defRPr sz="1200" b="1"/>
            </a:lvl3pPr>
            <a:lvl4pPr marL="914340" indent="0">
              <a:buNone/>
              <a:defRPr sz="1067" b="1"/>
            </a:lvl4pPr>
            <a:lvl5pPr marL="1219120" indent="0">
              <a:buNone/>
              <a:defRPr sz="1067" b="1"/>
            </a:lvl5pPr>
            <a:lvl6pPr marL="1523900" indent="0">
              <a:buNone/>
              <a:defRPr sz="1067" b="1"/>
            </a:lvl6pPr>
            <a:lvl7pPr marL="1828680" indent="0">
              <a:buNone/>
              <a:defRPr sz="1067" b="1"/>
            </a:lvl7pPr>
            <a:lvl8pPr marL="2133460" indent="0">
              <a:buNone/>
              <a:defRPr sz="1067" b="1"/>
            </a:lvl8pPr>
            <a:lvl9pPr marL="2438240" indent="0">
              <a:buNone/>
              <a:defRPr sz="1067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1" cy="2763441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3"/>
            <a:ext cx="3887391" cy="617934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780" indent="0">
              <a:buNone/>
              <a:defRPr sz="1334" b="1"/>
            </a:lvl2pPr>
            <a:lvl3pPr marL="609560" indent="0">
              <a:buNone/>
              <a:defRPr sz="1200" b="1"/>
            </a:lvl3pPr>
            <a:lvl4pPr marL="914340" indent="0">
              <a:buNone/>
              <a:defRPr sz="1067" b="1"/>
            </a:lvl4pPr>
            <a:lvl5pPr marL="1219120" indent="0">
              <a:buNone/>
              <a:defRPr sz="1067" b="1"/>
            </a:lvl5pPr>
            <a:lvl6pPr marL="1523900" indent="0">
              <a:buNone/>
              <a:defRPr sz="1067" b="1"/>
            </a:lvl6pPr>
            <a:lvl7pPr marL="1828680" indent="0">
              <a:buNone/>
              <a:defRPr sz="1067" b="1"/>
            </a:lvl7pPr>
            <a:lvl8pPr marL="2133460" indent="0">
              <a:buNone/>
              <a:defRPr sz="1067" b="1"/>
            </a:lvl8pPr>
            <a:lvl9pPr marL="2438240" indent="0">
              <a:buNone/>
              <a:defRPr sz="1067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7"/>
            <a:ext cx="3887391" cy="2763441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4F62-7228-4274-A63C-C6B1B1C5B0B1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17.02.2021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31CC-A0F5-4F48-8B32-D5616F917CFA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6530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4F62-7228-4274-A63C-C6B1B1C5B0B1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17.02.2021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31CC-A0F5-4F48-8B32-D5616F917CFA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45379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4F62-7228-4274-A63C-C6B1B1C5B0B1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17.02.2021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31CC-A0F5-4F48-8B32-D5616F917CFA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7396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8" cy="120015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8"/>
          </a:xfrm>
        </p:spPr>
        <p:txBody>
          <a:bodyPr/>
          <a:lstStyle>
            <a:lvl1pPr>
              <a:defRPr sz="2133"/>
            </a:lvl1pPr>
            <a:lvl2pPr>
              <a:defRPr sz="1866"/>
            </a:lvl2pPr>
            <a:lvl3pPr>
              <a:defRPr sz="1600"/>
            </a:lvl3pPr>
            <a:lvl4pPr>
              <a:defRPr sz="1334"/>
            </a:lvl4pPr>
            <a:lvl5pPr>
              <a:defRPr sz="1334"/>
            </a:lvl5pPr>
            <a:lvl6pPr>
              <a:defRPr sz="1334"/>
            </a:lvl6pPr>
            <a:lvl7pPr>
              <a:defRPr sz="1334"/>
            </a:lvl7pPr>
            <a:lvl8pPr>
              <a:defRPr sz="1334"/>
            </a:lvl8pPr>
            <a:lvl9pPr>
              <a:defRPr sz="1334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1543050"/>
            <a:ext cx="2949178" cy="2858691"/>
          </a:xfrm>
        </p:spPr>
        <p:txBody>
          <a:bodyPr/>
          <a:lstStyle>
            <a:lvl1pPr marL="0" indent="0">
              <a:buNone/>
              <a:defRPr sz="1067"/>
            </a:lvl1pPr>
            <a:lvl2pPr marL="304780" indent="0">
              <a:buNone/>
              <a:defRPr sz="933"/>
            </a:lvl2pPr>
            <a:lvl3pPr marL="609560" indent="0">
              <a:buNone/>
              <a:defRPr sz="800"/>
            </a:lvl3pPr>
            <a:lvl4pPr marL="914340" indent="0">
              <a:buNone/>
              <a:defRPr sz="667"/>
            </a:lvl4pPr>
            <a:lvl5pPr marL="1219120" indent="0">
              <a:buNone/>
              <a:defRPr sz="667"/>
            </a:lvl5pPr>
            <a:lvl6pPr marL="1523900" indent="0">
              <a:buNone/>
              <a:defRPr sz="667"/>
            </a:lvl6pPr>
            <a:lvl7pPr marL="1828680" indent="0">
              <a:buNone/>
              <a:defRPr sz="667"/>
            </a:lvl7pPr>
            <a:lvl8pPr marL="2133460" indent="0">
              <a:buNone/>
              <a:defRPr sz="667"/>
            </a:lvl8pPr>
            <a:lvl9pPr marL="2438240" indent="0">
              <a:buNone/>
              <a:defRPr sz="667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4F62-7228-4274-A63C-C6B1B1C5B0B1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17.02.2021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31CC-A0F5-4F48-8B32-D5616F917CFA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9079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8" cy="120015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8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780" indent="0">
              <a:buNone/>
              <a:defRPr sz="1866"/>
            </a:lvl2pPr>
            <a:lvl3pPr marL="609560" indent="0">
              <a:buNone/>
              <a:defRPr sz="1600"/>
            </a:lvl3pPr>
            <a:lvl4pPr marL="914340" indent="0">
              <a:buNone/>
              <a:defRPr sz="1334"/>
            </a:lvl4pPr>
            <a:lvl5pPr marL="1219120" indent="0">
              <a:buNone/>
              <a:defRPr sz="1334"/>
            </a:lvl5pPr>
            <a:lvl6pPr marL="1523900" indent="0">
              <a:buNone/>
              <a:defRPr sz="1334"/>
            </a:lvl6pPr>
            <a:lvl7pPr marL="1828680" indent="0">
              <a:buNone/>
              <a:defRPr sz="1334"/>
            </a:lvl7pPr>
            <a:lvl8pPr marL="2133460" indent="0">
              <a:buNone/>
              <a:defRPr sz="1334"/>
            </a:lvl8pPr>
            <a:lvl9pPr marL="2438240" indent="0">
              <a:buNone/>
              <a:defRPr sz="1334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1543050"/>
            <a:ext cx="2949178" cy="2858691"/>
          </a:xfrm>
        </p:spPr>
        <p:txBody>
          <a:bodyPr/>
          <a:lstStyle>
            <a:lvl1pPr marL="0" indent="0">
              <a:buNone/>
              <a:defRPr sz="1067"/>
            </a:lvl1pPr>
            <a:lvl2pPr marL="304780" indent="0">
              <a:buNone/>
              <a:defRPr sz="933"/>
            </a:lvl2pPr>
            <a:lvl3pPr marL="609560" indent="0">
              <a:buNone/>
              <a:defRPr sz="800"/>
            </a:lvl3pPr>
            <a:lvl4pPr marL="914340" indent="0">
              <a:buNone/>
              <a:defRPr sz="667"/>
            </a:lvl4pPr>
            <a:lvl5pPr marL="1219120" indent="0">
              <a:buNone/>
              <a:defRPr sz="667"/>
            </a:lvl5pPr>
            <a:lvl6pPr marL="1523900" indent="0">
              <a:buNone/>
              <a:defRPr sz="667"/>
            </a:lvl6pPr>
            <a:lvl7pPr marL="1828680" indent="0">
              <a:buNone/>
              <a:defRPr sz="667"/>
            </a:lvl7pPr>
            <a:lvl8pPr marL="2133460" indent="0">
              <a:buNone/>
              <a:defRPr sz="667"/>
            </a:lvl8pPr>
            <a:lvl9pPr marL="2438240" indent="0">
              <a:buNone/>
              <a:defRPr sz="667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4F62-7228-4274-A63C-C6B1B1C5B0B1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17.02.2021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31CC-A0F5-4F48-8B32-D5616F917CFA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6362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4F62-7228-4274-A63C-C6B1B1C5B0B1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17.02.2021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31CC-A0F5-4F48-8B32-D5616F917CFA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013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4F62-7228-4274-A63C-C6B1B1C5B0B1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17.02.2021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31CC-A0F5-4F48-8B32-D5616F917CFA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059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313" y="411163"/>
            <a:ext cx="8207375" cy="3957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13" y="1635125"/>
            <a:ext cx="6846887" cy="28082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8793" y="4593313"/>
            <a:ext cx="2052000" cy="146582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>
              <a:defRPr sz="953">
                <a:solidFill>
                  <a:schemeClr val="tx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8793" y="4732338"/>
            <a:ext cx="4103688" cy="146643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 lang="de-DE" sz="953" dirty="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sz="3800" b="0" baseline="18000" dirty="0" smtClean="0">
                <a:latin typeface="init_signs normal" panose="00000500000000000000" pitchFamily="2" charset="0"/>
              </a:rPr>
              <a:t>I</a:t>
            </a:r>
            <a:r>
              <a:rPr lang="de-DE" b="0" dirty="0" smtClean="0"/>
              <a:t>   </a:t>
            </a:r>
            <a:r>
              <a:rPr lang="de-DE" sz="1000" dirty="0" smtClean="0"/>
              <a:t>1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629947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1" r:id="rId3"/>
    <p:sldLayoutId id="2147483662" r:id="rId4"/>
    <p:sldLayoutId id="2147483664" r:id="rId5"/>
    <p:sldLayoutId id="2147483684" r:id="rId6"/>
    <p:sldLayoutId id="2147483673" r:id="rId7"/>
    <p:sldLayoutId id="2147483678" r:id="rId8"/>
    <p:sldLayoutId id="2147483682" r:id="rId9"/>
    <p:sldLayoutId id="2147483681" r:id="rId10"/>
    <p:sldLayoutId id="2147483676" r:id="rId11"/>
    <p:sldLayoutId id="2147483677" r:id="rId12"/>
    <p:sldLayoutId id="2147483675" r:id="rId13"/>
    <p:sldLayoutId id="2147483679" r:id="rId14"/>
    <p:sldLayoutId id="2147483685" r:id="rId15"/>
  </p:sldLayoutIdLst>
  <p:transition spd="med">
    <p:pull/>
  </p:transition>
  <p:hf sldNum="0" hdr="0" ftr="0" dt="0"/>
  <p:txStyles>
    <p:titleStyle>
      <a:lvl1pPr algn="l" defTabSz="617325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" indent="0" algn="l" defTabSz="617325" rtl="0" eaLnBrk="1" latinLnBrk="0" hangingPunct="1">
        <a:lnSpc>
          <a:spcPct val="90000"/>
        </a:lnSpc>
        <a:spcBef>
          <a:spcPts val="0"/>
        </a:spcBef>
        <a:buClr>
          <a:schemeClr val="tx2"/>
        </a:buClr>
        <a:buSzPct val="60000"/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16000" indent="-162000" algn="l" defTabSz="617325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SzPct val="100000"/>
        <a:buFont typeface="init_signs normal" panose="00000500000000000000" pitchFamily="2" charset="0"/>
        <a:buChar char="A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16000" indent="-162000" algn="l" defTabSz="617325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SzPct val="100000"/>
        <a:buFont typeface="init_signs normal" panose="00000500000000000000" pitchFamily="2" charset="0"/>
        <a:buChar char="P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216000" indent="-162000" algn="l" defTabSz="617325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SzPct val="100000"/>
        <a:buFont typeface="init_signs normal" panose="00000500000000000000" pitchFamily="2" charset="0"/>
        <a:buChar char="C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16000" indent="0" algn="l" defTabSz="617325" rtl="0" eaLnBrk="1" latinLnBrk="0" hangingPunct="1">
        <a:lnSpc>
          <a:spcPct val="110000"/>
        </a:lnSpc>
        <a:spcBef>
          <a:spcPts val="800"/>
        </a:spcBef>
        <a:buClr>
          <a:schemeClr val="tx2"/>
        </a:buClr>
        <a:buSzPct val="60000"/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396000" indent="-144000" algn="l" defTabSz="617325" rtl="0" eaLnBrk="1" latinLnBrk="0" hangingPunct="1">
        <a:lnSpc>
          <a:spcPct val="110000"/>
        </a:lnSpc>
        <a:spcBef>
          <a:spcPts val="600"/>
        </a:spcBef>
        <a:buSzPct val="100000"/>
        <a:buFont typeface="init_signs normal" panose="00000500000000000000" pitchFamily="2" charset="0"/>
        <a:buChar char="A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76000" indent="-144000" algn="l" defTabSz="617325" rtl="0" eaLnBrk="1" latinLnBrk="0" hangingPunct="1">
        <a:lnSpc>
          <a:spcPct val="110000"/>
        </a:lnSpc>
        <a:spcBef>
          <a:spcPts val="600"/>
        </a:spcBef>
        <a:buSzPct val="100000"/>
        <a:buFont typeface="init_signs normal" panose="00000500000000000000" pitchFamily="2" charset="0"/>
        <a:buChar char="A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96000" indent="0" algn="l" defTabSz="617325" rtl="0" eaLnBrk="1" latinLnBrk="0" hangingPunct="1">
        <a:lnSpc>
          <a:spcPct val="110000"/>
        </a:lnSpc>
        <a:spcBef>
          <a:spcPts val="600"/>
        </a:spcBef>
        <a:buClr>
          <a:schemeClr val="tx2"/>
        </a:buClr>
        <a:buSzPct val="60000"/>
        <a:buFontTx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396000" indent="0" algn="l" defTabSz="617325" rtl="0" eaLnBrk="1" latinLnBrk="0" hangingPunct="1">
        <a:lnSpc>
          <a:spcPct val="110000"/>
        </a:lnSpc>
        <a:spcBef>
          <a:spcPts val="600"/>
        </a:spcBef>
        <a:buClr>
          <a:schemeClr val="tx2"/>
        </a:buClr>
        <a:buSzPct val="60000"/>
        <a:buFontTx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63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325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988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651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313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976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640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9302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620" userDrawn="1">
          <p15:clr>
            <a:srgbClr val="F26B43"/>
          </p15:clr>
        </p15:guide>
        <p15:guide id="3" pos="295" userDrawn="1">
          <p15:clr>
            <a:srgbClr val="F26B43"/>
          </p15:clr>
        </p15:guide>
        <p15:guide id="4" orient="horz" pos="259" userDrawn="1">
          <p15:clr>
            <a:srgbClr val="F26B43"/>
          </p15:clr>
        </p15:guide>
        <p15:guide id="5" pos="5465" userDrawn="1">
          <p15:clr>
            <a:srgbClr val="F26B43"/>
          </p15:clr>
        </p15:guide>
        <p15:guide id="6" orient="horz" pos="2981" userDrawn="1">
          <p15:clr>
            <a:srgbClr val="F26B43"/>
          </p15:clr>
        </p15:guide>
        <p15:guide id="7" orient="horz" pos="1030" userDrawn="1">
          <p15:clr>
            <a:srgbClr val="F26B43"/>
          </p15:clr>
        </p15:guide>
        <p15:guide id="8" orient="horz" pos="2799" userDrawn="1">
          <p15:clr>
            <a:srgbClr val="F26B43"/>
          </p15:clr>
        </p15:guide>
        <p15:guide id="9" orient="horz" pos="69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35357"/>
            <a:fld id="{C7634F62-7228-4274-A63C-C6B1B1C5B0B1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 defTabSz="435357"/>
              <a:t>17.02.2021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35357"/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35357"/>
            <a:fld id="{8C5D31CC-A0F5-4F48-8B32-D5616F917CFA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 defTabSz="435357"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763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60956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390" indent="-152390" algn="l" defTabSz="60956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6" kern="1200">
          <a:solidFill>
            <a:schemeClr val="tx1"/>
          </a:solidFill>
          <a:latin typeface="+mn-lt"/>
          <a:ea typeface="+mn-ea"/>
          <a:cs typeface="+mn-cs"/>
        </a:defRPr>
      </a:lvl1pPr>
      <a:lvl2pPr marL="457170" indent="-152390" algn="l" defTabSz="60956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50" indent="-152390" algn="l" defTabSz="60956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4" kern="1200">
          <a:solidFill>
            <a:schemeClr val="tx1"/>
          </a:solidFill>
          <a:latin typeface="+mn-lt"/>
          <a:ea typeface="+mn-ea"/>
          <a:cs typeface="+mn-cs"/>
        </a:defRPr>
      </a:lvl3pPr>
      <a:lvl4pPr marL="1066730" indent="-152390" algn="l" defTabSz="60956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10" indent="-152390" algn="l" defTabSz="60956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290" indent="-152390" algn="l" defTabSz="60956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070" indent="-152390" algn="l" defTabSz="60956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5850" indent="-152390" algn="l" defTabSz="60956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630" indent="-152390" algn="l" defTabSz="60956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780" algn="l" defTabSz="6095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560" algn="l" defTabSz="6095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340" algn="l" defTabSz="6095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120" algn="l" defTabSz="6095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3900" algn="l" defTabSz="6095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680" algn="l" defTabSz="6095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460" algn="l" defTabSz="6095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240" algn="l" defTabSz="6095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image" Target="../media/image9.png"/><Relationship Id="rId3" Type="http://schemas.openxmlformats.org/officeDocument/2006/relationships/tags" Target="../tags/tag3.xml"/><Relationship Id="rId21" Type="http://schemas.openxmlformats.org/officeDocument/2006/relationships/image" Target="../media/image4.png"/><Relationship Id="rId34" Type="http://schemas.openxmlformats.org/officeDocument/2006/relationships/image" Target="../media/image17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image" Target="../media/image8.png"/><Relationship Id="rId33" Type="http://schemas.openxmlformats.org/officeDocument/2006/relationships/image" Target="../media/image16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slideLayout" Target="../slideLayouts/slideLayout16.xml"/><Relationship Id="rId29" Type="http://schemas.openxmlformats.org/officeDocument/2006/relationships/image" Target="../media/image12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7.png"/><Relationship Id="rId32" Type="http://schemas.openxmlformats.org/officeDocument/2006/relationships/image" Target="../media/image15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6.png"/><Relationship Id="rId28" Type="http://schemas.openxmlformats.org/officeDocument/2006/relationships/image" Target="../media/image11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image" Target="../media/image14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5.emf"/><Relationship Id="rId27" Type="http://schemas.openxmlformats.org/officeDocument/2006/relationships/image" Target="../media/image10.png"/><Relationship Id="rId30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Straight Connector 116">
            <a:extLst>
              <a:ext uri="{FF2B5EF4-FFF2-40B4-BE49-F238E27FC236}">
                <a16:creationId xmlns="" xmlns:a16="http://schemas.microsoft.com/office/drawing/2014/main" id="{A73C593D-1DDD-40E9-AC07-819EB9879327}"/>
              </a:ext>
            </a:extLst>
          </p:cNvPr>
          <p:cNvCxnSpPr>
            <a:cxnSpLocks/>
          </p:cNvCxnSpPr>
          <p:nvPr/>
        </p:nvCxnSpPr>
        <p:spPr bwMode="gray">
          <a:xfrm>
            <a:off x="3301572" y="1219281"/>
            <a:ext cx="1506022" cy="0"/>
          </a:xfrm>
          <a:prstGeom prst="line">
            <a:avLst/>
          </a:prstGeom>
          <a:ln w="57150" cap="rnd"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117">
            <a:extLst>
              <a:ext uri="{FF2B5EF4-FFF2-40B4-BE49-F238E27FC236}">
                <a16:creationId xmlns="" xmlns:a16="http://schemas.microsoft.com/office/drawing/2014/main" id="{35927408-C2A9-4D7D-9D71-16C42BB9332D}"/>
              </a:ext>
            </a:extLst>
          </p:cNvPr>
          <p:cNvCxnSpPr>
            <a:cxnSpLocks/>
            <a:stCxn id="103" idx="2"/>
          </p:cNvCxnSpPr>
          <p:nvPr/>
        </p:nvCxnSpPr>
        <p:spPr bwMode="gray">
          <a:xfrm flipV="1">
            <a:off x="2335627" y="1909158"/>
            <a:ext cx="2496000" cy="1505"/>
          </a:xfrm>
          <a:prstGeom prst="line">
            <a:avLst/>
          </a:prstGeom>
          <a:ln w="57150" cap="rnd"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120">
            <a:extLst>
              <a:ext uri="{FF2B5EF4-FFF2-40B4-BE49-F238E27FC236}">
                <a16:creationId xmlns="" xmlns:a16="http://schemas.microsoft.com/office/drawing/2014/main" id="{32453E03-9A08-4468-AE67-38EF41AAB88E}"/>
              </a:ext>
            </a:extLst>
          </p:cNvPr>
          <p:cNvCxnSpPr>
            <a:cxnSpLocks/>
          </p:cNvCxnSpPr>
          <p:nvPr/>
        </p:nvCxnSpPr>
        <p:spPr bwMode="gray">
          <a:xfrm>
            <a:off x="2947565" y="1222630"/>
            <a:ext cx="230453" cy="0"/>
          </a:xfrm>
          <a:prstGeom prst="line">
            <a:avLst/>
          </a:prstGeom>
          <a:ln w="57150" cap="rnd">
            <a:solidFill>
              <a:schemeClr val="accent4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121">
            <a:extLst>
              <a:ext uri="{FF2B5EF4-FFF2-40B4-BE49-F238E27FC236}">
                <a16:creationId xmlns="" xmlns:a16="http://schemas.microsoft.com/office/drawing/2014/main" id="{E41A7078-D52D-4F06-B603-B023D8721495}"/>
              </a:ext>
            </a:extLst>
          </p:cNvPr>
          <p:cNvCxnSpPr>
            <a:cxnSpLocks/>
          </p:cNvCxnSpPr>
          <p:nvPr/>
        </p:nvCxnSpPr>
        <p:spPr bwMode="gray">
          <a:xfrm flipV="1">
            <a:off x="3991736" y="3972214"/>
            <a:ext cx="4114739" cy="5467"/>
          </a:xfrm>
          <a:prstGeom prst="line">
            <a:avLst/>
          </a:prstGeom>
          <a:ln w="57150" cap="rnd"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115">
            <a:extLst>
              <a:ext uri="{FF2B5EF4-FFF2-40B4-BE49-F238E27FC236}">
                <a16:creationId xmlns="" xmlns:a16="http://schemas.microsoft.com/office/drawing/2014/main" id="{BC5401A6-1385-4E65-973F-51FC7E6C4612}"/>
              </a:ext>
            </a:extLst>
          </p:cNvPr>
          <p:cNvSpPr>
            <a:spLocks/>
          </p:cNvSpPr>
          <p:nvPr/>
        </p:nvSpPr>
        <p:spPr bwMode="gray">
          <a:xfrm>
            <a:off x="3464058" y="1823983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66" name="Oval 59">
            <a:extLst>
              <a:ext uri="{FF2B5EF4-FFF2-40B4-BE49-F238E27FC236}">
                <a16:creationId xmlns="" xmlns:a16="http://schemas.microsoft.com/office/drawing/2014/main" id="{B8624F2F-FA4A-4145-9963-8FDD242146F8}"/>
              </a:ext>
            </a:extLst>
          </p:cNvPr>
          <p:cNvSpPr>
            <a:spLocks/>
          </p:cNvSpPr>
          <p:nvPr/>
        </p:nvSpPr>
        <p:spPr bwMode="gray">
          <a:xfrm>
            <a:off x="4336519" y="1130691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rIns="0" rtlCol="0" anchor="ctr"/>
          <a:lstStyle/>
          <a:p>
            <a:pPr algn="ctr" defTabSz="435357"/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70" name="Oval 115">
            <a:extLst>
              <a:ext uri="{FF2B5EF4-FFF2-40B4-BE49-F238E27FC236}">
                <a16:creationId xmlns="" xmlns:a16="http://schemas.microsoft.com/office/drawing/2014/main" id="{BC5401A6-1385-4E65-973F-51FC7E6C4612}"/>
              </a:ext>
            </a:extLst>
          </p:cNvPr>
          <p:cNvSpPr>
            <a:spLocks/>
          </p:cNvSpPr>
          <p:nvPr/>
        </p:nvSpPr>
        <p:spPr bwMode="gray">
          <a:xfrm>
            <a:off x="4336519" y="1823664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cxnSp>
        <p:nvCxnSpPr>
          <p:cNvPr id="71" name="Straight Connector 117">
            <a:extLst>
              <a:ext uri="{FF2B5EF4-FFF2-40B4-BE49-F238E27FC236}">
                <a16:creationId xmlns="" xmlns:a16="http://schemas.microsoft.com/office/drawing/2014/main" id="{35927408-C2A9-4D7D-9D71-16C42BB9332D}"/>
              </a:ext>
            </a:extLst>
          </p:cNvPr>
          <p:cNvCxnSpPr>
            <a:cxnSpLocks/>
            <a:stCxn id="103" idx="0"/>
          </p:cNvCxnSpPr>
          <p:nvPr/>
        </p:nvCxnSpPr>
        <p:spPr bwMode="gray">
          <a:xfrm flipV="1">
            <a:off x="2339079" y="2599916"/>
            <a:ext cx="3470428" cy="388"/>
          </a:xfrm>
          <a:prstGeom prst="line">
            <a:avLst/>
          </a:prstGeom>
          <a:ln w="57150" cap="rnd"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115">
            <a:extLst>
              <a:ext uri="{FF2B5EF4-FFF2-40B4-BE49-F238E27FC236}">
                <a16:creationId xmlns="" xmlns:a16="http://schemas.microsoft.com/office/drawing/2014/main" id="{BC5401A6-1385-4E65-973F-51FC7E6C4612}"/>
              </a:ext>
            </a:extLst>
          </p:cNvPr>
          <p:cNvSpPr>
            <a:spLocks/>
          </p:cNvSpPr>
          <p:nvPr/>
        </p:nvSpPr>
        <p:spPr bwMode="gray">
          <a:xfrm>
            <a:off x="3464058" y="2505021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74" name="Oval 115">
            <a:extLst>
              <a:ext uri="{FF2B5EF4-FFF2-40B4-BE49-F238E27FC236}">
                <a16:creationId xmlns="" xmlns:a16="http://schemas.microsoft.com/office/drawing/2014/main" id="{BC5401A6-1385-4E65-973F-51FC7E6C4612}"/>
              </a:ext>
            </a:extLst>
          </p:cNvPr>
          <p:cNvSpPr>
            <a:spLocks/>
          </p:cNvSpPr>
          <p:nvPr/>
        </p:nvSpPr>
        <p:spPr bwMode="gray">
          <a:xfrm>
            <a:off x="4336519" y="2515284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75" name="Oval 115">
            <a:extLst>
              <a:ext uri="{FF2B5EF4-FFF2-40B4-BE49-F238E27FC236}">
                <a16:creationId xmlns="" xmlns:a16="http://schemas.microsoft.com/office/drawing/2014/main" id="{BC5401A6-1385-4E65-973F-51FC7E6C4612}"/>
              </a:ext>
            </a:extLst>
          </p:cNvPr>
          <p:cNvSpPr>
            <a:spLocks/>
          </p:cNvSpPr>
          <p:nvPr/>
        </p:nvSpPr>
        <p:spPr bwMode="gray">
          <a:xfrm>
            <a:off x="5272383" y="2508537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76" name="Arc 122">
            <a:extLst>
              <a:ext uri="{FF2B5EF4-FFF2-40B4-BE49-F238E27FC236}">
                <a16:creationId xmlns="" xmlns:a16="http://schemas.microsoft.com/office/drawing/2014/main" id="{96CEB781-72F7-413B-840C-70D1FA8FA414}"/>
              </a:ext>
            </a:extLst>
          </p:cNvPr>
          <p:cNvSpPr>
            <a:spLocks/>
          </p:cNvSpPr>
          <p:nvPr/>
        </p:nvSpPr>
        <p:spPr bwMode="gray">
          <a:xfrm>
            <a:off x="4482821" y="1219208"/>
            <a:ext cx="685537" cy="689949"/>
          </a:xfrm>
          <a:prstGeom prst="arc">
            <a:avLst>
              <a:gd name="adj1" fmla="val 16082159"/>
              <a:gd name="adj2" fmla="val 5483426"/>
            </a:avLst>
          </a:prstGeom>
          <a:ln w="57150" cap="rnd"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429" dirty="0">
              <a:solidFill>
                <a:srgbClr val="000000"/>
              </a:solidFill>
              <a:latin typeface="BundesSans Regular"/>
              <a:ea typeface="ＭＳ Ｐゴシック"/>
            </a:endParaRPr>
          </a:p>
        </p:txBody>
      </p:sp>
      <p:cxnSp>
        <p:nvCxnSpPr>
          <p:cNvPr id="78" name="Straight Connector 116">
            <a:extLst>
              <a:ext uri="{FF2B5EF4-FFF2-40B4-BE49-F238E27FC236}">
                <a16:creationId xmlns="" xmlns:a16="http://schemas.microsoft.com/office/drawing/2014/main" id="{A73C593D-1DDD-40E9-AC07-819EB9879327}"/>
              </a:ext>
            </a:extLst>
          </p:cNvPr>
          <p:cNvCxnSpPr>
            <a:cxnSpLocks/>
          </p:cNvCxnSpPr>
          <p:nvPr/>
        </p:nvCxnSpPr>
        <p:spPr bwMode="gray">
          <a:xfrm>
            <a:off x="3991736" y="3287521"/>
            <a:ext cx="1817769" cy="0"/>
          </a:xfrm>
          <a:prstGeom prst="line">
            <a:avLst/>
          </a:prstGeom>
          <a:ln w="57150" cap="rnd"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56">
            <a:extLst>
              <a:ext uri="{FF2B5EF4-FFF2-40B4-BE49-F238E27FC236}">
                <a16:creationId xmlns="" xmlns:a16="http://schemas.microsoft.com/office/drawing/2014/main" id="{9F071C12-1D5A-4147-9CDF-92A815376796}"/>
              </a:ext>
            </a:extLst>
          </p:cNvPr>
          <p:cNvSpPr>
            <a:spLocks/>
          </p:cNvSpPr>
          <p:nvPr/>
        </p:nvSpPr>
        <p:spPr bwMode="gray">
          <a:xfrm>
            <a:off x="5272383" y="3200507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rIns="0" rtlCol="0" anchor="ctr"/>
          <a:lstStyle/>
          <a:p>
            <a:pPr algn="ctr" defTabSz="435357"/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80" name="Oval 56">
            <a:extLst>
              <a:ext uri="{FF2B5EF4-FFF2-40B4-BE49-F238E27FC236}">
                <a16:creationId xmlns="" xmlns:a16="http://schemas.microsoft.com/office/drawing/2014/main" id="{9F071C12-1D5A-4147-9CDF-92A815376796}"/>
              </a:ext>
            </a:extLst>
          </p:cNvPr>
          <p:cNvSpPr>
            <a:spLocks/>
          </p:cNvSpPr>
          <p:nvPr/>
        </p:nvSpPr>
        <p:spPr bwMode="gray">
          <a:xfrm>
            <a:off x="4336519" y="3205735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rIns="0" rtlCol="0" anchor="ctr"/>
          <a:lstStyle/>
          <a:p>
            <a:pPr algn="ctr" defTabSz="435357"/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83" name="Oval 56">
            <a:extLst>
              <a:ext uri="{FF2B5EF4-FFF2-40B4-BE49-F238E27FC236}">
                <a16:creationId xmlns="" xmlns:a16="http://schemas.microsoft.com/office/drawing/2014/main" id="{9F071C12-1D5A-4147-9CDF-92A815376796}"/>
              </a:ext>
            </a:extLst>
          </p:cNvPr>
          <p:cNvSpPr>
            <a:spLocks/>
          </p:cNvSpPr>
          <p:nvPr/>
        </p:nvSpPr>
        <p:spPr bwMode="gray">
          <a:xfrm>
            <a:off x="4336519" y="3889074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rIns="0" rtlCol="0" anchor="ctr"/>
          <a:lstStyle/>
          <a:p>
            <a:pPr algn="ctr" defTabSz="435357"/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84" name="Oval 56">
            <a:extLst>
              <a:ext uri="{FF2B5EF4-FFF2-40B4-BE49-F238E27FC236}">
                <a16:creationId xmlns="" xmlns:a16="http://schemas.microsoft.com/office/drawing/2014/main" id="{9F071C12-1D5A-4147-9CDF-92A815376796}"/>
              </a:ext>
            </a:extLst>
          </p:cNvPr>
          <p:cNvSpPr>
            <a:spLocks/>
          </p:cNvSpPr>
          <p:nvPr/>
        </p:nvSpPr>
        <p:spPr bwMode="gray">
          <a:xfrm>
            <a:off x="5246203" y="3894234"/>
            <a:ext cx="171447" cy="171447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rIns="0" rtlCol="0" anchor="ctr"/>
          <a:lstStyle/>
          <a:p>
            <a:pPr algn="ctr" defTabSz="435357"/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85" name="Oval 56">
            <a:extLst>
              <a:ext uri="{FF2B5EF4-FFF2-40B4-BE49-F238E27FC236}">
                <a16:creationId xmlns="" xmlns:a16="http://schemas.microsoft.com/office/drawing/2014/main" id="{9F071C12-1D5A-4147-9CDF-92A815376796}"/>
              </a:ext>
            </a:extLst>
          </p:cNvPr>
          <p:cNvSpPr>
            <a:spLocks/>
          </p:cNvSpPr>
          <p:nvPr/>
        </p:nvSpPr>
        <p:spPr bwMode="gray">
          <a:xfrm>
            <a:off x="6127425" y="3821842"/>
            <a:ext cx="297176" cy="297176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rIns="0" rtlCol="0" anchor="ctr"/>
          <a:lstStyle/>
          <a:p>
            <a:pPr algn="ctr" defTabSz="435357"/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90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54465" y="888967"/>
            <a:ext cx="1032652" cy="21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1. Suchen und informieren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Online-Suche nach geeigneten Studiengängen</a:t>
            </a:r>
          </a:p>
        </p:txBody>
      </p:sp>
      <p:sp>
        <p:nvSpPr>
          <p:cNvPr id="95" name="TextBox 54">
            <a:extLst>
              <a:ext uri="{FF2B5EF4-FFF2-40B4-BE49-F238E27FC236}">
                <a16:creationId xmlns:a16="http://schemas.microsoft.com/office/drawing/2014/main" xmlns="" id="{BDF6D960-96F5-4FE4-A49B-93DE18D4FCF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287235" y="1451146"/>
            <a:ext cx="936795" cy="293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3. Zulassungsvoraussetzungen prüfen lassen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Eignung und/oder Kompetenznachweise vorab prüfen lassen</a:t>
            </a:r>
          </a:p>
        </p:txBody>
      </p:sp>
      <p:sp>
        <p:nvSpPr>
          <p:cNvPr id="97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116329" y="888967"/>
            <a:ext cx="1021610" cy="21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2. Studium vorbereiten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Auswahl eines konkreten Studiengangs und Vorbereitung der Unterlagen</a:t>
            </a:r>
          </a:p>
        </p:txBody>
      </p:sp>
      <p:sp>
        <p:nvSpPr>
          <p:cNvPr id="99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256359" y="2058246"/>
            <a:ext cx="1059356" cy="21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4. Für Studiengang bewerben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Bewerbung für einen konkreten Studiengang bei Hochschule / </a:t>
            </a:r>
            <a:r>
              <a:rPr lang="de-DE" sz="445" dirty="0" err="1">
                <a:solidFill>
                  <a:prstClr val="black"/>
                </a:solidFill>
              </a:rPr>
              <a:t>SfH</a:t>
            </a:r>
            <a:endParaRPr lang="de-DE" sz="445" dirty="0">
              <a:solidFill>
                <a:prstClr val="black"/>
              </a:solidFill>
            </a:endParaRPr>
          </a:p>
        </p:txBody>
      </p:sp>
      <p:sp>
        <p:nvSpPr>
          <p:cNvPr id="100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10140" y="2058246"/>
            <a:ext cx="884974" cy="361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5. Kompetenzen anerkennen lassen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Anerkennung von (ausländischen) Kompetenznachweisen durch die Hochschule</a:t>
            </a:r>
          </a:p>
        </p:txBody>
      </p:sp>
      <p:sp>
        <p:nvSpPr>
          <p:cNvPr id="101" name="TextBox 54">
            <a:extLst>
              <a:ext uri="{FF2B5EF4-FFF2-40B4-BE49-F238E27FC236}">
                <a16:creationId xmlns:a16="http://schemas.microsoft.com/office/drawing/2014/main" xmlns="" id="{BDF6D960-96F5-4FE4-A49B-93DE18D4FCF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334735" y="2058246"/>
            <a:ext cx="894037" cy="21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6. An Hochschule einschreiben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Immatrikulation in einen konkreten Studiengang</a:t>
            </a:r>
          </a:p>
        </p:txBody>
      </p:sp>
      <p:sp>
        <p:nvSpPr>
          <p:cNvPr id="102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274572" y="2735313"/>
            <a:ext cx="870131" cy="21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9. Auslandsstudium vorbereiten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Vorbereitung und Bewerbung für ein Auslandssemester</a:t>
            </a:r>
          </a:p>
        </p:txBody>
      </p:sp>
      <p:sp>
        <p:nvSpPr>
          <p:cNvPr id="103" name="Arc 122">
            <a:extLst>
              <a:ext uri="{FF2B5EF4-FFF2-40B4-BE49-F238E27FC236}">
                <a16:creationId xmlns="" xmlns:a16="http://schemas.microsoft.com/office/drawing/2014/main" id="{96CEB781-72F7-413B-840C-70D1FA8FA414}"/>
              </a:ext>
            </a:extLst>
          </p:cNvPr>
          <p:cNvSpPr>
            <a:spLocks/>
          </p:cNvSpPr>
          <p:nvPr/>
        </p:nvSpPr>
        <p:spPr bwMode="gray">
          <a:xfrm rot="10800000">
            <a:off x="1984488" y="1910560"/>
            <a:ext cx="685537" cy="689949"/>
          </a:xfrm>
          <a:prstGeom prst="arc">
            <a:avLst>
              <a:gd name="adj1" fmla="val 16082159"/>
              <a:gd name="adj2" fmla="val 5483426"/>
            </a:avLst>
          </a:prstGeom>
          <a:ln w="57150" cap="rnd"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429" dirty="0">
              <a:solidFill>
                <a:srgbClr val="000000"/>
              </a:solidFill>
              <a:latin typeface="BundesSans Regular"/>
              <a:ea typeface="ＭＳ Ｐゴシック"/>
            </a:endParaRPr>
          </a:p>
        </p:txBody>
      </p:sp>
      <p:sp>
        <p:nvSpPr>
          <p:cNvPr id="104" name="Oval 115">
            <a:extLst>
              <a:ext uri="{FF2B5EF4-FFF2-40B4-BE49-F238E27FC236}">
                <a16:creationId xmlns="" xmlns:a16="http://schemas.microsoft.com/office/drawing/2014/main" id="{BC5401A6-1385-4E65-973F-51FC7E6C4612}"/>
              </a:ext>
            </a:extLst>
          </p:cNvPr>
          <p:cNvSpPr>
            <a:spLocks/>
          </p:cNvSpPr>
          <p:nvPr/>
        </p:nvSpPr>
        <p:spPr bwMode="gray">
          <a:xfrm>
            <a:off x="1916232" y="2186362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105" name="Arc 122">
            <a:extLst>
              <a:ext uri="{FF2B5EF4-FFF2-40B4-BE49-F238E27FC236}">
                <a16:creationId xmlns="" xmlns:a16="http://schemas.microsoft.com/office/drawing/2014/main" id="{96CEB781-72F7-413B-840C-70D1FA8FA414}"/>
              </a:ext>
            </a:extLst>
          </p:cNvPr>
          <p:cNvSpPr>
            <a:spLocks/>
          </p:cNvSpPr>
          <p:nvPr/>
        </p:nvSpPr>
        <p:spPr bwMode="gray">
          <a:xfrm>
            <a:off x="5483966" y="2600324"/>
            <a:ext cx="685537" cy="687130"/>
          </a:xfrm>
          <a:prstGeom prst="arc">
            <a:avLst>
              <a:gd name="adj1" fmla="val 16082159"/>
              <a:gd name="adj2" fmla="val 5483426"/>
            </a:avLst>
          </a:prstGeom>
          <a:ln w="57150" cap="rnd"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429" dirty="0">
              <a:solidFill>
                <a:srgbClr val="000000"/>
              </a:solidFill>
              <a:latin typeface="BundesSans Regular"/>
              <a:ea typeface="ＭＳ Ｐゴシック"/>
            </a:endParaRPr>
          </a:p>
        </p:txBody>
      </p:sp>
      <p:sp>
        <p:nvSpPr>
          <p:cNvPr id="107" name="Oval 59">
            <a:extLst>
              <a:ext uri="{FF2B5EF4-FFF2-40B4-BE49-F238E27FC236}">
                <a16:creationId xmlns="" xmlns:a16="http://schemas.microsoft.com/office/drawing/2014/main" id="{B8624F2F-FA4A-4145-9963-8FDD242146F8}"/>
              </a:ext>
            </a:extLst>
          </p:cNvPr>
          <p:cNvSpPr>
            <a:spLocks/>
          </p:cNvSpPr>
          <p:nvPr/>
        </p:nvSpPr>
        <p:spPr bwMode="gray">
          <a:xfrm>
            <a:off x="5069001" y="1474760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rIns="0" rtlCol="0" anchor="ctr"/>
          <a:lstStyle/>
          <a:p>
            <a:pPr algn="ctr" defTabSz="435357"/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108" name="Oval 56">
            <a:extLst>
              <a:ext uri="{FF2B5EF4-FFF2-40B4-BE49-F238E27FC236}">
                <a16:creationId xmlns="" xmlns:a16="http://schemas.microsoft.com/office/drawing/2014/main" id="{9F071C12-1D5A-4147-9CDF-92A815376796}"/>
              </a:ext>
            </a:extLst>
          </p:cNvPr>
          <p:cNvSpPr>
            <a:spLocks/>
          </p:cNvSpPr>
          <p:nvPr/>
        </p:nvSpPr>
        <p:spPr bwMode="gray">
          <a:xfrm>
            <a:off x="6054547" y="2833232"/>
            <a:ext cx="205730" cy="205730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rIns="0" rtlCol="0" anchor="ctr"/>
          <a:lstStyle/>
          <a:p>
            <a:pPr algn="ctr" defTabSz="435357"/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109" name="Arc 122">
            <a:extLst>
              <a:ext uri="{FF2B5EF4-FFF2-40B4-BE49-F238E27FC236}">
                <a16:creationId xmlns="" xmlns:a16="http://schemas.microsoft.com/office/drawing/2014/main" id="{96CEB781-72F7-413B-840C-70D1FA8FA414}"/>
              </a:ext>
            </a:extLst>
          </p:cNvPr>
          <p:cNvSpPr>
            <a:spLocks/>
          </p:cNvSpPr>
          <p:nvPr/>
        </p:nvSpPr>
        <p:spPr bwMode="gray">
          <a:xfrm rot="10800000">
            <a:off x="3629007" y="3287454"/>
            <a:ext cx="685537" cy="689949"/>
          </a:xfrm>
          <a:prstGeom prst="arc">
            <a:avLst>
              <a:gd name="adj1" fmla="val 16082159"/>
              <a:gd name="adj2" fmla="val 5483426"/>
            </a:avLst>
          </a:prstGeom>
          <a:ln w="57150" cap="rnd"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429" dirty="0">
              <a:solidFill>
                <a:srgbClr val="000000"/>
              </a:solidFill>
              <a:latin typeface="BundesSans Regular"/>
              <a:ea typeface="ＭＳ Ｐゴシック"/>
            </a:endParaRPr>
          </a:p>
        </p:txBody>
      </p:sp>
      <p:sp>
        <p:nvSpPr>
          <p:cNvPr id="110" name="Oval 56">
            <a:extLst>
              <a:ext uri="{FF2B5EF4-FFF2-40B4-BE49-F238E27FC236}">
                <a16:creationId xmlns="" xmlns:a16="http://schemas.microsoft.com/office/drawing/2014/main" id="{9F071C12-1D5A-4147-9CDF-92A815376796}"/>
              </a:ext>
            </a:extLst>
          </p:cNvPr>
          <p:cNvSpPr>
            <a:spLocks/>
          </p:cNvSpPr>
          <p:nvPr/>
        </p:nvSpPr>
        <p:spPr bwMode="gray">
          <a:xfrm>
            <a:off x="3557479" y="3558374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rIns="0" rtlCol="0" anchor="ctr"/>
          <a:lstStyle/>
          <a:p>
            <a:pPr algn="ctr" defTabSz="435357"/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112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410954" y="2735313"/>
            <a:ext cx="859878" cy="21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8. Im Bachelor studieren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Absolvieren eines grundständigen Studiums</a:t>
            </a:r>
          </a:p>
        </p:txBody>
      </p:sp>
      <p:sp>
        <p:nvSpPr>
          <p:cNvPr id="113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219839" y="2740777"/>
            <a:ext cx="894066" cy="21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10. Auslandsstudium antreten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Immatrikulation an einer ausländischen Hochschule</a:t>
            </a:r>
          </a:p>
        </p:txBody>
      </p:sp>
      <p:sp>
        <p:nvSpPr>
          <p:cNvPr id="114" name="TextBox 54">
            <a:extLst>
              <a:ext uri="{FF2B5EF4-FFF2-40B4-BE49-F238E27FC236}">
                <a16:creationId xmlns:a16="http://schemas.microsoft.com/office/drawing/2014/main" xmlns="" id="{BDF6D960-96F5-4FE4-A49B-93DE18D4FCF6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113905" y="2735313"/>
            <a:ext cx="894037" cy="21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11. Im Ausland studieren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Absolvieren eines Studiensemesters im Ausland</a:t>
            </a:r>
          </a:p>
        </p:txBody>
      </p:sp>
      <p:sp>
        <p:nvSpPr>
          <p:cNvPr id="115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306882" y="2846874"/>
            <a:ext cx="895278" cy="21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12. Auslandsstudium beenden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Abschluss des Auslandssemesters und Anerkennung absolvierter Leistungen</a:t>
            </a:r>
          </a:p>
        </p:txBody>
      </p:sp>
      <p:sp>
        <p:nvSpPr>
          <p:cNvPr id="116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200283" y="3463931"/>
            <a:ext cx="858914" cy="146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14. Studiengang wechseln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Übergang vom Bachelor zum Master</a:t>
            </a:r>
          </a:p>
        </p:txBody>
      </p:sp>
      <p:sp>
        <p:nvSpPr>
          <p:cNvPr id="117" name="TextBox 54">
            <a:extLst>
              <a:ext uri="{FF2B5EF4-FFF2-40B4-BE49-F238E27FC236}">
                <a16:creationId xmlns:a16="http://schemas.microsoft.com/office/drawing/2014/main" xmlns="" id="{BDF6D960-96F5-4FE4-A49B-93DE18D4FCF6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2768097" y="3573247"/>
            <a:ext cx="762001" cy="21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15. Im Master studieren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Absolvieren eines konsekutiven bzw. weiterführenden Studiums</a:t>
            </a:r>
          </a:p>
        </p:txBody>
      </p:sp>
      <p:sp>
        <p:nvSpPr>
          <p:cNvPr id="118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4129392" y="4119018"/>
            <a:ext cx="876892" cy="293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16. Hochschulabschlusszeugnis erhalten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Zum erfolgreichen Abschluss des Studiums wird ein Zeugnis ausgestellt</a:t>
            </a:r>
          </a:p>
        </p:txBody>
      </p:sp>
      <p:sp>
        <p:nvSpPr>
          <p:cNvPr id="119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6028095" y="4119018"/>
            <a:ext cx="910538" cy="21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18. Bewerbung vorbereiten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Erstellen eines Online-Profils und Vorbereitung der Unterlagen</a:t>
            </a:r>
          </a:p>
        </p:txBody>
      </p:sp>
      <p:sp>
        <p:nvSpPr>
          <p:cNvPr id="120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6986565" y="4119018"/>
            <a:ext cx="1004080" cy="146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19. Für Job bewerben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Online-Bewerbung bei einem Arbeitgeber</a:t>
            </a:r>
          </a:p>
        </p:txBody>
      </p:sp>
      <p:sp>
        <p:nvSpPr>
          <p:cNvPr id="157" name="Oval 148">
            <a:extLst>
              <a:ext uri="{FF2B5EF4-FFF2-40B4-BE49-F238E27FC236}">
                <a16:creationId xmlns:a16="http://schemas.microsoft.com/office/drawing/2014/main" xmlns="" id="{9BCEB48B-0957-4DF2-A4ED-25C2392DC57F}"/>
              </a:ext>
            </a:extLst>
          </p:cNvPr>
          <p:cNvSpPr>
            <a:spLocks/>
          </p:cNvSpPr>
          <p:nvPr/>
        </p:nvSpPr>
        <p:spPr bwMode="gray">
          <a:xfrm>
            <a:off x="3150641" y="1136911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pic>
        <p:nvPicPr>
          <p:cNvPr id="159" name="Grafik 158"/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92683" y="1491904"/>
            <a:ext cx="137153" cy="137153"/>
          </a:xfrm>
          <a:prstGeom prst="rect">
            <a:avLst/>
          </a:prstGeom>
        </p:spPr>
      </p:pic>
      <p:pic>
        <p:nvPicPr>
          <p:cNvPr id="160" name="Grafik 159"/>
          <p:cNvPicPr>
            <a:picLocks noChangeAspect="1"/>
          </p:cNvPicPr>
          <p:nvPr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8388" y="1840581"/>
            <a:ext cx="141066" cy="137153"/>
          </a:xfrm>
          <a:prstGeom prst="rect">
            <a:avLst/>
          </a:prstGeom>
        </p:spPr>
      </p:pic>
      <p:pic>
        <p:nvPicPr>
          <p:cNvPr id="161" name="Grafik 160"/>
          <p:cNvPicPr>
            <a:picLocks noChangeAspect="1"/>
          </p:cNvPicPr>
          <p:nvPr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9946" y="1098859"/>
            <a:ext cx="222873" cy="222873"/>
          </a:xfrm>
          <a:prstGeom prst="rect">
            <a:avLst/>
          </a:prstGeom>
        </p:spPr>
      </p:pic>
      <p:pic>
        <p:nvPicPr>
          <p:cNvPr id="163" name="Grafik 162"/>
          <p:cNvPicPr>
            <a:picLocks noChangeAspect="1"/>
          </p:cNvPicPr>
          <p:nvPr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2530" y="1798267"/>
            <a:ext cx="222873" cy="222873"/>
          </a:xfrm>
          <a:prstGeom prst="rect">
            <a:avLst/>
          </a:prstGeom>
        </p:spPr>
      </p:pic>
      <p:pic>
        <p:nvPicPr>
          <p:cNvPr id="165" name="Grafik 164"/>
          <p:cNvPicPr>
            <a:picLocks noChangeAspect="1"/>
          </p:cNvPicPr>
          <p:nvPr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20951" y="2442910"/>
            <a:ext cx="274306" cy="274306"/>
          </a:xfrm>
          <a:prstGeom prst="rect">
            <a:avLst/>
          </a:prstGeom>
        </p:spPr>
      </p:pic>
      <p:grpSp>
        <p:nvGrpSpPr>
          <p:cNvPr id="166" name="Gruppieren 165"/>
          <p:cNvGrpSpPr/>
          <p:nvPr/>
        </p:nvGrpSpPr>
        <p:grpSpPr>
          <a:xfrm>
            <a:off x="4336519" y="2490986"/>
            <a:ext cx="171441" cy="171441"/>
            <a:chOff x="3836692" y="13620384"/>
            <a:chExt cx="731388" cy="720000"/>
          </a:xfrm>
        </p:grpSpPr>
        <p:pic>
          <p:nvPicPr>
            <p:cNvPr id="167" name="Grafik 166"/>
            <p:cNvPicPr>
              <a:picLocks noChangeAspect="1"/>
            </p:cNvPicPr>
            <p:nvPr/>
          </p:nvPicPr>
          <p:blipFill>
            <a:blip r:embed="rId2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36692" y="13620384"/>
              <a:ext cx="720000" cy="720000"/>
            </a:xfrm>
            <a:prstGeom prst="rect">
              <a:avLst/>
            </a:prstGeom>
          </p:spPr>
        </p:pic>
        <p:cxnSp>
          <p:nvCxnSpPr>
            <p:cNvPr id="168" name="Gerade Verbindung mit Pfeil 167"/>
            <p:cNvCxnSpPr/>
            <p:nvPr/>
          </p:nvCxnSpPr>
          <p:spPr>
            <a:xfrm flipV="1">
              <a:off x="3848080" y="14273596"/>
              <a:ext cx="72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0" name="Grafik 169"/>
          <p:cNvPicPr>
            <a:picLocks noChangeAspect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7695" y="2527169"/>
            <a:ext cx="137153" cy="137153"/>
          </a:xfrm>
          <a:prstGeom prst="rect">
            <a:avLst/>
          </a:prstGeom>
        </p:spPr>
      </p:pic>
      <p:grpSp>
        <p:nvGrpSpPr>
          <p:cNvPr id="12" name="Gruppieren 11"/>
          <p:cNvGrpSpPr/>
          <p:nvPr/>
        </p:nvGrpSpPr>
        <p:grpSpPr>
          <a:xfrm>
            <a:off x="6060545" y="2850547"/>
            <a:ext cx="171441" cy="171441"/>
            <a:chOff x="3848080" y="16732807"/>
            <a:chExt cx="720488" cy="720000"/>
          </a:xfrm>
        </p:grpSpPr>
        <p:cxnSp>
          <p:nvCxnSpPr>
            <p:cNvPr id="171" name="Gerade Verbindung mit Pfeil 170"/>
            <p:cNvCxnSpPr/>
            <p:nvPr/>
          </p:nvCxnSpPr>
          <p:spPr>
            <a:xfrm flipH="1" flipV="1">
              <a:off x="3848080" y="17360949"/>
              <a:ext cx="72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2" name="Grafik 171"/>
            <p:cNvPicPr>
              <a:picLocks noChangeAspect="1"/>
            </p:cNvPicPr>
            <p:nvPr/>
          </p:nvPicPr>
          <p:blipFill>
            <a:blip r:embed="rId2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48568" y="16732807"/>
              <a:ext cx="720000" cy="720000"/>
            </a:xfrm>
            <a:prstGeom prst="rect">
              <a:avLst/>
            </a:prstGeom>
          </p:spPr>
        </p:pic>
      </p:grpSp>
      <p:pic>
        <p:nvPicPr>
          <p:cNvPr id="174" name="Grafik 173"/>
          <p:cNvPicPr>
            <a:picLocks noChangeAspect="1"/>
          </p:cNvPicPr>
          <p:nvPr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26612" y="3883111"/>
            <a:ext cx="188585" cy="188585"/>
          </a:xfrm>
          <a:prstGeom prst="rect">
            <a:avLst/>
          </a:prstGeom>
        </p:spPr>
      </p:pic>
      <p:pic>
        <p:nvPicPr>
          <p:cNvPr id="176" name="Grafik 175"/>
          <p:cNvPicPr>
            <a:picLocks noChangeAspect="1"/>
          </p:cNvPicPr>
          <p:nvPr/>
        </p:nvPicPr>
        <p:blipFill>
          <a:blip r:embed="rId2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4236" y="3195227"/>
            <a:ext cx="188585" cy="188585"/>
          </a:xfrm>
          <a:prstGeom prst="rect">
            <a:avLst/>
          </a:prstGeom>
        </p:spPr>
      </p:pic>
      <p:pic>
        <p:nvPicPr>
          <p:cNvPr id="164" name="Grafik 163"/>
          <p:cNvPicPr>
            <a:picLocks noChangeAspect="1"/>
          </p:cNvPicPr>
          <p:nvPr/>
        </p:nvPicPr>
        <p:blipFill>
          <a:blip r:embed="rId3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2591" y="1130642"/>
            <a:ext cx="171441" cy="171441"/>
          </a:xfrm>
          <a:prstGeom prst="rect">
            <a:avLst/>
          </a:prstGeom>
        </p:spPr>
      </p:pic>
      <p:pic>
        <p:nvPicPr>
          <p:cNvPr id="178" name="Grafik 177"/>
          <p:cNvPicPr>
            <a:picLocks noChangeAspect="1"/>
          </p:cNvPicPr>
          <p:nvPr/>
        </p:nvPicPr>
        <p:blipFill>
          <a:blip r:embed="rId3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49464" y="3558377"/>
            <a:ext cx="188585" cy="188585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/>
        </p:nvPicPr>
        <p:blipFill>
          <a:blip r:embed="rId3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09440" y="3869992"/>
            <a:ext cx="333145" cy="199887"/>
          </a:xfrm>
          <a:prstGeom prst="rect">
            <a:avLst/>
          </a:prstGeom>
        </p:spPr>
      </p:pic>
      <p:sp>
        <p:nvSpPr>
          <p:cNvPr id="65" name="Oval 115">
            <a:extLst>
              <a:ext uri="{FF2B5EF4-FFF2-40B4-BE49-F238E27FC236}">
                <a16:creationId xmlns="" xmlns:a16="http://schemas.microsoft.com/office/drawing/2014/main" id="{BC5401A6-1385-4E65-973F-51FC7E6C4612}"/>
              </a:ext>
            </a:extLst>
          </p:cNvPr>
          <p:cNvSpPr>
            <a:spLocks/>
          </p:cNvSpPr>
          <p:nvPr/>
        </p:nvSpPr>
        <p:spPr bwMode="gray">
          <a:xfrm>
            <a:off x="2642907" y="1840581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72" name="Oval 115">
            <a:extLst>
              <a:ext uri="{FF2B5EF4-FFF2-40B4-BE49-F238E27FC236}">
                <a16:creationId xmlns="" xmlns:a16="http://schemas.microsoft.com/office/drawing/2014/main" id="{BC5401A6-1385-4E65-973F-51FC7E6C4612}"/>
              </a:ext>
            </a:extLst>
          </p:cNvPr>
          <p:cNvSpPr>
            <a:spLocks/>
          </p:cNvSpPr>
          <p:nvPr/>
        </p:nvSpPr>
        <p:spPr bwMode="gray">
          <a:xfrm>
            <a:off x="2645710" y="2512316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pic>
        <p:nvPicPr>
          <p:cNvPr id="162" name="Grafik 161"/>
          <p:cNvPicPr>
            <a:picLocks noChangeAspect="1"/>
          </p:cNvPicPr>
          <p:nvPr/>
        </p:nvPicPr>
        <p:blipFill>
          <a:blip r:embed="rId3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6822" y="1799432"/>
            <a:ext cx="188585" cy="188585"/>
          </a:xfrm>
          <a:prstGeom prst="rect">
            <a:avLst/>
          </a:prstGeom>
        </p:spPr>
      </p:pic>
      <p:pic>
        <p:nvPicPr>
          <p:cNvPr id="173" name="Grafik 172"/>
          <p:cNvPicPr>
            <a:picLocks noChangeAspect="1"/>
          </p:cNvPicPr>
          <p:nvPr/>
        </p:nvPicPr>
        <p:blipFill>
          <a:blip r:embed="rId3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42187" y="2509964"/>
            <a:ext cx="188585" cy="188585"/>
          </a:xfrm>
          <a:prstGeom prst="rect">
            <a:avLst/>
          </a:prstGeom>
        </p:spPr>
      </p:pic>
      <p:pic>
        <p:nvPicPr>
          <p:cNvPr id="77" name="Grafik 76"/>
          <p:cNvPicPr>
            <a:picLocks noChangeAspect="1"/>
          </p:cNvPicPr>
          <p:nvPr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77664" y="3193162"/>
            <a:ext cx="188585" cy="188585"/>
          </a:xfrm>
          <a:prstGeom prst="rect">
            <a:avLst/>
          </a:prstGeom>
        </p:spPr>
      </p:pic>
      <p:sp>
        <p:nvSpPr>
          <p:cNvPr id="81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5165397" y="3463931"/>
            <a:ext cx="889150" cy="293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13. Hochschulabschlusszeugnis erhalten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Zum erfolgreichen Abschluss des Studiums wird ein Zeugnis ausgestellt</a:t>
            </a:r>
          </a:p>
        </p:txBody>
      </p:sp>
      <p:sp>
        <p:nvSpPr>
          <p:cNvPr id="86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996204" y="2157689"/>
            <a:ext cx="924226" cy="21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7. Studienfinanzierung beantragen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Zur Studienfinanzierung existieren verschiedene Förderungsmöglichkeiten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71647" y="2140093"/>
            <a:ext cx="258314" cy="258314"/>
          </a:xfrm>
          <a:prstGeom prst="rect">
            <a:avLst/>
          </a:prstGeom>
        </p:spPr>
      </p:pic>
      <p:sp>
        <p:nvSpPr>
          <p:cNvPr id="82" name="Oval 56">
            <a:extLst>
              <a:ext uri="{FF2B5EF4-FFF2-40B4-BE49-F238E27FC236}">
                <a16:creationId xmlns="" xmlns:a16="http://schemas.microsoft.com/office/drawing/2014/main" id="{9F071C12-1D5A-4147-9CDF-92A815376796}"/>
              </a:ext>
            </a:extLst>
          </p:cNvPr>
          <p:cNvSpPr>
            <a:spLocks/>
          </p:cNvSpPr>
          <p:nvPr/>
        </p:nvSpPr>
        <p:spPr bwMode="gray">
          <a:xfrm>
            <a:off x="7064307" y="3894698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rIns="0" rtlCol="0" anchor="ctr"/>
          <a:lstStyle/>
          <a:p>
            <a:pPr algn="ctr" defTabSz="435357"/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pic>
        <p:nvPicPr>
          <p:cNvPr id="179" name="Grafik 178"/>
          <p:cNvPicPr>
            <a:picLocks noChangeAspect="1"/>
          </p:cNvPicPr>
          <p:nvPr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90000" y="3898732"/>
            <a:ext cx="141066" cy="137153"/>
          </a:xfrm>
          <a:prstGeom prst="rect">
            <a:avLst/>
          </a:prstGeom>
        </p:spPr>
      </p:pic>
      <p:sp>
        <p:nvSpPr>
          <p:cNvPr id="87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5088343" y="4122649"/>
            <a:ext cx="910538" cy="146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17. Suchen und informieren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Online-Suche nach geeigneten Jobs</a:t>
            </a:r>
          </a:p>
        </p:txBody>
      </p:sp>
      <p:pic>
        <p:nvPicPr>
          <p:cNvPr id="89" name="Grafik 88"/>
          <p:cNvPicPr>
            <a:picLocks noChangeAspect="1"/>
          </p:cNvPicPr>
          <p:nvPr/>
        </p:nvPicPr>
        <p:blipFill>
          <a:blip r:embed="rId3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6536" y="3889751"/>
            <a:ext cx="171441" cy="17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610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Bildergebnis für sachsen anhalt logo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11994" y="2167012"/>
            <a:ext cx="1608291" cy="759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Bildergebnis für BMBF logo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23339" y="2198830"/>
            <a:ext cx="1424745" cy="728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548" y="1783418"/>
            <a:ext cx="5583279" cy="1466143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6522" y="405014"/>
            <a:ext cx="1939813" cy="50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92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 35"/>
          <p:cNvSpPr/>
          <p:nvPr/>
        </p:nvSpPr>
        <p:spPr>
          <a:xfrm>
            <a:off x="68944" y="3273175"/>
            <a:ext cx="8958942" cy="3357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28" name="Rechteck 27"/>
          <p:cNvSpPr/>
          <p:nvPr/>
        </p:nvSpPr>
        <p:spPr>
          <a:xfrm>
            <a:off x="68944" y="2836254"/>
            <a:ext cx="8958942" cy="40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336616" y="158328"/>
            <a:ext cx="8568151" cy="994172"/>
          </a:xfrm>
        </p:spPr>
        <p:txBody>
          <a:bodyPr/>
          <a:lstStyle/>
          <a:p>
            <a:r>
              <a:rPr lang="de-DE" sz="2000" dirty="0"/>
              <a:t>Interoperabilitätsstandard </a:t>
            </a:r>
            <a:r>
              <a:rPr lang="de-DE" sz="2000" dirty="0" smtClean="0"/>
              <a:t>im </a:t>
            </a:r>
            <a:r>
              <a:rPr lang="de-DE" sz="2000" dirty="0" smtClean="0">
                <a:solidFill>
                  <a:schemeClr val="tx2"/>
                </a:solidFill>
              </a:rPr>
              <a:t>Hochschulwesen</a:t>
            </a:r>
            <a:br>
              <a:rPr lang="de-DE" sz="2000" dirty="0" smtClean="0">
                <a:solidFill>
                  <a:schemeClr val="tx2"/>
                </a:solidFill>
              </a:rPr>
            </a:br>
            <a:r>
              <a:rPr lang="de-DE" sz="2000" dirty="0" smtClean="0">
                <a:solidFill>
                  <a:schemeClr val="tx2"/>
                </a:solidFill>
              </a:rPr>
              <a:t>– bestehende rechtliche und organisatorische Vorgaben</a:t>
            </a:r>
            <a:endParaRPr lang="de-DE" sz="2000" dirty="0">
              <a:solidFill>
                <a:schemeClr val="tx2"/>
              </a:solidFill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6"/>
          </p:nvPr>
        </p:nvSpPr>
        <p:spPr>
          <a:xfrm>
            <a:off x="692667" y="4907551"/>
            <a:ext cx="3077766" cy="146643"/>
          </a:xfrm>
        </p:spPr>
        <p:txBody>
          <a:bodyPr/>
          <a:lstStyle/>
          <a:p>
            <a:r>
              <a:rPr lang="de-DE" sz="600" dirty="0"/>
              <a:t>20.04.2020 – Informationsveranstaltung </a:t>
            </a:r>
            <a:r>
              <a:rPr lang="de-DE" sz="600" dirty="0" err="1"/>
              <a:t>XHochschule</a:t>
            </a:r>
            <a:r>
              <a:rPr lang="de-DE" sz="600" dirty="0"/>
              <a:t> und XBIldung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455646" y="2931604"/>
            <a:ext cx="17296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Rechtliche Interoperabilität</a:t>
            </a:r>
          </a:p>
        </p:txBody>
      </p:sp>
      <p:sp>
        <p:nvSpPr>
          <p:cNvPr id="30" name="Textfeld 29"/>
          <p:cNvSpPr txBox="1"/>
          <p:nvPr/>
        </p:nvSpPr>
        <p:spPr>
          <a:xfrm>
            <a:off x="455646" y="3309457"/>
            <a:ext cx="20781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Organisatorische Interoperabilität</a:t>
            </a:r>
          </a:p>
        </p:txBody>
      </p:sp>
      <p:sp>
        <p:nvSpPr>
          <p:cNvPr id="13" name="Rechteck 12"/>
          <p:cNvSpPr/>
          <p:nvPr/>
        </p:nvSpPr>
        <p:spPr>
          <a:xfrm>
            <a:off x="2874988" y="2893536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OZG</a:t>
            </a:r>
          </a:p>
        </p:txBody>
      </p:sp>
      <p:sp>
        <p:nvSpPr>
          <p:cNvPr id="14" name="Rechteck 13"/>
          <p:cNvSpPr/>
          <p:nvPr/>
        </p:nvSpPr>
        <p:spPr>
          <a:xfrm>
            <a:off x="4428524" y="2893534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DSGVO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15" name="Rechteck 14"/>
          <p:cNvSpPr/>
          <p:nvPr/>
        </p:nvSpPr>
        <p:spPr>
          <a:xfrm>
            <a:off x="6396133" y="2893533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weitere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34" name="Rechteck 33"/>
          <p:cNvSpPr/>
          <p:nvPr/>
        </p:nvSpPr>
        <p:spPr>
          <a:xfrm>
            <a:off x="2860894" y="3296934"/>
            <a:ext cx="1103699" cy="2760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 smtClean="0">
                <a:solidFill>
                  <a:schemeClr val="tx2"/>
                </a:solidFill>
                <a:latin typeface="Arial" panose="020B0604020202020204" pitchFamily="34" charset="0"/>
              </a:rPr>
              <a:t>Bologna-Prozess</a:t>
            </a:r>
            <a:endParaRPr lang="de-DE" sz="8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5" name="Rechteck 34"/>
          <p:cNvSpPr/>
          <p:nvPr/>
        </p:nvSpPr>
        <p:spPr>
          <a:xfrm>
            <a:off x="6674280" y="3296933"/>
            <a:ext cx="1515900" cy="276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 smtClean="0">
                <a:solidFill>
                  <a:schemeClr val="tx2"/>
                </a:solidFill>
                <a:latin typeface="Arial" panose="020B0604020202020204" pitchFamily="34" charset="0"/>
              </a:rPr>
              <a:t>Deklaration von Groningen</a:t>
            </a:r>
            <a:endParaRPr lang="de-DE" sz="8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3651756" y="2893534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SDG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39" name="Rechteck 38"/>
          <p:cNvSpPr/>
          <p:nvPr/>
        </p:nvSpPr>
        <p:spPr>
          <a:xfrm>
            <a:off x="5584442" y="2893534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eIDAS</a:t>
            </a:r>
            <a:endParaRPr lang="de-DE" sz="1050" dirty="0">
              <a:solidFill>
                <a:schemeClr val="tx1"/>
              </a:solidFill>
            </a:endParaRPr>
          </a:p>
        </p:txBody>
      </p:sp>
      <p:pic>
        <p:nvPicPr>
          <p:cNvPr id="43" name="Grafik 4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2862616"/>
            <a:ext cx="341413" cy="346121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16" name="Grafik 15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431" y="3288232"/>
            <a:ext cx="335728" cy="305624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</p:spTree>
    <p:extLst>
      <p:ext uri="{BB962C8B-B14F-4D97-AF65-F5344CB8AC3E}">
        <p14:creationId xmlns:p14="http://schemas.microsoft.com/office/powerpoint/2010/main" val="2102451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hteck 39"/>
          <p:cNvSpPr/>
          <p:nvPr/>
        </p:nvSpPr>
        <p:spPr>
          <a:xfrm>
            <a:off x="68944" y="4042287"/>
            <a:ext cx="8939674" cy="3841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38" name="Rechteck 37"/>
          <p:cNvSpPr/>
          <p:nvPr/>
        </p:nvSpPr>
        <p:spPr>
          <a:xfrm>
            <a:off x="68944" y="3641611"/>
            <a:ext cx="8939674" cy="3679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336616" y="158328"/>
            <a:ext cx="6866942" cy="994172"/>
          </a:xfrm>
        </p:spPr>
        <p:txBody>
          <a:bodyPr/>
          <a:lstStyle/>
          <a:p>
            <a:r>
              <a:rPr lang="de-DE" sz="2000" dirty="0"/>
              <a:t>Interoperabilitätsstandard </a:t>
            </a:r>
            <a:r>
              <a:rPr lang="de-DE" sz="2000" dirty="0" smtClean="0"/>
              <a:t>im </a:t>
            </a:r>
            <a:r>
              <a:rPr lang="de-DE" sz="2000" dirty="0" smtClean="0">
                <a:solidFill>
                  <a:schemeClr val="tx2"/>
                </a:solidFill>
              </a:rPr>
              <a:t>Bildungswesen</a:t>
            </a:r>
            <a:br>
              <a:rPr lang="de-DE" sz="2000" dirty="0" smtClean="0">
                <a:solidFill>
                  <a:schemeClr val="tx2"/>
                </a:solidFill>
              </a:rPr>
            </a:br>
            <a:r>
              <a:rPr lang="de-DE" sz="2000" dirty="0" smtClean="0">
                <a:solidFill>
                  <a:srgbClr val="00B0F0"/>
                </a:solidFill>
              </a:rPr>
              <a:t>zukünftig: </a:t>
            </a:r>
            <a:r>
              <a:rPr lang="de-DE" sz="2000" dirty="0" err="1" smtClean="0">
                <a:solidFill>
                  <a:srgbClr val="00B0F0"/>
                </a:solidFill>
              </a:rPr>
              <a:t>XBildung</a:t>
            </a:r>
            <a:r>
              <a:rPr lang="de-DE" sz="2000" dirty="0" smtClean="0">
                <a:solidFill>
                  <a:srgbClr val="00B0F0"/>
                </a:solidFill>
              </a:rPr>
              <a:t> UND </a:t>
            </a:r>
            <a:r>
              <a:rPr lang="de-DE" sz="2000" dirty="0" err="1" smtClean="0">
                <a:solidFill>
                  <a:srgbClr val="00B0F0"/>
                </a:solidFill>
              </a:rPr>
              <a:t>XHochschule</a:t>
            </a:r>
            <a:endParaRPr lang="de-DE" sz="2000" dirty="0">
              <a:solidFill>
                <a:srgbClr val="00B0F0"/>
              </a:solidFill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6"/>
          </p:nvPr>
        </p:nvSpPr>
        <p:spPr>
          <a:xfrm>
            <a:off x="326187" y="4923408"/>
            <a:ext cx="3077766" cy="146643"/>
          </a:xfrm>
        </p:spPr>
        <p:txBody>
          <a:bodyPr/>
          <a:lstStyle/>
          <a:p>
            <a:r>
              <a:rPr lang="de-DE" sz="600" dirty="0" smtClean="0"/>
              <a:t>20.04.2020 – Informationsveranstaltung XHochschule und XBIldung</a:t>
            </a:r>
            <a:endParaRPr lang="de-DE" sz="600" dirty="0"/>
          </a:p>
        </p:txBody>
      </p:sp>
      <p:sp>
        <p:nvSpPr>
          <p:cNvPr id="31" name="Textfeld 30"/>
          <p:cNvSpPr txBox="1"/>
          <p:nvPr/>
        </p:nvSpPr>
        <p:spPr>
          <a:xfrm>
            <a:off x="469508" y="3681184"/>
            <a:ext cx="18588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Semantische Interoperabilität</a:t>
            </a:r>
          </a:p>
        </p:txBody>
      </p:sp>
      <p:sp>
        <p:nvSpPr>
          <p:cNvPr id="32" name="Textfeld 31"/>
          <p:cNvSpPr txBox="1"/>
          <p:nvPr/>
        </p:nvSpPr>
        <p:spPr>
          <a:xfrm>
            <a:off x="462577" y="4104048"/>
            <a:ext cx="17584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Technische Interoperabilität</a:t>
            </a:r>
          </a:p>
        </p:txBody>
      </p:sp>
      <p:pic>
        <p:nvPicPr>
          <p:cNvPr id="29" name="Grafik 28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228" y="4084303"/>
            <a:ext cx="328418" cy="300092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sp>
        <p:nvSpPr>
          <p:cNvPr id="42" name="Rechteck 41"/>
          <p:cNvSpPr/>
          <p:nvPr/>
        </p:nvSpPr>
        <p:spPr>
          <a:xfrm>
            <a:off x="3566858" y="3670844"/>
            <a:ext cx="5155502" cy="71182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1200" b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XBildung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3" name="Rechteck 42"/>
          <p:cNvSpPr/>
          <p:nvPr/>
        </p:nvSpPr>
        <p:spPr>
          <a:xfrm>
            <a:off x="4354653" y="3702940"/>
            <a:ext cx="684524" cy="675014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>
                <a:solidFill>
                  <a:srgbClr val="FF0000"/>
                </a:solidFill>
                <a:latin typeface="Arial" panose="020B0604020202020204" pitchFamily="34" charset="0"/>
              </a:rPr>
              <a:t>XHochschule</a:t>
            </a:r>
          </a:p>
        </p:txBody>
      </p:sp>
      <p:sp>
        <p:nvSpPr>
          <p:cNvPr id="47" name="Textfeld 46"/>
          <p:cNvSpPr txBox="1"/>
          <p:nvPr/>
        </p:nvSpPr>
        <p:spPr>
          <a:xfrm>
            <a:off x="2708020" y="1415943"/>
            <a:ext cx="1409445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endParaRPr lang="de-DE" sz="1600" dirty="0" smtClean="0"/>
          </a:p>
        </p:txBody>
      </p:sp>
      <p:sp>
        <p:nvSpPr>
          <p:cNvPr id="50" name="Rechteck 49"/>
          <p:cNvSpPr/>
          <p:nvPr/>
        </p:nvSpPr>
        <p:spPr>
          <a:xfrm>
            <a:off x="5097040" y="3696434"/>
            <a:ext cx="418848" cy="670061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i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800" i="1" dirty="0" err="1" smtClean="0">
                <a:solidFill>
                  <a:srgbClr val="0070C0"/>
                </a:solidFill>
                <a:latin typeface="Arial" panose="020B0604020202020204" pitchFamily="34" charset="0"/>
              </a:rPr>
              <a:t>XSchule</a:t>
            </a:r>
            <a:endParaRPr lang="de-DE" sz="8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45" name="Rechteck 44"/>
          <p:cNvSpPr/>
          <p:nvPr/>
        </p:nvSpPr>
        <p:spPr>
          <a:xfrm>
            <a:off x="5554696" y="3696433"/>
            <a:ext cx="418848" cy="670061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i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800" i="1" dirty="0" err="1" smtClean="0">
                <a:solidFill>
                  <a:srgbClr val="0070C0"/>
                </a:solidFill>
                <a:latin typeface="Arial" panose="020B0604020202020204" pitchFamily="34" charset="0"/>
              </a:rPr>
              <a:t>XBAföG</a:t>
            </a:r>
            <a:endParaRPr lang="de-DE" sz="8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46" name="Rechteck 45"/>
          <p:cNvSpPr/>
          <p:nvPr/>
        </p:nvSpPr>
        <p:spPr>
          <a:xfrm>
            <a:off x="6021062" y="3688432"/>
            <a:ext cx="727802" cy="675014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i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800" i="1" dirty="0" err="1" smtClean="0">
                <a:solidFill>
                  <a:srgbClr val="0070C0"/>
                </a:solidFill>
                <a:latin typeface="Arial" panose="020B0604020202020204" pitchFamily="34" charset="0"/>
              </a:rPr>
              <a:t>XWeiterbildung</a:t>
            </a:r>
            <a:endParaRPr lang="de-DE" sz="8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49" name="Rechteck 48"/>
          <p:cNvSpPr/>
          <p:nvPr/>
        </p:nvSpPr>
        <p:spPr>
          <a:xfrm>
            <a:off x="6796382" y="3686838"/>
            <a:ext cx="899818" cy="675014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i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800" i="1" dirty="0" err="1" smtClean="0">
                <a:solidFill>
                  <a:srgbClr val="0070C0"/>
                </a:solidFill>
                <a:latin typeface="Arial" panose="020B0604020202020204" pitchFamily="34" charset="0"/>
              </a:rPr>
              <a:t>XBerufsausbildung</a:t>
            </a:r>
            <a:endParaRPr lang="de-DE" sz="8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52" name="Rechteck 51"/>
          <p:cNvSpPr/>
          <p:nvPr/>
        </p:nvSpPr>
        <p:spPr>
          <a:xfrm>
            <a:off x="7813697" y="3689460"/>
            <a:ext cx="727802" cy="675014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1400" b="1" i="1" dirty="0" smtClean="0">
                <a:solidFill>
                  <a:srgbClr val="0070C0"/>
                </a:solidFill>
                <a:latin typeface="Arial" panose="020B0604020202020204" pitchFamily="34" charset="0"/>
              </a:rPr>
              <a:t>…</a:t>
            </a:r>
            <a:endParaRPr lang="de-DE" sz="800" b="1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pic>
        <p:nvPicPr>
          <p:cNvPr id="17" name="Grafik 16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132" y="3675412"/>
            <a:ext cx="350189" cy="301045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</p:spTree>
    <p:extLst>
      <p:ext uri="{BB962C8B-B14F-4D97-AF65-F5344CB8AC3E}">
        <p14:creationId xmlns:p14="http://schemas.microsoft.com/office/powerpoint/2010/main" val="122642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hteck 39"/>
          <p:cNvSpPr/>
          <p:nvPr/>
        </p:nvSpPr>
        <p:spPr>
          <a:xfrm>
            <a:off x="68944" y="4042287"/>
            <a:ext cx="8958942" cy="3856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38" name="Rechteck 37"/>
          <p:cNvSpPr/>
          <p:nvPr/>
        </p:nvSpPr>
        <p:spPr>
          <a:xfrm>
            <a:off x="68944" y="3641611"/>
            <a:ext cx="8958942" cy="3679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336616" y="158328"/>
            <a:ext cx="7791384" cy="994172"/>
          </a:xfrm>
        </p:spPr>
        <p:txBody>
          <a:bodyPr/>
          <a:lstStyle/>
          <a:p>
            <a:r>
              <a:rPr lang="de-DE" sz="2000" dirty="0"/>
              <a:t>Interoperabilitätsstandard </a:t>
            </a:r>
            <a:r>
              <a:rPr lang="de-DE" sz="2000" dirty="0" smtClean="0"/>
              <a:t>im </a:t>
            </a:r>
            <a:r>
              <a:rPr lang="de-DE" sz="2000" dirty="0" smtClean="0">
                <a:solidFill>
                  <a:schemeClr val="tx2"/>
                </a:solidFill>
              </a:rPr>
              <a:t>Bildungswesen</a:t>
            </a:r>
            <a:br>
              <a:rPr lang="de-DE" sz="2000" dirty="0" smtClean="0">
                <a:solidFill>
                  <a:schemeClr val="tx2"/>
                </a:solidFill>
              </a:rPr>
            </a:br>
            <a:r>
              <a:rPr lang="de-DE" sz="2000" dirty="0" smtClean="0">
                <a:solidFill>
                  <a:srgbClr val="00B0F0"/>
                </a:solidFill>
              </a:rPr>
              <a:t>zukünftig: </a:t>
            </a:r>
            <a:r>
              <a:rPr lang="de-DE" sz="2000" dirty="0" err="1" smtClean="0">
                <a:solidFill>
                  <a:srgbClr val="00B0F0"/>
                </a:solidFill>
              </a:rPr>
              <a:t>XBildung</a:t>
            </a:r>
            <a:r>
              <a:rPr lang="de-DE" sz="2000" dirty="0" smtClean="0">
                <a:solidFill>
                  <a:srgbClr val="00B0F0"/>
                </a:solidFill>
              </a:rPr>
              <a:t> UND </a:t>
            </a:r>
            <a:r>
              <a:rPr lang="de-DE" sz="2000" u="sng" dirty="0" err="1" smtClean="0">
                <a:solidFill>
                  <a:srgbClr val="00B0F0"/>
                </a:solidFill>
              </a:rPr>
              <a:t>XHochschule</a:t>
            </a:r>
            <a:r>
              <a:rPr lang="de-DE" sz="2000" dirty="0" smtClean="0">
                <a:solidFill>
                  <a:srgbClr val="00B0F0"/>
                </a:solidFill>
              </a:rPr>
              <a:t> </a:t>
            </a:r>
            <a:r>
              <a:rPr lang="de-DE" sz="2000" dirty="0" smtClean="0"/>
              <a:t>und bestehende Standards</a:t>
            </a:r>
            <a:endParaRPr lang="de-DE" sz="20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6"/>
          </p:nvPr>
        </p:nvSpPr>
        <p:spPr>
          <a:xfrm>
            <a:off x="326187" y="4923408"/>
            <a:ext cx="3077766" cy="146643"/>
          </a:xfrm>
        </p:spPr>
        <p:txBody>
          <a:bodyPr/>
          <a:lstStyle/>
          <a:p>
            <a:r>
              <a:rPr lang="de-DE" sz="600" dirty="0" smtClean="0"/>
              <a:t>20.04.2020 – Informationsveranstaltung XHochschule und XBIldung</a:t>
            </a:r>
            <a:endParaRPr lang="de-DE" sz="600" dirty="0"/>
          </a:p>
        </p:txBody>
      </p:sp>
      <p:sp>
        <p:nvSpPr>
          <p:cNvPr id="31" name="Textfeld 30"/>
          <p:cNvSpPr txBox="1"/>
          <p:nvPr/>
        </p:nvSpPr>
        <p:spPr>
          <a:xfrm>
            <a:off x="469508" y="3681184"/>
            <a:ext cx="18588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Semantische Interoperabilität</a:t>
            </a:r>
          </a:p>
        </p:txBody>
      </p:sp>
      <p:sp>
        <p:nvSpPr>
          <p:cNvPr id="32" name="Textfeld 31"/>
          <p:cNvSpPr txBox="1"/>
          <p:nvPr/>
        </p:nvSpPr>
        <p:spPr>
          <a:xfrm>
            <a:off x="462577" y="4104048"/>
            <a:ext cx="17584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Technische Interoperabilität</a:t>
            </a:r>
          </a:p>
        </p:txBody>
      </p:sp>
      <p:pic>
        <p:nvPicPr>
          <p:cNvPr id="29" name="Grafik 28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768" y="4083291"/>
            <a:ext cx="342540" cy="303623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sp>
        <p:nvSpPr>
          <p:cNvPr id="42" name="Rechteck 41"/>
          <p:cNvSpPr/>
          <p:nvPr/>
        </p:nvSpPr>
        <p:spPr>
          <a:xfrm>
            <a:off x="3562259" y="3661715"/>
            <a:ext cx="3267198" cy="71182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1200" b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XBildung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3" name="Rechteck 42"/>
          <p:cNvSpPr/>
          <p:nvPr/>
        </p:nvSpPr>
        <p:spPr>
          <a:xfrm>
            <a:off x="4350267" y="3684684"/>
            <a:ext cx="490973" cy="675014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1200" b="1" dirty="0">
                <a:solidFill>
                  <a:srgbClr val="FF0000"/>
                </a:solidFill>
                <a:latin typeface="Arial" panose="020B0604020202020204" pitchFamily="34" charset="0"/>
              </a:rPr>
              <a:t>XHochschule</a:t>
            </a:r>
          </a:p>
        </p:txBody>
      </p:sp>
      <p:sp>
        <p:nvSpPr>
          <p:cNvPr id="17" name="Rechteck 16"/>
          <p:cNvSpPr/>
          <p:nvPr/>
        </p:nvSpPr>
        <p:spPr>
          <a:xfrm>
            <a:off x="2822298" y="3716328"/>
            <a:ext cx="585988" cy="6208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500" dirty="0" smtClean="0">
                <a:solidFill>
                  <a:schemeClr val="tx1"/>
                </a:solidFill>
                <a:latin typeface="Arial" panose="020B0604020202020204" pitchFamily="34" charset="0"/>
              </a:rPr>
              <a:t>Europass Digital Credential Infrastructure (EDCI)</a:t>
            </a:r>
            <a:endParaRPr lang="de-DE" sz="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hteck 19"/>
          <p:cNvSpPr/>
          <p:nvPr/>
        </p:nvSpPr>
        <p:spPr>
          <a:xfrm>
            <a:off x="7558486" y="3664986"/>
            <a:ext cx="1450131" cy="3249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XInneres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8304009" y="3686293"/>
            <a:ext cx="226114" cy="278615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XMeld</a:t>
            </a:r>
          </a:p>
        </p:txBody>
      </p:sp>
      <p:sp>
        <p:nvSpPr>
          <p:cNvPr id="19" name="Rechteck 18"/>
          <p:cNvSpPr/>
          <p:nvPr/>
        </p:nvSpPr>
        <p:spPr>
          <a:xfrm>
            <a:off x="8559800" y="3689961"/>
            <a:ext cx="399528" cy="271277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 smtClean="0">
                <a:solidFill>
                  <a:schemeClr val="tx1"/>
                </a:solidFill>
                <a:latin typeface="Arial" panose="020B0604020202020204" pitchFamily="34" charset="0"/>
              </a:rPr>
              <a:t>XPersonenstand</a:t>
            </a:r>
            <a:endParaRPr lang="de-DE" sz="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4" name="Rechteck 53"/>
          <p:cNvSpPr/>
          <p:nvPr/>
        </p:nvSpPr>
        <p:spPr>
          <a:xfrm>
            <a:off x="7018459" y="4056100"/>
            <a:ext cx="1990158" cy="3359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OZG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/>
        </p:nvSpPr>
        <p:spPr>
          <a:xfrm>
            <a:off x="8048218" y="3686293"/>
            <a:ext cx="226114" cy="278616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 smtClean="0">
                <a:solidFill>
                  <a:schemeClr val="tx1"/>
                </a:solidFill>
                <a:latin typeface="Arial" panose="020B0604020202020204" pitchFamily="34" charset="0"/>
              </a:rPr>
              <a:t>XAusl</a:t>
            </a:r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3" name="Rechteck 22"/>
          <p:cNvSpPr/>
          <p:nvPr/>
        </p:nvSpPr>
        <p:spPr>
          <a:xfrm>
            <a:off x="8521630" y="4085810"/>
            <a:ext cx="448924" cy="2738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500" dirty="0" smtClean="0">
                <a:solidFill>
                  <a:schemeClr val="tx1"/>
                </a:solidFill>
                <a:latin typeface="Arial" panose="020B0604020202020204" pitchFamily="34" charset="0"/>
              </a:rPr>
              <a:t>Datencockpit</a:t>
            </a:r>
            <a:endParaRPr lang="de-DE" sz="1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4" name="Rechteck 23"/>
          <p:cNvSpPr/>
          <p:nvPr/>
        </p:nvSpPr>
        <p:spPr>
          <a:xfrm>
            <a:off x="7910583" y="4085810"/>
            <a:ext cx="572985" cy="2738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700" dirty="0" smtClean="0">
                <a:solidFill>
                  <a:schemeClr val="tx1"/>
                </a:solidFill>
                <a:latin typeface="Arial" panose="020B0604020202020204" pitchFamily="34" charset="0"/>
              </a:rPr>
              <a:t>OZG-Nutzerkonten</a:t>
            </a:r>
            <a:endParaRPr lang="de-DE" sz="7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5" name="Rechteck 24"/>
          <p:cNvSpPr/>
          <p:nvPr/>
        </p:nvSpPr>
        <p:spPr>
          <a:xfrm>
            <a:off x="7449012" y="4087312"/>
            <a:ext cx="435281" cy="2734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700" dirty="0" smtClean="0">
                <a:solidFill>
                  <a:schemeClr val="tx1"/>
                </a:solidFill>
                <a:latin typeface="Arial" panose="020B0604020202020204" pitchFamily="34" charset="0"/>
              </a:rPr>
              <a:t>ePayment</a:t>
            </a:r>
            <a:endParaRPr lang="de-DE" sz="7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7" name="Textfeld 46"/>
          <p:cNvSpPr txBox="1"/>
          <p:nvPr/>
        </p:nvSpPr>
        <p:spPr>
          <a:xfrm>
            <a:off x="2708020" y="1415943"/>
            <a:ext cx="1409445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endParaRPr lang="de-DE" sz="1600" dirty="0" smtClean="0"/>
          </a:p>
        </p:txBody>
      </p:sp>
      <p:sp>
        <p:nvSpPr>
          <p:cNvPr id="50" name="Rechteck 49"/>
          <p:cNvSpPr/>
          <p:nvPr/>
        </p:nvSpPr>
        <p:spPr>
          <a:xfrm>
            <a:off x="5212520" y="3684274"/>
            <a:ext cx="318293" cy="670061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 smtClean="0">
                <a:solidFill>
                  <a:srgbClr val="0070C0"/>
                </a:solidFill>
                <a:latin typeface="Arial" panose="020B0604020202020204" pitchFamily="34" charset="0"/>
              </a:rPr>
              <a:t>XSchule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cxnSp>
        <p:nvCxnSpPr>
          <p:cNvPr id="51" name="Gerade Verbindung mit Pfeil 50"/>
          <p:cNvCxnSpPr>
            <a:stCxn id="42" idx="3"/>
          </p:cNvCxnSpPr>
          <p:nvPr/>
        </p:nvCxnSpPr>
        <p:spPr>
          <a:xfrm flipV="1">
            <a:off x="6829457" y="3804294"/>
            <a:ext cx="203113" cy="2133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hteck 43"/>
          <p:cNvSpPr/>
          <p:nvPr/>
        </p:nvSpPr>
        <p:spPr>
          <a:xfrm>
            <a:off x="4868024" y="3683142"/>
            <a:ext cx="318293" cy="670061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 smtClean="0">
                <a:solidFill>
                  <a:srgbClr val="0070C0"/>
                </a:solidFill>
                <a:latin typeface="Arial" panose="020B0604020202020204" pitchFamily="34" charset="0"/>
              </a:rPr>
              <a:t>XBAföG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45" name="Rechteck 44"/>
          <p:cNvSpPr/>
          <p:nvPr/>
        </p:nvSpPr>
        <p:spPr>
          <a:xfrm>
            <a:off x="5565670" y="3681184"/>
            <a:ext cx="576736" cy="669085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 smtClean="0">
                <a:solidFill>
                  <a:srgbClr val="0070C0"/>
                </a:solidFill>
                <a:latin typeface="Arial" panose="020B0604020202020204" pitchFamily="34" charset="0"/>
              </a:rPr>
              <a:t>XWeiterbildung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46" name="Rechteck 45"/>
          <p:cNvSpPr/>
          <p:nvPr/>
        </p:nvSpPr>
        <p:spPr>
          <a:xfrm>
            <a:off x="6116207" y="3681184"/>
            <a:ext cx="666733" cy="669085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 smtClean="0">
                <a:solidFill>
                  <a:srgbClr val="0070C0"/>
                </a:solidFill>
                <a:latin typeface="Arial" panose="020B0604020202020204" pitchFamily="34" charset="0"/>
              </a:rPr>
              <a:t>XBerufsausbildung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49" name="Rechteck 48"/>
          <p:cNvSpPr/>
          <p:nvPr/>
        </p:nvSpPr>
        <p:spPr>
          <a:xfrm>
            <a:off x="7032570" y="3702350"/>
            <a:ext cx="361678" cy="2149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XOEV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cxnSp>
        <p:nvCxnSpPr>
          <p:cNvPr id="52" name="Gerade Verbindung mit Pfeil 51"/>
          <p:cNvCxnSpPr>
            <a:stCxn id="42" idx="3"/>
            <a:endCxn id="20" idx="1"/>
          </p:cNvCxnSpPr>
          <p:nvPr/>
        </p:nvCxnSpPr>
        <p:spPr>
          <a:xfrm flipV="1">
            <a:off x="6829457" y="3827462"/>
            <a:ext cx="729029" cy="1901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>
            <a:stCxn id="42" idx="3"/>
            <a:endCxn id="25" idx="1"/>
          </p:cNvCxnSpPr>
          <p:nvPr/>
        </p:nvCxnSpPr>
        <p:spPr>
          <a:xfrm>
            <a:off x="6829457" y="4017626"/>
            <a:ext cx="619555" cy="2064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Grafik 29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228" y="3671815"/>
            <a:ext cx="346659" cy="307567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</p:spTree>
    <p:extLst>
      <p:ext uri="{BB962C8B-B14F-4D97-AF65-F5344CB8AC3E}">
        <p14:creationId xmlns:p14="http://schemas.microsoft.com/office/powerpoint/2010/main" val="259953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 35"/>
          <p:cNvSpPr/>
          <p:nvPr/>
        </p:nvSpPr>
        <p:spPr>
          <a:xfrm>
            <a:off x="68944" y="3273175"/>
            <a:ext cx="8958942" cy="3357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40" name="Rechteck 39"/>
          <p:cNvSpPr/>
          <p:nvPr/>
        </p:nvSpPr>
        <p:spPr>
          <a:xfrm>
            <a:off x="68944" y="4042287"/>
            <a:ext cx="8958942" cy="3593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38" name="Rechteck 37"/>
          <p:cNvSpPr/>
          <p:nvPr/>
        </p:nvSpPr>
        <p:spPr>
          <a:xfrm>
            <a:off x="68944" y="3641611"/>
            <a:ext cx="8958942" cy="3679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28" name="Rechteck 27"/>
          <p:cNvSpPr/>
          <p:nvPr/>
        </p:nvSpPr>
        <p:spPr>
          <a:xfrm>
            <a:off x="68944" y="2836254"/>
            <a:ext cx="8958942" cy="40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336616" y="158328"/>
            <a:ext cx="7937716" cy="994172"/>
          </a:xfrm>
        </p:spPr>
        <p:txBody>
          <a:bodyPr/>
          <a:lstStyle/>
          <a:p>
            <a:r>
              <a:rPr lang="de-DE" sz="2000" dirty="0"/>
              <a:t>Interoperabilitätsstandard </a:t>
            </a:r>
            <a:r>
              <a:rPr lang="de-DE" sz="2000" dirty="0" smtClean="0"/>
              <a:t>im </a:t>
            </a:r>
            <a:r>
              <a:rPr lang="de-DE" sz="2000" dirty="0" smtClean="0">
                <a:solidFill>
                  <a:schemeClr val="tx2"/>
                </a:solidFill>
              </a:rPr>
              <a:t>Bildungswesen</a:t>
            </a:r>
            <a:br>
              <a:rPr lang="de-DE" sz="2000" dirty="0" smtClean="0">
                <a:solidFill>
                  <a:schemeClr val="tx2"/>
                </a:solidFill>
              </a:rPr>
            </a:br>
            <a:r>
              <a:rPr lang="de-DE" sz="2000" dirty="0" smtClean="0">
                <a:solidFill>
                  <a:srgbClr val="00B0F0"/>
                </a:solidFill>
              </a:rPr>
              <a:t>zukünftig: </a:t>
            </a:r>
            <a:r>
              <a:rPr lang="de-DE" sz="2000" dirty="0" err="1" smtClean="0">
                <a:solidFill>
                  <a:srgbClr val="00B0F0"/>
                </a:solidFill>
              </a:rPr>
              <a:t>XBildung</a:t>
            </a:r>
            <a:r>
              <a:rPr lang="de-DE" sz="2000" dirty="0" smtClean="0">
                <a:solidFill>
                  <a:srgbClr val="00B0F0"/>
                </a:solidFill>
              </a:rPr>
              <a:t> UND </a:t>
            </a:r>
            <a:r>
              <a:rPr lang="de-DE" sz="2000" u="sng" dirty="0" err="1" smtClean="0">
                <a:solidFill>
                  <a:srgbClr val="00B0F0"/>
                </a:solidFill>
              </a:rPr>
              <a:t>XHochschule</a:t>
            </a:r>
            <a:r>
              <a:rPr lang="de-DE" sz="2000" dirty="0" smtClean="0">
                <a:solidFill>
                  <a:srgbClr val="00B0F0"/>
                </a:solidFill>
              </a:rPr>
              <a:t> </a:t>
            </a:r>
            <a:r>
              <a:rPr lang="de-DE" sz="2000" dirty="0" smtClean="0"/>
              <a:t>und bestehende Standards</a:t>
            </a:r>
            <a:endParaRPr lang="de-DE" sz="20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6"/>
          </p:nvPr>
        </p:nvSpPr>
        <p:spPr>
          <a:xfrm>
            <a:off x="326187" y="4923408"/>
            <a:ext cx="3077766" cy="146643"/>
          </a:xfrm>
        </p:spPr>
        <p:txBody>
          <a:bodyPr/>
          <a:lstStyle/>
          <a:p>
            <a:r>
              <a:rPr lang="de-DE" sz="600" dirty="0" smtClean="0"/>
              <a:t>20.04.2020 – Informationsveranstaltung XHochschule und XBIldung</a:t>
            </a:r>
            <a:endParaRPr lang="de-DE" sz="600" dirty="0"/>
          </a:p>
        </p:txBody>
      </p:sp>
      <p:sp>
        <p:nvSpPr>
          <p:cNvPr id="2" name="Textfeld 1"/>
          <p:cNvSpPr txBox="1"/>
          <p:nvPr/>
        </p:nvSpPr>
        <p:spPr>
          <a:xfrm>
            <a:off x="455646" y="2931604"/>
            <a:ext cx="17296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Rechtliche Interoperabilität</a:t>
            </a:r>
          </a:p>
        </p:txBody>
      </p:sp>
      <p:sp>
        <p:nvSpPr>
          <p:cNvPr id="30" name="Textfeld 29"/>
          <p:cNvSpPr txBox="1"/>
          <p:nvPr/>
        </p:nvSpPr>
        <p:spPr>
          <a:xfrm>
            <a:off x="455646" y="3309457"/>
            <a:ext cx="20781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Organisatorische Interoperabilität</a:t>
            </a:r>
          </a:p>
        </p:txBody>
      </p:sp>
      <p:sp>
        <p:nvSpPr>
          <p:cNvPr id="31" name="Textfeld 30"/>
          <p:cNvSpPr txBox="1"/>
          <p:nvPr/>
        </p:nvSpPr>
        <p:spPr>
          <a:xfrm>
            <a:off x="469508" y="3681184"/>
            <a:ext cx="18588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Semantische Interoperabilität</a:t>
            </a:r>
          </a:p>
        </p:txBody>
      </p:sp>
      <p:sp>
        <p:nvSpPr>
          <p:cNvPr id="32" name="Textfeld 31"/>
          <p:cNvSpPr txBox="1"/>
          <p:nvPr/>
        </p:nvSpPr>
        <p:spPr>
          <a:xfrm>
            <a:off x="462577" y="4104048"/>
            <a:ext cx="17584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Technische Interoperabilität</a:t>
            </a:r>
          </a:p>
        </p:txBody>
      </p:sp>
      <p:sp>
        <p:nvSpPr>
          <p:cNvPr id="13" name="Rechteck 12"/>
          <p:cNvSpPr/>
          <p:nvPr/>
        </p:nvSpPr>
        <p:spPr>
          <a:xfrm>
            <a:off x="2874988" y="2893536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OZG</a:t>
            </a:r>
          </a:p>
        </p:txBody>
      </p:sp>
      <p:sp>
        <p:nvSpPr>
          <p:cNvPr id="14" name="Rechteck 13"/>
          <p:cNvSpPr/>
          <p:nvPr/>
        </p:nvSpPr>
        <p:spPr>
          <a:xfrm>
            <a:off x="4428524" y="2893534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DSGVO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15" name="Rechteck 14"/>
          <p:cNvSpPr/>
          <p:nvPr/>
        </p:nvSpPr>
        <p:spPr>
          <a:xfrm>
            <a:off x="6396133" y="2893533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weitere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34" name="Rechteck 33"/>
          <p:cNvSpPr/>
          <p:nvPr/>
        </p:nvSpPr>
        <p:spPr>
          <a:xfrm>
            <a:off x="2860894" y="3296934"/>
            <a:ext cx="1103699" cy="2922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 smtClean="0">
                <a:solidFill>
                  <a:schemeClr val="tx2"/>
                </a:solidFill>
                <a:latin typeface="Arial" panose="020B0604020202020204" pitchFamily="34" charset="0"/>
              </a:rPr>
              <a:t>Bologna-Prozess</a:t>
            </a:r>
            <a:endParaRPr lang="de-DE" sz="8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5" name="Rechteck 34"/>
          <p:cNvSpPr/>
          <p:nvPr/>
        </p:nvSpPr>
        <p:spPr>
          <a:xfrm>
            <a:off x="6700654" y="3279987"/>
            <a:ext cx="1515900" cy="2922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 smtClean="0">
                <a:solidFill>
                  <a:schemeClr val="tx2"/>
                </a:solidFill>
                <a:latin typeface="Arial" panose="020B0604020202020204" pitchFamily="34" charset="0"/>
              </a:rPr>
              <a:t>Deklaration von Groningen</a:t>
            </a:r>
            <a:endParaRPr lang="de-DE" sz="8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3651756" y="2893534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SDG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39" name="Rechteck 38"/>
          <p:cNvSpPr/>
          <p:nvPr/>
        </p:nvSpPr>
        <p:spPr>
          <a:xfrm>
            <a:off x="5584442" y="2893534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eIDAS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47" name="Textfeld 46"/>
          <p:cNvSpPr txBox="1"/>
          <p:nvPr/>
        </p:nvSpPr>
        <p:spPr>
          <a:xfrm>
            <a:off x="2708020" y="1415943"/>
            <a:ext cx="1409445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endParaRPr lang="de-DE" sz="1600" dirty="0" smtClean="0"/>
          </a:p>
        </p:txBody>
      </p:sp>
      <p:sp>
        <p:nvSpPr>
          <p:cNvPr id="48" name="Textfeld 47"/>
          <p:cNvSpPr txBox="1"/>
          <p:nvPr/>
        </p:nvSpPr>
        <p:spPr>
          <a:xfrm>
            <a:off x="2699231" y="1268979"/>
            <a:ext cx="1409445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600" dirty="0" smtClean="0"/>
              <a:t>Abschlüsse und Nachweise sind selten nur hochschulspezifisch</a:t>
            </a:r>
          </a:p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600" dirty="0" smtClean="0"/>
              <a:t>Werden in anderen Lebenslagen benötigt</a:t>
            </a:r>
          </a:p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600" dirty="0" smtClean="0"/>
              <a:t>Weitere fachliche Module entstehen durch die OZG-Umsetzung </a:t>
            </a:r>
            <a:br>
              <a:rPr lang="de-DE" sz="1600" dirty="0" smtClean="0"/>
            </a:br>
            <a:r>
              <a:rPr lang="de-DE" sz="1600" dirty="0" smtClean="0"/>
              <a:t>(Schule, Anerkennung ausländischer Berufsabschlüsse)</a:t>
            </a:r>
          </a:p>
        </p:txBody>
      </p:sp>
      <p:sp>
        <p:nvSpPr>
          <p:cNvPr id="41" name="Rechteck 40"/>
          <p:cNvSpPr/>
          <p:nvPr/>
        </p:nvSpPr>
        <p:spPr>
          <a:xfrm>
            <a:off x="3562259" y="3661715"/>
            <a:ext cx="3267198" cy="71182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1200" b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XBildung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2" name="Rechteck 51"/>
          <p:cNvSpPr/>
          <p:nvPr/>
        </p:nvSpPr>
        <p:spPr>
          <a:xfrm>
            <a:off x="4350267" y="3684684"/>
            <a:ext cx="490973" cy="675014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1200" b="1" dirty="0">
                <a:solidFill>
                  <a:srgbClr val="FF0000"/>
                </a:solidFill>
                <a:latin typeface="Arial" panose="020B0604020202020204" pitchFamily="34" charset="0"/>
              </a:rPr>
              <a:t>XHochschule</a:t>
            </a:r>
          </a:p>
        </p:txBody>
      </p:sp>
      <p:sp>
        <p:nvSpPr>
          <p:cNvPr id="53" name="Rechteck 52"/>
          <p:cNvSpPr/>
          <p:nvPr/>
        </p:nvSpPr>
        <p:spPr>
          <a:xfrm>
            <a:off x="2822298" y="3716328"/>
            <a:ext cx="585988" cy="6208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500" dirty="0" smtClean="0">
                <a:solidFill>
                  <a:schemeClr val="tx1"/>
                </a:solidFill>
                <a:latin typeface="Arial" panose="020B0604020202020204" pitchFamily="34" charset="0"/>
              </a:rPr>
              <a:t>Europass Digital Credential Infrastructure (EDCI)</a:t>
            </a:r>
            <a:endParaRPr lang="de-DE" sz="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4" name="Rechteck 53"/>
          <p:cNvSpPr/>
          <p:nvPr/>
        </p:nvSpPr>
        <p:spPr>
          <a:xfrm>
            <a:off x="7558486" y="3664986"/>
            <a:ext cx="1450131" cy="3249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XInneres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5" name="Rechteck 54"/>
          <p:cNvSpPr/>
          <p:nvPr/>
        </p:nvSpPr>
        <p:spPr>
          <a:xfrm>
            <a:off x="8304009" y="3686293"/>
            <a:ext cx="226114" cy="278615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XMeld</a:t>
            </a:r>
          </a:p>
        </p:txBody>
      </p:sp>
      <p:sp>
        <p:nvSpPr>
          <p:cNvPr id="56" name="Rechteck 55"/>
          <p:cNvSpPr/>
          <p:nvPr/>
        </p:nvSpPr>
        <p:spPr>
          <a:xfrm>
            <a:off x="8559800" y="3689961"/>
            <a:ext cx="399528" cy="271277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 smtClean="0">
                <a:solidFill>
                  <a:schemeClr val="tx1"/>
                </a:solidFill>
                <a:latin typeface="Arial" panose="020B0604020202020204" pitchFamily="34" charset="0"/>
              </a:rPr>
              <a:t>XPersonenstand</a:t>
            </a:r>
            <a:endParaRPr lang="de-DE" sz="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7" name="Rechteck 56"/>
          <p:cNvSpPr/>
          <p:nvPr/>
        </p:nvSpPr>
        <p:spPr>
          <a:xfrm>
            <a:off x="7018459" y="4056100"/>
            <a:ext cx="1990158" cy="3359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OZG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8" name="Rechteck 57"/>
          <p:cNvSpPr/>
          <p:nvPr/>
        </p:nvSpPr>
        <p:spPr>
          <a:xfrm>
            <a:off x="8048218" y="3686293"/>
            <a:ext cx="226114" cy="278616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 smtClean="0">
                <a:solidFill>
                  <a:schemeClr val="tx1"/>
                </a:solidFill>
                <a:latin typeface="Arial" panose="020B0604020202020204" pitchFamily="34" charset="0"/>
              </a:rPr>
              <a:t>XAusl</a:t>
            </a:r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59" name="Rechteck 58"/>
          <p:cNvSpPr/>
          <p:nvPr/>
        </p:nvSpPr>
        <p:spPr>
          <a:xfrm>
            <a:off x="8521630" y="4085810"/>
            <a:ext cx="448924" cy="2738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500" dirty="0" smtClean="0">
                <a:solidFill>
                  <a:schemeClr val="tx1"/>
                </a:solidFill>
                <a:latin typeface="Arial" panose="020B0604020202020204" pitchFamily="34" charset="0"/>
              </a:rPr>
              <a:t>Datencockpit</a:t>
            </a:r>
            <a:endParaRPr lang="de-DE" sz="1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0" name="Rechteck 59"/>
          <p:cNvSpPr/>
          <p:nvPr/>
        </p:nvSpPr>
        <p:spPr>
          <a:xfrm>
            <a:off x="7910583" y="4085810"/>
            <a:ext cx="572985" cy="2738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700" dirty="0" smtClean="0">
                <a:solidFill>
                  <a:schemeClr val="tx1"/>
                </a:solidFill>
                <a:latin typeface="Arial" panose="020B0604020202020204" pitchFamily="34" charset="0"/>
              </a:rPr>
              <a:t>OZG-Nutzerkonten</a:t>
            </a:r>
            <a:endParaRPr lang="de-DE" sz="7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1" name="Rechteck 60"/>
          <p:cNvSpPr/>
          <p:nvPr/>
        </p:nvSpPr>
        <p:spPr>
          <a:xfrm>
            <a:off x="7449012" y="4087312"/>
            <a:ext cx="435281" cy="2734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700" dirty="0" smtClean="0">
                <a:solidFill>
                  <a:schemeClr val="tx1"/>
                </a:solidFill>
                <a:latin typeface="Arial" panose="020B0604020202020204" pitchFamily="34" charset="0"/>
              </a:rPr>
              <a:t>ePayment</a:t>
            </a:r>
            <a:endParaRPr lang="de-DE" sz="7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2" name="Rechteck 61"/>
          <p:cNvSpPr/>
          <p:nvPr/>
        </p:nvSpPr>
        <p:spPr>
          <a:xfrm>
            <a:off x="5212520" y="3684274"/>
            <a:ext cx="318293" cy="670061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 smtClean="0">
                <a:solidFill>
                  <a:srgbClr val="0070C0"/>
                </a:solidFill>
                <a:latin typeface="Arial" panose="020B0604020202020204" pitchFamily="34" charset="0"/>
              </a:rPr>
              <a:t>XSchule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cxnSp>
        <p:nvCxnSpPr>
          <p:cNvPr id="63" name="Gerade Verbindung mit Pfeil 62"/>
          <p:cNvCxnSpPr>
            <a:stCxn id="41" idx="3"/>
          </p:cNvCxnSpPr>
          <p:nvPr/>
        </p:nvCxnSpPr>
        <p:spPr>
          <a:xfrm flipV="1">
            <a:off x="6829457" y="3804294"/>
            <a:ext cx="203113" cy="2133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Rechteck 63"/>
          <p:cNvSpPr/>
          <p:nvPr/>
        </p:nvSpPr>
        <p:spPr>
          <a:xfrm>
            <a:off x="4868024" y="3683142"/>
            <a:ext cx="318293" cy="670061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 smtClean="0">
                <a:solidFill>
                  <a:srgbClr val="0070C0"/>
                </a:solidFill>
                <a:latin typeface="Arial" panose="020B0604020202020204" pitchFamily="34" charset="0"/>
              </a:rPr>
              <a:t>XBAföG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65" name="Rechteck 64"/>
          <p:cNvSpPr/>
          <p:nvPr/>
        </p:nvSpPr>
        <p:spPr>
          <a:xfrm>
            <a:off x="5565670" y="3681184"/>
            <a:ext cx="576736" cy="669085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 smtClean="0">
                <a:solidFill>
                  <a:srgbClr val="0070C0"/>
                </a:solidFill>
                <a:latin typeface="Arial" panose="020B0604020202020204" pitchFamily="34" charset="0"/>
              </a:rPr>
              <a:t>XWeiterbildung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66" name="Rechteck 65"/>
          <p:cNvSpPr/>
          <p:nvPr/>
        </p:nvSpPr>
        <p:spPr>
          <a:xfrm>
            <a:off x="6116207" y="3681184"/>
            <a:ext cx="666733" cy="669085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 smtClean="0">
                <a:solidFill>
                  <a:srgbClr val="0070C0"/>
                </a:solidFill>
                <a:latin typeface="Arial" panose="020B0604020202020204" pitchFamily="34" charset="0"/>
              </a:rPr>
              <a:t>XBerufsausbildung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67" name="Rechteck 66"/>
          <p:cNvSpPr/>
          <p:nvPr/>
        </p:nvSpPr>
        <p:spPr>
          <a:xfrm>
            <a:off x="7032570" y="3702350"/>
            <a:ext cx="361678" cy="2149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XOEV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cxnSp>
        <p:nvCxnSpPr>
          <p:cNvPr id="68" name="Gerade Verbindung mit Pfeil 67"/>
          <p:cNvCxnSpPr>
            <a:stCxn id="41" idx="3"/>
            <a:endCxn id="54" idx="1"/>
          </p:cNvCxnSpPr>
          <p:nvPr/>
        </p:nvCxnSpPr>
        <p:spPr>
          <a:xfrm flipV="1">
            <a:off x="6829457" y="3827462"/>
            <a:ext cx="729029" cy="1901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Gerade Verbindung mit Pfeil 68"/>
          <p:cNvCxnSpPr>
            <a:stCxn id="41" idx="3"/>
            <a:endCxn id="61" idx="1"/>
          </p:cNvCxnSpPr>
          <p:nvPr/>
        </p:nvCxnSpPr>
        <p:spPr>
          <a:xfrm>
            <a:off x="6829457" y="4017626"/>
            <a:ext cx="619555" cy="2064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2" name="Grafik 41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4070151"/>
            <a:ext cx="349724" cy="303623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3" name="Grafik 42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3671815"/>
            <a:ext cx="351135" cy="307567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4" name="Grafik 43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2862616"/>
            <a:ext cx="346659" cy="346121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5" name="Grafik 44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3288232"/>
            <a:ext cx="346659" cy="305624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</p:spTree>
    <p:extLst>
      <p:ext uri="{BB962C8B-B14F-4D97-AF65-F5344CB8AC3E}">
        <p14:creationId xmlns:p14="http://schemas.microsoft.com/office/powerpoint/2010/main" val="415470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800" dirty="0" err="1" smtClean="0"/>
              <a:t>XBildung</a:t>
            </a:r>
            <a:r>
              <a:rPr lang="de-DE" sz="1800" dirty="0" smtClean="0"/>
              <a:t> nutzt EDCI nach und ist SDG- und XÖV-konform</a:t>
            </a:r>
            <a:endParaRPr lang="de-DE" sz="1800" dirty="0"/>
          </a:p>
        </p:txBody>
      </p:sp>
      <p:sp>
        <p:nvSpPr>
          <p:cNvPr id="3" name="Rechteck 2"/>
          <p:cNvSpPr/>
          <p:nvPr/>
        </p:nvSpPr>
        <p:spPr>
          <a:xfrm>
            <a:off x="1616827" y="3446976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XÖV</a:t>
            </a:r>
            <a:endParaRPr lang="de-DE" sz="1600" dirty="0"/>
          </a:p>
        </p:txBody>
      </p:sp>
      <p:sp>
        <p:nvSpPr>
          <p:cNvPr id="5" name="Textfeld 4"/>
          <p:cNvSpPr txBox="1"/>
          <p:nvPr/>
        </p:nvSpPr>
        <p:spPr>
          <a:xfrm>
            <a:off x="642937" y="1152308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600" dirty="0" smtClean="0"/>
              <a:t>Vererbungshierarchie</a:t>
            </a:r>
            <a:br>
              <a:rPr lang="de-DE" sz="1600" dirty="0" smtClean="0"/>
            </a:br>
            <a:r>
              <a:rPr lang="de-DE" sz="1600" dirty="0" smtClean="0"/>
              <a:t>der Datenmodelle</a:t>
            </a:r>
          </a:p>
        </p:txBody>
      </p:sp>
      <p:sp>
        <p:nvSpPr>
          <p:cNvPr id="6" name="Rechteck 5"/>
          <p:cNvSpPr/>
          <p:nvPr/>
        </p:nvSpPr>
        <p:spPr>
          <a:xfrm>
            <a:off x="1626617" y="3936431"/>
            <a:ext cx="2565401" cy="36671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err="1" smtClean="0"/>
              <a:t>XBildung</a:t>
            </a:r>
            <a:r>
              <a:rPr lang="de-DE" sz="1600" dirty="0" smtClean="0"/>
              <a:t> </a:t>
            </a:r>
            <a:endParaRPr lang="de-DE" sz="1600" dirty="0"/>
          </a:p>
        </p:txBody>
      </p:sp>
      <p:sp>
        <p:nvSpPr>
          <p:cNvPr id="7" name="Rechteck 6"/>
          <p:cNvSpPr/>
          <p:nvPr/>
        </p:nvSpPr>
        <p:spPr>
          <a:xfrm>
            <a:off x="132752" y="4676382"/>
            <a:ext cx="1402869" cy="2602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smtClean="0"/>
              <a:t>XHochschule</a:t>
            </a:r>
            <a:endParaRPr lang="de-DE" sz="1600" dirty="0"/>
          </a:p>
        </p:txBody>
      </p:sp>
      <p:sp>
        <p:nvSpPr>
          <p:cNvPr id="8" name="Rechteck 7"/>
          <p:cNvSpPr/>
          <p:nvPr/>
        </p:nvSpPr>
        <p:spPr>
          <a:xfrm>
            <a:off x="3406205" y="2990462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EDCI</a:t>
            </a:r>
            <a:endParaRPr lang="de-DE" sz="1600" dirty="0"/>
          </a:p>
        </p:txBody>
      </p:sp>
      <p:sp>
        <p:nvSpPr>
          <p:cNvPr id="14" name="Rechteck 13"/>
          <p:cNvSpPr/>
          <p:nvPr/>
        </p:nvSpPr>
        <p:spPr>
          <a:xfrm>
            <a:off x="2759959" y="2250511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W3C</a:t>
            </a:r>
            <a:endParaRPr lang="de-DE" sz="1600" dirty="0"/>
          </a:p>
        </p:txBody>
      </p:sp>
      <p:cxnSp>
        <p:nvCxnSpPr>
          <p:cNvPr id="47" name="Gerade Verbindung mit Pfeil 46"/>
          <p:cNvCxnSpPr>
            <a:stCxn id="6" idx="2"/>
            <a:endCxn id="7" idx="0"/>
          </p:cNvCxnSpPr>
          <p:nvPr/>
        </p:nvCxnSpPr>
        <p:spPr>
          <a:xfrm flipH="1">
            <a:off x="834187" y="4303143"/>
            <a:ext cx="2075131" cy="373239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hteck 31"/>
          <p:cNvSpPr/>
          <p:nvPr/>
        </p:nvSpPr>
        <p:spPr>
          <a:xfrm>
            <a:off x="2113714" y="2990462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SDG</a:t>
            </a:r>
            <a:endParaRPr lang="de-DE" sz="1600" dirty="0"/>
          </a:p>
        </p:txBody>
      </p:sp>
      <p:cxnSp>
        <p:nvCxnSpPr>
          <p:cNvPr id="39" name="Gerade Verbindung mit Pfeil 38"/>
          <p:cNvCxnSpPr>
            <a:stCxn id="8" idx="2"/>
            <a:endCxn id="6" idx="0"/>
          </p:cNvCxnSpPr>
          <p:nvPr/>
        </p:nvCxnSpPr>
        <p:spPr>
          <a:xfrm flipH="1">
            <a:off x="2909318" y="3357174"/>
            <a:ext cx="889794" cy="579257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Gerade Verbindung mit Pfeil 41"/>
          <p:cNvCxnSpPr>
            <a:stCxn id="14" idx="2"/>
            <a:endCxn id="8" idx="0"/>
          </p:cNvCxnSpPr>
          <p:nvPr/>
        </p:nvCxnSpPr>
        <p:spPr>
          <a:xfrm>
            <a:off x="3152866" y="2617223"/>
            <a:ext cx="646246" cy="373239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3" idx="2"/>
            <a:endCxn id="6" idx="0"/>
          </p:cNvCxnSpPr>
          <p:nvPr/>
        </p:nvCxnSpPr>
        <p:spPr>
          <a:xfrm>
            <a:off x="2009734" y="3813688"/>
            <a:ext cx="899584" cy="122743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Gerade Verbindung mit Pfeil 47"/>
          <p:cNvCxnSpPr>
            <a:stCxn id="32" idx="2"/>
            <a:endCxn id="6" idx="0"/>
          </p:cNvCxnSpPr>
          <p:nvPr/>
        </p:nvCxnSpPr>
        <p:spPr>
          <a:xfrm>
            <a:off x="2506621" y="3357174"/>
            <a:ext cx="402697" cy="579257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Gerade Verbindung mit Pfeil 54"/>
          <p:cNvCxnSpPr>
            <a:stCxn id="6" idx="2"/>
            <a:endCxn id="65" idx="0"/>
          </p:cNvCxnSpPr>
          <p:nvPr/>
        </p:nvCxnSpPr>
        <p:spPr>
          <a:xfrm flipH="1">
            <a:off x="2506621" y="4303143"/>
            <a:ext cx="402697" cy="362402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Rechteck 61"/>
          <p:cNvSpPr/>
          <p:nvPr/>
        </p:nvSpPr>
        <p:spPr>
          <a:xfrm>
            <a:off x="3088061" y="4665545"/>
            <a:ext cx="879094" cy="2602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i="1" dirty="0" err="1" smtClean="0"/>
              <a:t>XSchule</a:t>
            </a:r>
            <a:endParaRPr lang="de-DE" sz="1600" i="1" dirty="0"/>
          </a:p>
        </p:txBody>
      </p:sp>
      <p:sp>
        <p:nvSpPr>
          <p:cNvPr id="64" name="Rechteck 63"/>
          <p:cNvSpPr/>
          <p:nvPr/>
        </p:nvSpPr>
        <p:spPr>
          <a:xfrm>
            <a:off x="4358296" y="4665546"/>
            <a:ext cx="1576392" cy="2602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i="1" dirty="0" err="1" smtClean="0"/>
              <a:t>XWeiterbildung</a:t>
            </a:r>
            <a:endParaRPr lang="de-DE" sz="1600" i="1" dirty="0"/>
          </a:p>
        </p:txBody>
      </p:sp>
      <p:sp>
        <p:nvSpPr>
          <p:cNvPr id="65" name="Rechteck 64"/>
          <p:cNvSpPr/>
          <p:nvPr/>
        </p:nvSpPr>
        <p:spPr>
          <a:xfrm>
            <a:off x="2067074" y="4665545"/>
            <a:ext cx="879094" cy="2602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i="1" dirty="0" err="1" smtClean="0"/>
              <a:t>XBAföG</a:t>
            </a:r>
            <a:endParaRPr lang="de-DE" sz="1600" i="1" dirty="0"/>
          </a:p>
        </p:txBody>
      </p:sp>
      <p:cxnSp>
        <p:nvCxnSpPr>
          <p:cNvPr id="67" name="Gerade Verbindung mit Pfeil 66"/>
          <p:cNvCxnSpPr>
            <a:stCxn id="6" idx="2"/>
            <a:endCxn id="62" idx="0"/>
          </p:cNvCxnSpPr>
          <p:nvPr/>
        </p:nvCxnSpPr>
        <p:spPr>
          <a:xfrm>
            <a:off x="2909318" y="4303143"/>
            <a:ext cx="618290" cy="362402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Gerade Verbindung mit Pfeil 69"/>
          <p:cNvCxnSpPr>
            <a:stCxn id="6" idx="2"/>
            <a:endCxn id="64" idx="0"/>
          </p:cNvCxnSpPr>
          <p:nvPr/>
        </p:nvCxnSpPr>
        <p:spPr>
          <a:xfrm>
            <a:off x="2909318" y="4303143"/>
            <a:ext cx="2237174" cy="362403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Gerade Verbindung mit Pfeil 72"/>
          <p:cNvCxnSpPr>
            <a:stCxn id="14" idx="2"/>
            <a:endCxn id="32" idx="0"/>
          </p:cNvCxnSpPr>
          <p:nvPr/>
        </p:nvCxnSpPr>
        <p:spPr>
          <a:xfrm flipH="1">
            <a:off x="2506621" y="2617223"/>
            <a:ext cx="646245" cy="373239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Rechteck 92"/>
          <p:cNvSpPr/>
          <p:nvPr/>
        </p:nvSpPr>
        <p:spPr>
          <a:xfrm>
            <a:off x="451461" y="2990462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ELMO</a:t>
            </a:r>
            <a:endParaRPr lang="de-DE" sz="1600" dirty="0"/>
          </a:p>
        </p:txBody>
      </p:sp>
      <p:cxnSp>
        <p:nvCxnSpPr>
          <p:cNvPr id="94" name="Gerade Verbindung mit Pfeil 93"/>
          <p:cNvCxnSpPr>
            <a:stCxn id="93" idx="2"/>
            <a:endCxn id="7" idx="0"/>
          </p:cNvCxnSpPr>
          <p:nvPr/>
        </p:nvCxnSpPr>
        <p:spPr>
          <a:xfrm flipH="1">
            <a:off x="834187" y="3357174"/>
            <a:ext cx="10181" cy="1319208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Gerade Verbindung mit Pfeil 101"/>
          <p:cNvCxnSpPr>
            <a:stCxn id="8" idx="1"/>
            <a:endCxn id="32" idx="3"/>
          </p:cNvCxnSpPr>
          <p:nvPr/>
        </p:nvCxnSpPr>
        <p:spPr>
          <a:xfrm flipH="1">
            <a:off x="2899527" y="3173818"/>
            <a:ext cx="506678" cy="0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4956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800" dirty="0" err="1"/>
              <a:t>XBildung</a:t>
            </a:r>
            <a:r>
              <a:rPr lang="de-DE" sz="1800" dirty="0"/>
              <a:t> nutzt EDCI nach und ist SDG- und XÖV-konform</a:t>
            </a:r>
          </a:p>
        </p:txBody>
      </p:sp>
      <p:sp>
        <p:nvSpPr>
          <p:cNvPr id="3" name="Rechteck 2"/>
          <p:cNvSpPr/>
          <p:nvPr/>
        </p:nvSpPr>
        <p:spPr>
          <a:xfrm>
            <a:off x="1616827" y="3446976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XÖV</a:t>
            </a:r>
            <a:endParaRPr lang="de-DE" sz="1600" dirty="0"/>
          </a:p>
        </p:txBody>
      </p:sp>
      <p:sp>
        <p:nvSpPr>
          <p:cNvPr id="5" name="Textfeld 4"/>
          <p:cNvSpPr txBox="1"/>
          <p:nvPr/>
        </p:nvSpPr>
        <p:spPr>
          <a:xfrm>
            <a:off x="642937" y="1152308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600" dirty="0" smtClean="0"/>
              <a:t>Vererbungshierarchie</a:t>
            </a:r>
            <a:br>
              <a:rPr lang="de-DE" sz="1600" dirty="0" smtClean="0"/>
            </a:br>
            <a:r>
              <a:rPr lang="de-DE" sz="1600" dirty="0" smtClean="0"/>
              <a:t>der Datenmodelle</a:t>
            </a:r>
          </a:p>
        </p:txBody>
      </p:sp>
      <p:sp>
        <p:nvSpPr>
          <p:cNvPr id="6" name="Rechteck 5"/>
          <p:cNvSpPr/>
          <p:nvPr/>
        </p:nvSpPr>
        <p:spPr>
          <a:xfrm>
            <a:off x="1626617" y="3936431"/>
            <a:ext cx="2565401" cy="36671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err="1" smtClean="0"/>
              <a:t>XBildung</a:t>
            </a:r>
            <a:r>
              <a:rPr lang="de-DE" sz="1600" dirty="0" smtClean="0"/>
              <a:t> </a:t>
            </a:r>
            <a:endParaRPr lang="de-DE" sz="1600" dirty="0"/>
          </a:p>
        </p:txBody>
      </p:sp>
      <p:sp>
        <p:nvSpPr>
          <p:cNvPr id="7" name="Rechteck 6"/>
          <p:cNvSpPr/>
          <p:nvPr/>
        </p:nvSpPr>
        <p:spPr>
          <a:xfrm>
            <a:off x="132752" y="4676382"/>
            <a:ext cx="1402869" cy="2602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smtClean="0"/>
              <a:t>XHochschule</a:t>
            </a:r>
            <a:endParaRPr lang="de-DE" sz="1600" dirty="0"/>
          </a:p>
        </p:txBody>
      </p:sp>
      <p:sp>
        <p:nvSpPr>
          <p:cNvPr id="8" name="Rechteck 7"/>
          <p:cNvSpPr/>
          <p:nvPr/>
        </p:nvSpPr>
        <p:spPr>
          <a:xfrm>
            <a:off x="3406205" y="2990462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EDCI</a:t>
            </a:r>
            <a:endParaRPr lang="de-DE" sz="1600" dirty="0"/>
          </a:p>
        </p:txBody>
      </p:sp>
      <p:sp>
        <p:nvSpPr>
          <p:cNvPr id="14" name="Rechteck 13"/>
          <p:cNvSpPr/>
          <p:nvPr/>
        </p:nvSpPr>
        <p:spPr>
          <a:xfrm>
            <a:off x="2759959" y="2250511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W3C</a:t>
            </a:r>
            <a:endParaRPr lang="de-DE" sz="1600" dirty="0"/>
          </a:p>
        </p:txBody>
      </p:sp>
      <p:cxnSp>
        <p:nvCxnSpPr>
          <p:cNvPr id="47" name="Gerade Verbindung mit Pfeil 46"/>
          <p:cNvCxnSpPr>
            <a:stCxn id="6" idx="2"/>
            <a:endCxn id="7" idx="0"/>
          </p:cNvCxnSpPr>
          <p:nvPr/>
        </p:nvCxnSpPr>
        <p:spPr>
          <a:xfrm flipH="1">
            <a:off x="834187" y="4303143"/>
            <a:ext cx="2075131" cy="373239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hteck 29"/>
          <p:cNvSpPr/>
          <p:nvPr/>
        </p:nvSpPr>
        <p:spPr>
          <a:xfrm>
            <a:off x="7530844" y="3572436"/>
            <a:ext cx="1304812" cy="3310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Sportabzeichen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6878783" y="2006209"/>
            <a:ext cx="2238472" cy="29787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295849" y="2104815"/>
            <a:ext cx="1539807" cy="26834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600" dirty="0" smtClean="0">
                <a:solidFill>
                  <a:srgbClr val="FFFFFF"/>
                </a:solidFill>
              </a:rPr>
              <a:t>international</a:t>
            </a:r>
          </a:p>
        </p:txBody>
      </p:sp>
      <p:sp>
        <p:nvSpPr>
          <p:cNvPr id="38" name="Textfeld 37"/>
          <p:cNvSpPr txBox="1"/>
          <p:nvPr/>
        </p:nvSpPr>
        <p:spPr>
          <a:xfrm>
            <a:off x="7295848" y="3048027"/>
            <a:ext cx="1539807" cy="26834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200" dirty="0" smtClean="0">
                <a:solidFill>
                  <a:srgbClr val="FFFFFF"/>
                </a:solidFill>
              </a:rPr>
              <a:t>Europäisch / Bologna</a:t>
            </a:r>
          </a:p>
        </p:txBody>
      </p:sp>
      <p:sp>
        <p:nvSpPr>
          <p:cNvPr id="54" name="Textfeld 53"/>
          <p:cNvSpPr txBox="1"/>
          <p:nvPr/>
        </p:nvSpPr>
        <p:spPr>
          <a:xfrm>
            <a:off x="7295847" y="3566839"/>
            <a:ext cx="1539807" cy="26834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200" dirty="0" smtClean="0">
                <a:solidFill>
                  <a:srgbClr val="FFFFFF"/>
                </a:solidFill>
              </a:rPr>
              <a:t>National / OZG</a:t>
            </a:r>
          </a:p>
        </p:txBody>
      </p:sp>
      <p:sp>
        <p:nvSpPr>
          <p:cNvPr id="56" name="Textfeld 55"/>
          <p:cNvSpPr txBox="1"/>
          <p:nvPr/>
        </p:nvSpPr>
        <p:spPr>
          <a:xfrm>
            <a:off x="6930795" y="4013291"/>
            <a:ext cx="1539807" cy="26834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200" dirty="0" smtClean="0">
                <a:solidFill>
                  <a:srgbClr val="FFFFFF"/>
                </a:solidFill>
              </a:rPr>
              <a:t>Bildungswesen allgemein</a:t>
            </a:r>
          </a:p>
        </p:txBody>
      </p:sp>
      <p:sp>
        <p:nvSpPr>
          <p:cNvPr id="57" name="Textfeld 56"/>
          <p:cNvSpPr txBox="1"/>
          <p:nvPr/>
        </p:nvSpPr>
        <p:spPr>
          <a:xfrm>
            <a:off x="6947391" y="4527318"/>
            <a:ext cx="1539807" cy="26834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200" dirty="0" smtClean="0">
                <a:solidFill>
                  <a:srgbClr val="FFFFFF"/>
                </a:solidFill>
              </a:rPr>
              <a:t>Bildungswesen spezifisch</a:t>
            </a:r>
            <a:br>
              <a:rPr lang="de-DE" sz="1200" dirty="0" smtClean="0">
                <a:solidFill>
                  <a:srgbClr val="FFFFFF"/>
                </a:solidFill>
              </a:rPr>
            </a:br>
            <a:r>
              <a:rPr lang="de-DE" sz="1200" dirty="0" smtClean="0">
                <a:solidFill>
                  <a:srgbClr val="FFFFFF"/>
                </a:solidFill>
              </a:rPr>
              <a:t>(</a:t>
            </a:r>
            <a:r>
              <a:rPr lang="de-DE" sz="1200" dirty="0" err="1" smtClean="0">
                <a:solidFill>
                  <a:srgbClr val="FFFFFF"/>
                </a:solidFill>
              </a:rPr>
              <a:t>z.b.</a:t>
            </a:r>
            <a:r>
              <a:rPr lang="de-DE" sz="1200" dirty="0" smtClean="0">
                <a:solidFill>
                  <a:srgbClr val="FFFFFF"/>
                </a:solidFill>
              </a:rPr>
              <a:t> Hochschulwesen)</a:t>
            </a:r>
          </a:p>
        </p:txBody>
      </p:sp>
      <p:sp>
        <p:nvSpPr>
          <p:cNvPr id="63" name="Textfeld 62"/>
          <p:cNvSpPr txBox="1"/>
          <p:nvPr/>
        </p:nvSpPr>
        <p:spPr>
          <a:xfrm>
            <a:off x="6971912" y="814167"/>
            <a:ext cx="914400" cy="59109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600" dirty="0" smtClean="0"/>
              <a:t>Zu berücksichtigende </a:t>
            </a:r>
            <a:br>
              <a:rPr lang="de-DE" sz="1600" dirty="0" smtClean="0"/>
            </a:br>
            <a:r>
              <a:rPr lang="de-DE" sz="1600" dirty="0" smtClean="0"/>
              <a:t>Ebene der </a:t>
            </a:r>
            <a:br>
              <a:rPr lang="de-DE" sz="1600" dirty="0" smtClean="0"/>
            </a:br>
            <a:r>
              <a:rPr lang="de-DE" sz="1600" dirty="0" smtClean="0"/>
              <a:t>Anwendungsfälle</a:t>
            </a:r>
          </a:p>
        </p:txBody>
      </p:sp>
      <p:sp>
        <p:nvSpPr>
          <p:cNvPr id="32" name="Rechteck 31"/>
          <p:cNvSpPr/>
          <p:nvPr/>
        </p:nvSpPr>
        <p:spPr>
          <a:xfrm>
            <a:off x="2113714" y="2990462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SDG</a:t>
            </a:r>
            <a:endParaRPr lang="de-DE" sz="1600" dirty="0"/>
          </a:p>
        </p:txBody>
      </p:sp>
      <p:cxnSp>
        <p:nvCxnSpPr>
          <p:cNvPr id="39" name="Gerade Verbindung mit Pfeil 38"/>
          <p:cNvCxnSpPr>
            <a:stCxn id="8" idx="2"/>
            <a:endCxn id="6" idx="0"/>
          </p:cNvCxnSpPr>
          <p:nvPr/>
        </p:nvCxnSpPr>
        <p:spPr>
          <a:xfrm flipH="1">
            <a:off x="2909318" y="3357174"/>
            <a:ext cx="889794" cy="579257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Gerade Verbindung mit Pfeil 41"/>
          <p:cNvCxnSpPr>
            <a:stCxn id="14" idx="2"/>
            <a:endCxn id="8" idx="0"/>
          </p:cNvCxnSpPr>
          <p:nvPr/>
        </p:nvCxnSpPr>
        <p:spPr>
          <a:xfrm>
            <a:off x="3152866" y="2617223"/>
            <a:ext cx="646246" cy="373239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3" idx="2"/>
            <a:endCxn id="6" idx="0"/>
          </p:cNvCxnSpPr>
          <p:nvPr/>
        </p:nvCxnSpPr>
        <p:spPr>
          <a:xfrm>
            <a:off x="2009734" y="3813688"/>
            <a:ext cx="899584" cy="122743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Gerade Verbindung mit Pfeil 47"/>
          <p:cNvCxnSpPr>
            <a:stCxn id="32" idx="2"/>
            <a:endCxn id="6" idx="0"/>
          </p:cNvCxnSpPr>
          <p:nvPr/>
        </p:nvCxnSpPr>
        <p:spPr>
          <a:xfrm>
            <a:off x="2506621" y="3357174"/>
            <a:ext cx="402697" cy="579257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Gerade Verbindung mit Pfeil 54"/>
          <p:cNvCxnSpPr>
            <a:stCxn id="6" idx="2"/>
            <a:endCxn id="65" idx="0"/>
          </p:cNvCxnSpPr>
          <p:nvPr/>
        </p:nvCxnSpPr>
        <p:spPr>
          <a:xfrm flipH="1">
            <a:off x="2506621" y="4303143"/>
            <a:ext cx="402697" cy="362402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Rechteck 61"/>
          <p:cNvSpPr/>
          <p:nvPr/>
        </p:nvSpPr>
        <p:spPr>
          <a:xfrm>
            <a:off x="3088061" y="4665545"/>
            <a:ext cx="879094" cy="2602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i="1" dirty="0" err="1" smtClean="0"/>
              <a:t>XSchule</a:t>
            </a:r>
            <a:endParaRPr lang="de-DE" sz="1600" i="1" dirty="0"/>
          </a:p>
        </p:txBody>
      </p:sp>
      <p:sp>
        <p:nvSpPr>
          <p:cNvPr id="64" name="Rechteck 63"/>
          <p:cNvSpPr/>
          <p:nvPr/>
        </p:nvSpPr>
        <p:spPr>
          <a:xfrm>
            <a:off x="4358296" y="4665546"/>
            <a:ext cx="1576392" cy="2602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i="1" dirty="0" err="1" smtClean="0"/>
              <a:t>XWeiterbildung</a:t>
            </a:r>
            <a:endParaRPr lang="de-DE" sz="1600" i="1" dirty="0"/>
          </a:p>
        </p:txBody>
      </p:sp>
      <p:sp>
        <p:nvSpPr>
          <p:cNvPr id="65" name="Rechteck 64"/>
          <p:cNvSpPr/>
          <p:nvPr/>
        </p:nvSpPr>
        <p:spPr>
          <a:xfrm>
            <a:off x="2067074" y="4665545"/>
            <a:ext cx="879094" cy="2602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i="1" dirty="0" err="1" smtClean="0"/>
              <a:t>XBAföG</a:t>
            </a:r>
            <a:endParaRPr lang="de-DE" sz="1600" i="1" dirty="0"/>
          </a:p>
        </p:txBody>
      </p:sp>
      <p:cxnSp>
        <p:nvCxnSpPr>
          <p:cNvPr id="67" name="Gerade Verbindung mit Pfeil 66"/>
          <p:cNvCxnSpPr>
            <a:stCxn id="6" idx="2"/>
            <a:endCxn id="62" idx="0"/>
          </p:cNvCxnSpPr>
          <p:nvPr/>
        </p:nvCxnSpPr>
        <p:spPr>
          <a:xfrm>
            <a:off x="2909318" y="4303143"/>
            <a:ext cx="618290" cy="362402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Gerade Verbindung mit Pfeil 69"/>
          <p:cNvCxnSpPr>
            <a:stCxn id="6" idx="2"/>
            <a:endCxn id="64" idx="0"/>
          </p:cNvCxnSpPr>
          <p:nvPr/>
        </p:nvCxnSpPr>
        <p:spPr>
          <a:xfrm>
            <a:off x="2909318" y="4303143"/>
            <a:ext cx="2237174" cy="362403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Gerade Verbindung mit Pfeil 72"/>
          <p:cNvCxnSpPr>
            <a:stCxn id="14" idx="2"/>
            <a:endCxn id="32" idx="0"/>
          </p:cNvCxnSpPr>
          <p:nvPr/>
        </p:nvCxnSpPr>
        <p:spPr>
          <a:xfrm flipH="1">
            <a:off x="2506621" y="2617223"/>
            <a:ext cx="646245" cy="373239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Rechteck 92"/>
          <p:cNvSpPr/>
          <p:nvPr/>
        </p:nvSpPr>
        <p:spPr>
          <a:xfrm>
            <a:off x="451461" y="2990462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ELMO</a:t>
            </a:r>
            <a:endParaRPr lang="de-DE" sz="1600" dirty="0"/>
          </a:p>
        </p:txBody>
      </p:sp>
      <p:cxnSp>
        <p:nvCxnSpPr>
          <p:cNvPr id="94" name="Gerade Verbindung mit Pfeil 93"/>
          <p:cNvCxnSpPr>
            <a:stCxn id="93" idx="2"/>
            <a:endCxn id="7" idx="0"/>
          </p:cNvCxnSpPr>
          <p:nvPr/>
        </p:nvCxnSpPr>
        <p:spPr>
          <a:xfrm flipH="1">
            <a:off x="834187" y="3357174"/>
            <a:ext cx="10181" cy="1319208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Gerade Verbindung mit Pfeil 101"/>
          <p:cNvCxnSpPr>
            <a:stCxn id="8" idx="1"/>
            <a:endCxn id="32" idx="3"/>
          </p:cNvCxnSpPr>
          <p:nvPr/>
        </p:nvCxnSpPr>
        <p:spPr>
          <a:xfrm flipH="1">
            <a:off x="2899527" y="3173818"/>
            <a:ext cx="506678" cy="0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Rechteck 109"/>
          <p:cNvSpPr/>
          <p:nvPr/>
        </p:nvSpPr>
        <p:spPr>
          <a:xfrm>
            <a:off x="132752" y="2006210"/>
            <a:ext cx="8992198" cy="643612"/>
          </a:xfrm>
          <a:prstGeom prst="rect">
            <a:avLst/>
          </a:prstGeom>
          <a:solidFill>
            <a:schemeClr val="bg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1" name="Rechteck 110"/>
          <p:cNvSpPr/>
          <p:nvPr/>
        </p:nvSpPr>
        <p:spPr>
          <a:xfrm>
            <a:off x="132752" y="2916434"/>
            <a:ext cx="8992198" cy="492734"/>
          </a:xfrm>
          <a:prstGeom prst="rect">
            <a:avLst/>
          </a:prstGeom>
          <a:solidFill>
            <a:schemeClr val="bg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2" name="Rechteck 111"/>
          <p:cNvSpPr/>
          <p:nvPr/>
        </p:nvSpPr>
        <p:spPr>
          <a:xfrm>
            <a:off x="125057" y="3451623"/>
            <a:ext cx="8992198" cy="408227"/>
          </a:xfrm>
          <a:prstGeom prst="rect">
            <a:avLst/>
          </a:prstGeom>
          <a:solidFill>
            <a:schemeClr val="bg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3" name="Rechteck 112"/>
          <p:cNvSpPr/>
          <p:nvPr/>
        </p:nvSpPr>
        <p:spPr>
          <a:xfrm>
            <a:off x="132752" y="3926360"/>
            <a:ext cx="8992198" cy="408227"/>
          </a:xfrm>
          <a:prstGeom prst="rect">
            <a:avLst/>
          </a:prstGeom>
          <a:solidFill>
            <a:schemeClr val="bg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4" name="Rechteck 113"/>
          <p:cNvSpPr/>
          <p:nvPr/>
        </p:nvSpPr>
        <p:spPr>
          <a:xfrm>
            <a:off x="115266" y="4530295"/>
            <a:ext cx="8992198" cy="454697"/>
          </a:xfrm>
          <a:prstGeom prst="rect">
            <a:avLst/>
          </a:prstGeom>
          <a:solidFill>
            <a:schemeClr val="bg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9275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/>
          <p:cNvSpPr/>
          <p:nvPr/>
        </p:nvSpPr>
        <p:spPr>
          <a:xfrm>
            <a:off x="500768" y="2198888"/>
            <a:ext cx="2722359" cy="286857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800" dirty="0" smtClean="0"/>
              <a:t>XHochschule und </a:t>
            </a:r>
            <a:r>
              <a:rPr lang="de-DE" sz="1800" dirty="0" err="1" smtClean="0"/>
              <a:t>XBildung</a:t>
            </a:r>
            <a:r>
              <a:rPr lang="de-DE" sz="1800" dirty="0" smtClean="0"/>
              <a:t> nutzen XÖV und EDCI nach</a:t>
            </a:r>
            <a:endParaRPr lang="de-DE" sz="1800" dirty="0"/>
          </a:p>
        </p:txBody>
      </p:sp>
      <p:sp>
        <p:nvSpPr>
          <p:cNvPr id="3" name="Rechteck 2"/>
          <p:cNvSpPr/>
          <p:nvPr/>
        </p:nvSpPr>
        <p:spPr>
          <a:xfrm>
            <a:off x="567339" y="3449821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XÖV</a:t>
            </a:r>
            <a:endParaRPr lang="de-DE" sz="1600" dirty="0"/>
          </a:p>
        </p:txBody>
      </p:sp>
      <p:sp>
        <p:nvSpPr>
          <p:cNvPr id="5" name="Textfeld 4"/>
          <p:cNvSpPr txBox="1"/>
          <p:nvPr/>
        </p:nvSpPr>
        <p:spPr>
          <a:xfrm>
            <a:off x="642937" y="1152308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600" dirty="0" smtClean="0"/>
              <a:t>Vererbungshierarchie</a:t>
            </a:r>
            <a:br>
              <a:rPr lang="de-DE" sz="1600" dirty="0" smtClean="0"/>
            </a:br>
            <a:r>
              <a:rPr lang="de-DE" sz="1600" dirty="0" smtClean="0"/>
              <a:t>der Datenmodelle</a:t>
            </a:r>
          </a:p>
        </p:txBody>
      </p:sp>
      <p:sp>
        <p:nvSpPr>
          <p:cNvPr id="6" name="Rechteck 5"/>
          <p:cNvSpPr/>
          <p:nvPr/>
        </p:nvSpPr>
        <p:spPr>
          <a:xfrm>
            <a:off x="539257" y="3934239"/>
            <a:ext cx="2565401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err="1" smtClean="0"/>
              <a:t>XBildung</a:t>
            </a:r>
            <a:r>
              <a:rPr lang="de-DE" sz="1600" dirty="0" smtClean="0"/>
              <a:t> </a:t>
            </a:r>
            <a:endParaRPr lang="de-DE" sz="1600" dirty="0"/>
          </a:p>
        </p:txBody>
      </p:sp>
      <p:sp>
        <p:nvSpPr>
          <p:cNvPr id="7" name="Rechteck 6"/>
          <p:cNvSpPr/>
          <p:nvPr/>
        </p:nvSpPr>
        <p:spPr>
          <a:xfrm>
            <a:off x="543811" y="4570139"/>
            <a:ext cx="2565400" cy="2602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smtClean="0"/>
              <a:t>XHochschule</a:t>
            </a:r>
            <a:endParaRPr lang="de-DE" sz="1600" dirty="0"/>
          </a:p>
        </p:txBody>
      </p:sp>
      <p:sp>
        <p:nvSpPr>
          <p:cNvPr id="8" name="Rechteck 7"/>
          <p:cNvSpPr/>
          <p:nvPr/>
        </p:nvSpPr>
        <p:spPr>
          <a:xfrm>
            <a:off x="2323399" y="2977984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EDCI</a:t>
            </a:r>
            <a:endParaRPr lang="de-DE" sz="1600" dirty="0"/>
          </a:p>
        </p:txBody>
      </p:sp>
      <p:sp>
        <p:nvSpPr>
          <p:cNvPr id="14" name="Rechteck 13"/>
          <p:cNvSpPr/>
          <p:nvPr/>
        </p:nvSpPr>
        <p:spPr>
          <a:xfrm>
            <a:off x="1738608" y="2383532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W3C</a:t>
            </a:r>
            <a:endParaRPr lang="de-DE" sz="1600" dirty="0"/>
          </a:p>
        </p:txBody>
      </p:sp>
      <p:sp>
        <p:nvSpPr>
          <p:cNvPr id="18" name="Rechteck 17"/>
          <p:cNvSpPr/>
          <p:nvPr/>
        </p:nvSpPr>
        <p:spPr>
          <a:xfrm>
            <a:off x="2323399" y="3942138"/>
            <a:ext cx="778963" cy="3310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EDCI.de(?)</a:t>
            </a:r>
            <a:endParaRPr lang="de-DE" sz="1050" dirty="0">
              <a:solidFill>
                <a:schemeClr val="tx1"/>
              </a:solidFill>
            </a:endParaRPr>
          </a:p>
        </p:txBody>
      </p:sp>
      <p:cxnSp>
        <p:nvCxnSpPr>
          <p:cNvPr id="21" name="Gerade Verbindung mit Pfeil 20"/>
          <p:cNvCxnSpPr>
            <a:stCxn id="29" idx="0"/>
            <a:endCxn id="27" idx="2"/>
          </p:cNvCxnSpPr>
          <p:nvPr/>
        </p:nvCxnSpPr>
        <p:spPr>
          <a:xfrm flipH="1" flipV="1">
            <a:off x="5217239" y="3830014"/>
            <a:ext cx="344039" cy="1686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Gerade Verbindung mit Pfeil 25"/>
          <p:cNvCxnSpPr>
            <a:stCxn id="14" idx="2"/>
            <a:endCxn id="3" idx="0"/>
          </p:cNvCxnSpPr>
          <p:nvPr/>
        </p:nvCxnSpPr>
        <p:spPr>
          <a:xfrm flipH="1">
            <a:off x="960246" y="2750244"/>
            <a:ext cx="1171269" cy="699577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Gerade Verbindung mit Pfeil 36"/>
          <p:cNvCxnSpPr>
            <a:stCxn id="14" idx="2"/>
            <a:endCxn id="8" idx="0"/>
          </p:cNvCxnSpPr>
          <p:nvPr/>
        </p:nvCxnSpPr>
        <p:spPr>
          <a:xfrm>
            <a:off x="2131515" y="2750244"/>
            <a:ext cx="584791" cy="227740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Gerade Verbindung mit Pfeil 40"/>
          <p:cNvCxnSpPr>
            <a:stCxn id="8" idx="2"/>
            <a:endCxn id="18" idx="0"/>
          </p:cNvCxnSpPr>
          <p:nvPr/>
        </p:nvCxnSpPr>
        <p:spPr>
          <a:xfrm flipH="1">
            <a:off x="2712881" y="3344696"/>
            <a:ext cx="3425" cy="597442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>
            <a:off x="1821957" y="4273208"/>
            <a:ext cx="0" cy="173088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hteck 26"/>
          <p:cNvSpPr/>
          <p:nvPr/>
        </p:nvSpPr>
        <p:spPr>
          <a:xfrm>
            <a:off x="4773542" y="3498944"/>
            <a:ext cx="887394" cy="3310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smtClean="0">
                <a:solidFill>
                  <a:schemeClr val="tx1"/>
                </a:solidFill>
              </a:rPr>
              <a:t>Zeugnis</a:t>
            </a:r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" name="Rechteck 27"/>
          <p:cNvSpPr/>
          <p:nvPr/>
        </p:nvSpPr>
        <p:spPr>
          <a:xfrm>
            <a:off x="3712008" y="4009209"/>
            <a:ext cx="1279580" cy="32048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Hochschulzeugnis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29" name="Rechteck 28"/>
          <p:cNvSpPr/>
          <p:nvPr/>
        </p:nvSpPr>
        <p:spPr>
          <a:xfrm>
            <a:off x="5054210" y="3998627"/>
            <a:ext cx="1014135" cy="3310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Abiturzeugnis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30" name="Rechteck 29"/>
          <p:cNvSpPr/>
          <p:nvPr/>
        </p:nvSpPr>
        <p:spPr>
          <a:xfrm>
            <a:off x="7530844" y="3572436"/>
            <a:ext cx="1304812" cy="3310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Sportabzeichen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31" name="Rechteck 30"/>
          <p:cNvSpPr/>
          <p:nvPr/>
        </p:nvSpPr>
        <p:spPr>
          <a:xfrm>
            <a:off x="4181142" y="2316686"/>
            <a:ext cx="1806426" cy="3310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 smtClean="0">
                <a:solidFill>
                  <a:schemeClr val="tx1"/>
                </a:solidFill>
              </a:rPr>
              <a:t>Verifiable</a:t>
            </a:r>
            <a:r>
              <a:rPr lang="de-DE" sz="1400" dirty="0" smtClean="0">
                <a:solidFill>
                  <a:schemeClr val="tx1"/>
                </a:solidFill>
              </a:rPr>
              <a:t> </a:t>
            </a:r>
            <a:r>
              <a:rPr lang="de-DE" sz="1400" dirty="0" err="1" smtClean="0">
                <a:solidFill>
                  <a:schemeClr val="tx1"/>
                </a:solidFill>
              </a:rPr>
              <a:t>credential</a:t>
            </a:r>
            <a:endParaRPr lang="de-DE" sz="1400" dirty="0">
              <a:solidFill>
                <a:schemeClr val="tx1"/>
              </a:solidFill>
            </a:endParaRPr>
          </a:p>
        </p:txBody>
      </p:sp>
      <p:cxnSp>
        <p:nvCxnSpPr>
          <p:cNvPr id="32" name="Gerade Verbindung mit Pfeil 31"/>
          <p:cNvCxnSpPr>
            <a:endCxn id="27" idx="0"/>
          </p:cNvCxnSpPr>
          <p:nvPr/>
        </p:nvCxnSpPr>
        <p:spPr>
          <a:xfrm flipH="1">
            <a:off x="5217239" y="3286567"/>
            <a:ext cx="416820" cy="212377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Gerade Verbindung mit Pfeil 33"/>
          <p:cNvCxnSpPr>
            <a:stCxn id="27" idx="2"/>
            <a:endCxn id="28" idx="0"/>
          </p:cNvCxnSpPr>
          <p:nvPr/>
        </p:nvCxnSpPr>
        <p:spPr>
          <a:xfrm flipH="1">
            <a:off x="4351798" y="3830014"/>
            <a:ext cx="865441" cy="179195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Gerade Verbindung mit Pfeil 35"/>
          <p:cNvCxnSpPr>
            <a:stCxn id="49" idx="2"/>
            <a:endCxn id="48" idx="0"/>
          </p:cNvCxnSpPr>
          <p:nvPr/>
        </p:nvCxnSpPr>
        <p:spPr>
          <a:xfrm>
            <a:off x="6333368" y="3827294"/>
            <a:ext cx="341492" cy="174172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chteck 41"/>
          <p:cNvSpPr/>
          <p:nvPr/>
        </p:nvSpPr>
        <p:spPr>
          <a:xfrm>
            <a:off x="3547404" y="2977984"/>
            <a:ext cx="1137867" cy="331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err="1" smtClean="0"/>
              <a:t>Issuer</a:t>
            </a:r>
            <a:endParaRPr lang="de-DE" sz="1600" dirty="0"/>
          </a:p>
        </p:txBody>
      </p:sp>
      <p:sp>
        <p:nvSpPr>
          <p:cNvPr id="45" name="Rechteck 44"/>
          <p:cNvSpPr/>
          <p:nvPr/>
        </p:nvSpPr>
        <p:spPr>
          <a:xfrm>
            <a:off x="3704016" y="4555245"/>
            <a:ext cx="3073049" cy="17396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dirty="0" smtClean="0">
                <a:solidFill>
                  <a:schemeClr val="tx1"/>
                </a:solidFill>
              </a:rPr>
              <a:t>Nachricht: XHochschule.Abschluss_ausstellen.0100</a:t>
            </a:r>
            <a:endParaRPr lang="de-DE" sz="1000" dirty="0">
              <a:solidFill>
                <a:schemeClr val="tx1"/>
              </a:solidFill>
            </a:endParaRPr>
          </a:p>
        </p:txBody>
      </p:sp>
      <p:sp>
        <p:nvSpPr>
          <p:cNvPr id="46" name="Rechteck 45"/>
          <p:cNvSpPr/>
          <p:nvPr/>
        </p:nvSpPr>
        <p:spPr>
          <a:xfrm>
            <a:off x="3704016" y="4761294"/>
            <a:ext cx="3073049" cy="2215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dirty="0" smtClean="0">
                <a:solidFill>
                  <a:schemeClr val="tx1"/>
                </a:solidFill>
              </a:rPr>
              <a:t>Nachricht: XHochschule.Studienplatzwechsel.0200</a:t>
            </a:r>
            <a:endParaRPr lang="de-DE" sz="1000" dirty="0">
              <a:solidFill>
                <a:schemeClr val="tx1"/>
              </a:solidFill>
            </a:endParaRPr>
          </a:p>
        </p:txBody>
      </p:sp>
      <p:sp>
        <p:nvSpPr>
          <p:cNvPr id="48" name="Rechteck 47"/>
          <p:cNvSpPr/>
          <p:nvPr/>
        </p:nvSpPr>
        <p:spPr>
          <a:xfrm>
            <a:off x="6116327" y="4001466"/>
            <a:ext cx="1117065" cy="3310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Sprachzertifikat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49" name="Rechteck 48"/>
          <p:cNvSpPr/>
          <p:nvPr/>
        </p:nvSpPr>
        <p:spPr>
          <a:xfrm>
            <a:off x="5889671" y="3496224"/>
            <a:ext cx="887394" cy="3310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smtClean="0">
                <a:solidFill>
                  <a:schemeClr val="tx1"/>
                </a:solidFill>
              </a:rPr>
              <a:t>Zertifikat</a:t>
            </a:r>
            <a:endParaRPr lang="de-DE" sz="1400" dirty="0">
              <a:solidFill>
                <a:schemeClr val="tx1"/>
              </a:solidFill>
            </a:endParaRPr>
          </a:p>
        </p:txBody>
      </p:sp>
      <p:cxnSp>
        <p:nvCxnSpPr>
          <p:cNvPr id="55" name="Gerade Verbindung mit Pfeil 54"/>
          <p:cNvCxnSpPr>
            <a:stCxn id="66" idx="2"/>
          </p:cNvCxnSpPr>
          <p:nvPr/>
        </p:nvCxnSpPr>
        <p:spPr>
          <a:xfrm>
            <a:off x="5826761" y="3286567"/>
            <a:ext cx="439080" cy="197574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Gerade Verbindung mit Pfeil 57"/>
          <p:cNvCxnSpPr>
            <a:stCxn id="31" idx="2"/>
          </p:cNvCxnSpPr>
          <p:nvPr/>
        </p:nvCxnSpPr>
        <p:spPr>
          <a:xfrm>
            <a:off x="5084355" y="2647756"/>
            <a:ext cx="685316" cy="291820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hteck 8"/>
          <p:cNvSpPr/>
          <p:nvPr/>
        </p:nvSpPr>
        <p:spPr>
          <a:xfrm>
            <a:off x="7317657" y="2060477"/>
            <a:ext cx="1807293" cy="30323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91400" y="2404981"/>
            <a:ext cx="1539807" cy="26834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600" dirty="0" smtClean="0">
                <a:solidFill>
                  <a:srgbClr val="FFFFFF"/>
                </a:solidFill>
              </a:rPr>
              <a:t>international</a:t>
            </a:r>
          </a:p>
        </p:txBody>
      </p:sp>
      <p:sp>
        <p:nvSpPr>
          <p:cNvPr id="38" name="Textfeld 37"/>
          <p:cNvSpPr txBox="1"/>
          <p:nvPr/>
        </p:nvSpPr>
        <p:spPr>
          <a:xfrm>
            <a:off x="7360245" y="3027167"/>
            <a:ext cx="1539807" cy="26834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200" dirty="0" smtClean="0">
                <a:solidFill>
                  <a:srgbClr val="FFFFFF"/>
                </a:solidFill>
              </a:rPr>
              <a:t>Europäisch / Bologna</a:t>
            </a:r>
          </a:p>
        </p:txBody>
      </p:sp>
      <p:cxnSp>
        <p:nvCxnSpPr>
          <p:cNvPr id="51" name="Gerade Verbindung mit Pfeil 50"/>
          <p:cNvCxnSpPr>
            <a:stCxn id="3" idx="2"/>
            <a:endCxn id="6" idx="0"/>
          </p:cNvCxnSpPr>
          <p:nvPr/>
        </p:nvCxnSpPr>
        <p:spPr>
          <a:xfrm>
            <a:off x="960246" y="3816533"/>
            <a:ext cx="861712" cy="117706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feld 53"/>
          <p:cNvSpPr txBox="1"/>
          <p:nvPr/>
        </p:nvSpPr>
        <p:spPr>
          <a:xfrm>
            <a:off x="7372868" y="3576361"/>
            <a:ext cx="1539807" cy="26834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200" dirty="0" smtClean="0">
                <a:solidFill>
                  <a:srgbClr val="FFFFFF"/>
                </a:solidFill>
              </a:rPr>
              <a:t>National</a:t>
            </a:r>
          </a:p>
        </p:txBody>
      </p:sp>
      <p:sp>
        <p:nvSpPr>
          <p:cNvPr id="56" name="Textfeld 55"/>
          <p:cNvSpPr txBox="1"/>
          <p:nvPr/>
        </p:nvSpPr>
        <p:spPr>
          <a:xfrm>
            <a:off x="7391399" y="4061351"/>
            <a:ext cx="1539807" cy="26834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200" dirty="0" smtClean="0">
                <a:solidFill>
                  <a:srgbClr val="FFFFFF"/>
                </a:solidFill>
              </a:rPr>
              <a:t>Bildungswesen</a:t>
            </a:r>
          </a:p>
        </p:txBody>
      </p:sp>
      <p:sp>
        <p:nvSpPr>
          <p:cNvPr id="57" name="Textfeld 56"/>
          <p:cNvSpPr txBox="1"/>
          <p:nvPr/>
        </p:nvSpPr>
        <p:spPr>
          <a:xfrm>
            <a:off x="7429112" y="4672768"/>
            <a:ext cx="1539807" cy="26834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200" dirty="0" smtClean="0">
                <a:solidFill>
                  <a:srgbClr val="FFFFFF"/>
                </a:solidFill>
              </a:rPr>
              <a:t>Hochschulwesen</a:t>
            </a:r>
          </a:p>
        </p:txBody>
      </p:sp>
      <p:sp>
        <p:nvSpPr>
          <p:cNvPr id="66" name="Rechteck 65"/>
          <p:cNvSpPr/>
          <p:nvPr/>
        </p:nvSpPr>
        <p:spPr>
          <a:xfrm>
            <a:off x="4851808" y="2955497"/>
            <a:ext cx="1949905" cy="3310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European </a:t>
            </a:r>
            <a:br>
              <a:rPr lang="de-DE" sz="1050" dirty="0" smtClean="0">
                <a:solidFill>
                  <a:schemeClr val="tx1"/>
                </a:solidFill>
              </a:rPr>
            </a:br>
            <a:r>
              <a:rPr lang="de-DE" sz="1050" dirty="0" err="1" smtClean="0">
                <a:solidFill>
                  <a:schemeClr val="tx1"/>
                </a:solidFill>
              </a:rPr>
              <a:t>educational</a:t>
            </a:r>
            <a:r>
              <a:rPr lang="de-DE" sz="1050" dirty="0" smtClean="0">
                <a:solidFill>
                  <a:schemeClr val="tx1"/>
                </a:solidFill>
              </a:rPr>
              <a:t> </a:t>
            </a:r>
            <a:r>
              <a:rPr lang="de-DE" sz="1050" dirty="0" err="1" smtClean="0">
                <a:solidFill>
                  <a:schemeClr val="tx1"/>
                </a:solidFill>
              </a:rPr>
              <a:t>credential</a:t>
            </a:r>
            <a:r>
              <a:rPr lang="de-DE" sz="1050" dirty="0" smtClean="0">
                <a:solidFill>
                  <a:schemeClr val="tx1"/>
                </a:solidFill>
              </a:rPr>
              <a:t> 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78" name="Rechteck 77"/>
          <p:cNvSpPr/>
          <p:nvPr/>
        </p:nvSpPr>
        <p:spPr>
          <a:xfrm>
            <a:off x="1400913" y="3449821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OZG</a:t>
            </a:r>
            <a:endParaRPr lang="de-DE" sz="1600" dirty="0"/>
          </a:p>
        </p:txBody>
      </p:sp>
      <p:cxnSp>
        <p:nvCxnSpPr>
          <p:cNvPr id="79" name="Gerade Verbindung mit Pfeil 78"/>
          <p:cNvCxnSpPr>
            <a:stCxn id="14" idx="2"/>
            <a:endCxn id="78" idx="0"/>
          </p:cNvCxnSpPr>
          <p:nvPr/>
        </p:nvCxnSpPr>
        <p:spPr>
          <a:xfrm flipH="1">
            <a:off x="1793820" y="2750244"/>
            <a:ext cx="337695" cy="699577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hteck 3"/>
          <p:cNvSpPr/>
          <p:nvPr/>
        </p:nvSpPr>
        <p:spPr>
          <a:xfrm>
            <a:off x="544665" y="2225991"/>
            <a:ext cx="8517395" cy="586969"/>
          </a:xfrm>
          <a:prstGeom prst="rect">
            <a:avLst/>
          </a:prstGeom>
          <a:solidFill>
            <a:schemeClr val="bg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0" name="Rechteck 39"/>
          <p:cNvSpPr/>
          <p:nvPr/>
        </p:nvSpPr>
        <p:spPr>
          <a:xfrm>
            <a:off x="550179" y="2898717"/>
            <a:ext cx="8517395" cy="477230"/>
          </a:xfrm>
          <a:prstGeom prst="rect">
            <a:avLst/>
          </a:prstGeom>
          <a:solidFill>
            <a:schemeClr val="bg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5" name="Textfeld 84"/>
          <p:cNvSpPr txBox="1"/>
          <p:nvPr/>
        </p:nvSpPr>
        <p:spPr>
          <a:xfrm>
            <a:off x="3937408" y="1477855"/>
            <a:ext cx="914400" cy="59109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600" dirty="0" smtClean="0"/>
              <a:t>Nachweise entlang </a:t>
            </a:r>
            <a:br>
              <a:rPr lang="de-DE" sz="1600" dirty="0" smtClean="0"/>
            </a:br>
            <a:r>
              <a:rPr lang="de-DE" sz="1600" dirty="0" smtClean="0"/>
              <a:t>der OZG-</a:t>
            </a:r>
            <a:r>
              <a:rPr lang="de-DE" sz="1600" dirty="0" err="1" smtClean="0"/>
              <a:t>Bildungsjourney</a:t>
            </a:r>
            <a:endParaRPr lang="de-DE" sz="1600" dirty="0" smtClean="0"/>
          </a:p>
        </p:txBody>
      </p:sp>
      <p:sp>
        <p:nvSpPr>
          <p:cNvPr id="59" name="Rechteck 58"/>
          <p:cNvSpPr/>
          <p:nvPr/>
        </p:nvSpPr>
        <p:spPr>
          <a:xfrm>
            <a:off x="539152" y="3929510"/>
            <a:ext cx="8528421" cy="490485"/>
          </a:xfrm>
          <a:prstGeom prst="rect">
            <a:avLst/>
          </a:prstGeom>
          <a:solidFill>
            <a:schemeClr val="bg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0" name="Textfeld 89"/>
          <p:cNvSpPr txBox="1"/>
          <p:nvPr/>
        </p:nvSpPr>
        <p:spPr>
          <a:xfrm>
            <a:off x="7029062" y="1050263"/>
            <a:ext cx="914400" cy="59109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600" dirty="0" smtClean="0"/>
              <a:t>Zu berücksichtigende </a:t>
            </a:r>
            <a:br>
              <a:rPr lang="de-DE" sz="1600" dirty="0" smtClean="0"/>
            </a:br>
            <a:r>
              <a:rPr lang="de-DE" sz="1600" dirty="0" smtClean="0"/>
              <a:t>Ebene der </a:t>
            </a:r>
            <a:br>
              <a:rPr lang="de-DE" sz="1600" dirty="0" smtClean="0"/>
            </a:br>
            <a:r>
              <a:rPr lang="de-DE" sz="1600" dirty="0" smtClean="0"/>
              <a:t>Anwendungsfälle</a:t>
            </a:r>
          </a:p>
        </p:txBody>
      </p:sp>
      <p:sp>
        <p:nvSpPr>
          <p:cNvPr id="60" name="Rechteck 59"/>
          <p:cNvSpPr/>
          <p:nvPr/>
        </p:nvSpPr>
        <p:spPr>
          <a:xfrm>
            <a:off x="539152" y="4527353"/>
            <a:ext cx="8528422" cy="489835"/>
          </a:xfrm>
          <a:prstGeom prst="rect">
            <a:avLst/>
          </a:prstGeom>
          <a:solidFill>
            <a:schemeClr val="bg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3" name="Rechteck 52"/>
          <p:cNvSpPr/>
          <p:nvPr/>
        </p:nvSpPr>
        <p:spPr>
          <a:xfrm>
            <a:off x="539153" y="3425864"/>
            <a:ext cx="8528421" cy="441286"/>
          </a:xfrm>
          <a:prstGeom prst="rect">
            <a:avLst/>
          </a:prstGeom>
          <a:solidFill>
            <a:schemeClr val="bg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92258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initiales </a:t>
            </a:r>
            <a:r>
              <a:rPr lang="de-DE" dirty="0" err="1" smtClean="0"/>
              <a:t>XBildung</a:t>
            </a:r>
            <a:r>
              <a:rPr lang="de-DE" dirty="0" smtClean="0"/>
              <a:t> V0.1 als „EDCI.de+“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B7AA-7EB5-443C-AC31-37E37436B174}" type="slidenum">
              <a:rPr lang="de-DE" smtClean="0"/>
              <a:t>10</a:t>
            </a:fld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type="subTitle" idx="4294967295"/>
          </p:nvPr>
        </p:nvSpPr>
        <p:spPr>
          <a:xfrm>
            <a:off x="266183" y="1135732"/>
            <a:ext cx="5353568" cy="387350"/>
          </a:xfrm>
        </p:spPr>
        <p:txBody>
          <a:bodyPr>
            <a:noAutofit/>
          </a:bodyPr>
          <a:lstStyle/>
          <a:p>
            <a:r>
              <a:rPr lang="de-DE" dirty="0" smtClean="0"/>
              <a:t>ein </a:t>
            </a:r>
            <a:r>
              <a:rPr lang="de-DE" dirty="0" err="1" smtClean="0"/>
              <a:t>XStandard</a:t>
            </a:r>
            <a:r>
              <a:rPr lang="de-DE" dirty="0" smtClean="0"/>
              <a:t> „</a:t>
            </a:r>
            <a:r>
              <a:rPr lang="de-DE" dirty="0" err="1" smtClean="0"/>
              <a:t>XBildung</a:t>
            </a:r>
            <a:r>
              <a:rPr lang="de-DE" dirty="0" smtClean="0"/>
              <a:t>“, der</a:t>
            </a:r>
          </a:p>
          <a:p>
            <a:pPr lvl="1"/>
            <a:r>
              <a:rPr lang="de-DE" sz="1400" dirty="0" smtClean="0"/>
              <a:t>Auf dem Datenmodell der Europass Digital Credential Infrastructure basiert</a:t>
            </a:r>
          </a:p>
          <a:p>
            <a:pPr lvl="1"/>
            <a:r>
              <a:rPr lang="de-DE" sz="1400" dirty="0" smtClean="0"/>
              <a:t>Damit eine Erweiterung des W3C </a:t>
            </a:r>
            <a:r>
              <a:rPr lang="de-DE" sz="1400" dirty="0" err="1" smtClean="0"/>
              <a:t>verifiable</a:t>
            </a:r>
            <a:r>
              <a:rPr lang="de-DE" sz="1400" dirty="0" smtClean="0"/>
              <a:t> </a:t>
            </a:r>
            <a:r>
              <a:rPr lang="de-DE" sz="1400" dirty="0" err="1" smtClean="0"/>
              <a:t>Credentials</a:t>
            </a:r>
            <a:r>
              <a:rPr lang="de-DE" sz="1400" dirty="0" smtClean="0"/>
              <a:t> ist und</a:t>
            </a:r>
          </a:p>
          <a:p>
            <a:pPr lvl="1"/>
            <a:r>
              <a:rPr lang="de-DE" sz="1400" dirty="0" smtClean="0"/>
              <a:t>Im Bereich außerhalb von </a:t>
            </a:r>
            <a:r>
              <a:rPr lang="de-DE" sz="1400" dirty="0" err="1" smtClean="0"/>
              <a:t>credentials</a:t>
            </a:r>
            <a:r>
              <a:rPr lang="de-DE" sz="1400" dirty="0" smtClean="0"/>
              <a:t> um weitere TF </a:t>
            </a:r>
            <a:r>
              <a:rPr lang="de-DE" sz="1400" dirty="0" err="1" smtClean="0"/>
              <a:t>Bildungs</a:t>
            </a:r>
            <a:r>
              <a:rPr lang="de-DE" sz="1400" dirty="0" smtClean="0"/>
              <a:t> lebenslagenübergreifende Konzepte erweitert ist</a:t>
            </a:r>
          </a:p>
          <a:p>
            <a:pPr lvl="1"/>
            <a:r>
              <a:rPr lang="de-DE" sz="1400" dirty="0" smtClean="0"/>
              <a:t>Fachübergreifende XÖV Kernkomponenten (Person, Name, Zeitraum, Anschrift) sowie Datentypen (</a:t>
            </a:r>
            <a:r>
              <a:rPr lang="de-DE" sz="1400" dirty="0" err="1" smtClean="0"/>
              <a:t>String.Latin</a:t>
            </a:r>
            <a:r>
              <a:rPr lang="de-DE" sz="1400" dirty="0" smtClean="0"/>
              <a:t>; Themenfeld-spezifische Datentypen) einsetzt</a:t>
            </a:r>
          </a:p>
          <a:p>
            <a:pPr lvl="1"/>
            <a:endParaRPr lang="de-DE" dirty="0"/>
          </a:p>
        </p:txBody>
      </p:sp>
      <p:sp>
        <p:nvSpPr>
          <p:cNvPr id="8" name="Datumsplatzhalter 3"/>
          <p:cNvSpPr txBox="1">
            <a:spLocks/>
          </p:cNvSpPr>
          <p:nvPr/>
        </p:nvSpPr>
        <p:spPr>
          <a:xfrm>
            <a:off x="6162993" y="3621763"/>
            <a:ext cx="2052000" cy="146582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217684" rtl="0" eaLnBrk="1" latinLnBrk="0" hangingPunct="1">
              <a:defRPr sz="953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17684" algn="l" defTabSz="217684" rtl="0" eaLnBrk="1" latinLnBrk="0" hangingPunct="1">
              <a:defRPr sz="8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5368" algn="l" defTabSz="217684" rtl="0" eaLnBrk="1" latinLnBrk="0" hangingPunct="1">
              <a:defRPr sz="8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3052" algn="l" defTabSz="217684" rtl="0" eaLnBrk="1" latinLnBrk="0" hangingPunct="1">
              <a:defRPr sz="8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0736" algn="l" defTabSz="217684" rtl="0" eaLnBrk="1" latinLnBrk="0" hangingPunct="1">
              <a:defRPr sz="8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8420" algn="l" defTabSz="217684" rtl="0" eaLnBrk="1" latinLnBrk="0" hangingPunct="1">
              <a:defRPr sz="8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06103" algn="l" defTabSz="217684" rtl="0" eaLnBrk="1" latinLnBrk="0" hangingPunct="1">
              <a:defRPr sz="8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23787" algn="l" defTabSz="217684" rtl="0" eaLnBrk="1" latinLnBrk="0" hangingPunct="1">
              <a:defRPr sz="8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41471" algn="l" defTabSz="217684" rtl="0" eaLnBrk="1" latinLnBrk="0" hangingPunct="1">
              <a:defRPr sz="8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E238DF-2687-4338-88E1-832315DA2F4E}" type="datetime1">
              <a:rPr lang="de-DE" smtClean="0"/>
              <a:pPr/>
              <a:t>17.02.2021</a:t>
            </a:fld>
            <a:endParaRPr lang="de-DE" dirty="0"/>
          </a:p>
        </p:txBody>
      </p:sp>
      <p:sp>
        <p:nvSpPr>
          <p:cNvPr id="9" name="Rechteck 8"/>
          <p:cNvSpPr/>
          <p:nvPr/>
        </p:nvSpPr>
        <p:spPr>
          <a:xfrm>
            <a:off x="6164968" y="1227338"/>
            <a:ext cx="2722359" cy="286857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Rechteck 9"/>
          <p:cNvSpPr/>
          <p:nvPr/>
        </p:nvSpPr>
        <p:spPr>
          <a:xfrm>
            <a:off x="6231539" y="2478271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XÖV</a:t>
            </a:r>
            <a:endParaRPr lang="de-DE" sz="1600" dirty="0"/>
          </a:p>
        </p:txBody>
      </p:sp>
      <p:sp>
        <p:nvSpPr>
          <p:cNvPr id="11" name="Rechteck 10"/>
          <p:cNvSpPr/>
          <p:nvPr/>
        </p:nvSpPr>
        <p:spPr>
          <a:xfrm>
            <a:off x="6203457" y="2962689"/>
            <a:ext cx="2565401" cy="36671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err="1" smtClean="0"/>
              <a:t>XBildung</a:t>
            </a:r>
            <a:r>
              <a:rPr lang="de-DE" sz="1600" dirty="0" smtClean="0"/>
              <a:t> </a:t>
            </a:r>
            <a:endParaRPr lang="de-DE" sz="1600" dirty="0"/>
          </a:p>
        </p:txBody>
      </p:sp>
      <p:sp>
        <p:nvSpPr>
          <p:cNvPr id="12" name="Rechteck 11"/>
          <p:cNvSpPr/>
          <p:nvPr/>
        </p:nvSpPr>
        <p:spPr>
          <a:xfrm>
            <a:off x="6208011" y="3598589"/>
            <a:ext cx="2565400" cy="2602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/>
              <a:t>XHochschule</a:t>
            </a:r>
          </a:p>
        </p:txBody>
      </p:sp>
      <p:sp>
        <p:nvSpPr>
          <p:cNvPr id="13" name="Rechteck 12"/>
          <p:cNvSpPr/>
          <p:nvPr/>
        </p:nvSpPr>
        <p:spPr>
          <a:xfrm>
            <a:off x="7987599" y="2006434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EDCI</a:t>
            </a:r>
            <a:endParaRPr lang="de-DE" sz="1600" dirty="0"/>
          </a:p>
        </p:txBody>
      </p:sp>
      <p:sp>
        <p:nvSpPr>
          <p:cNvPr id="14" name="Rechteck 13"/>
          <p:cNvSpPr/>
          <p:nvPr/>
        </p:nvSpPr>
        <p:spPr>
          <a:xfrm>
            <a:off x="7402808" y="1411982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W3C</a:t>
            </a:r>
            <a:endParaRPr lang="de-DE" sz="1600" dirty="0"/>
          </a:p>
        </p:txBody>
      </p:sp>
      <p:sp>
        <p:nvSpPr>
          <p:cNvPr id="15" name="Rechteck 14"/>
          <p:cNvSpPr/>
          <p:nvPr/>
        </p:nvSpPr>
        <p:spPr>
          <a:xfrm>
            <a:off x="7987599" y="2970588"/>
            <a:ext cx="778963" cy="3310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EDCI.de(?)</a:t>
            </a:r>
            <a:endParaRPr lang="de-DE" sz="1050" dirty="0">
              <a:solidFill>
                <a:schemeClr val="tx1"/>
              </a:solidFill>
            </a:endParaRPr>
          </a:p>
        </p:txBody>
      </p:sp>
      <p:cxnSp>
        <p:nvCxnSpPr>
          <p:cNvPr id="16" name="Gerade Verbindung mit Pfeil 15"/>
          <p:cNvCxnSpPr>
            <a:stCxn id="14" idx="2"/>
            <a:endCxn id="10" idx="0"/>
          </p:cNvCxnSpPr>
          <p:nvPr/>
        </p:nvCxnSpPr>
        <p:spPr>
          <a:xfrm flipH="1">
            <a:off x="6624446" y="1778694"/>
            <a:ext cx="1171269" cy="699577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Gerade Verbindung mit Pfeil 16"/>
          <p:cNvCxnSpPr>
            <a:stCxn id="14" idx="2"/>
            <a:endCxn id="13" idx="0"/>
          </p:cNvCxnSpPr>
          <p:nvPr/>
        </p:nvCxnSpPr>
        <p:spPr>
          <a:xfrm>
            <a:off x="7795715" y="1778694"/>
            <a:ext cx="584791" cy="227740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Gerade Verbindung mit Pfeil 17"/>
          <p:cNvCxnSpPr/>
          <p:nvPr/>
        </p:nvCxnSpPr>
        <p:spPr>
          <a:xfrm>
            <a:off x="7486157" y="3301658"/>
            <a:ext cx="1" cy="296931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Gerade Verbindung mit Pfeil 18"/>
          <p:cNvCxnSpPr>
            <a:stCxn id="10" idx="2"/>
            <a:endCxn id="11" idx="0"/>
          </p:cNvCxnSpPr>
          <p:nvPr/>
        </p:nvCxnSpPr>
        <p:spPr>
          <a:xfrm>
            <a:off x="6624446" y="2844983"/>
            <a:ext cx="861712" cy="117706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hteck 19"/>
          <p:cNvSpPr/>
          <p:nvPr/>
        </p:nvSpPr>
        <p:spPr>
          <a:xfrm>
            <a:off x="7065113" y="2470141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OZG</a:t>
            </a:r>
            <a:endParaRPr lang="de-DE" sz="1600" dirty="0"/>
          </a:p>
        </p:txBody>
      </p:sp>
      <p:cxnSp>
        <p:nvCxnSpPr>
          <p:cNvPr id="21" name="Gerade Verbindung mit Pfeil 20"/>
          <p:cNvCxnSpPr>
            <a:stCxn id="14" idx="2"/>
          </p:cNvCxnSpPr>
          <p:nvPr/>
        </p:nvCxnSpPr>
        <p:spPr>
          <a:xfrm flipH="1">
            <a:off x="7538354" y="1778694"/>
            <a:ext cx="257361" cy="672342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Gerade Verbindung mit Pfeil 21"/>
          <p:cNvCxnSpPr>
            <a:stCxn id="20" idx="2"/>
          </p:cNvCxnSpPr>
          <p:nvPr/>
        </p:nvCxnSpPr>
        <p:spPr>
          <a:xfrm>
            <a:off x="7458020" y="2836853"/>
            <a:ext cx="18810" cy="125836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Gerade Verbindung mit Pfeil 25"/>
          <p:cNvCxnSpPr>
            <a:stCxn id="13" idx="2"/>
            <a:endCxn id="15" idx="0"/>
          </p:cNvCxnSpPr>
          <p:nvPr/>
        </p:nvCxnSpPr>
        <p:spPr>
          <a:xfrm flipH="1">
            <a:off x="8377081" y="2373146"/>
            <a:ext cx="3425" cy="597442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05093" y="4948257"/>
            <a:ext cx="4103688" cy="146643"/>
          </a:xfrm>
        </p:spPr>
        <p:txBody>
          <a:bodyPr/>
          <a:lstStyle/>
          <a:p>
            <a:r>
              <a:rPr lang="de-DE" dirty="0" smtClean="0">
                <a:solidFill>
                  <a:schemeClr val="bg2">
                    <a:lumMod val="25000"/>
                  </a:schemeClr>
                </a:solidFill>
              </a:rPr>
              <a:t>© CC BY 4.0 „]</a:t>
            </a:r>
            <a:r>
              <a:rPr lang="de-DE" dirty="0" err="1" smtClean="0">
                <a:solidFill>
                  <a:schemeClr val="bg2">
                    <a:lumMod val="25000"/>
                  </a:schemeClr>
                </a:solidFill>
              </a:rPr>
              <a:t>init</a:t>
            </a:r>
            <a:r>
              <a:rPr lang="de-DE" dirty="0" smtClean="0">
                <a:solidFill>
                  <a:schemeClr val="bg2">
                    <a:lumMod val="25000"/>
                  </a:schemeClr>
                </a:solidFill>
              </a:rPr>
              <a:t>[ AG im Auftrag des BMBF“ – Standardisierung im Hochschulwesen zur OZG-Umsetzung, „</a:t>
            </a:r>
            <a:r>
              <a:rPr lang="de-DE" dirty="0" err="1" smtClean="0">
                <a:solidFill>
                  <a:schemeClr val="bg2">
                    <a:lumMod val="25000"/>
                  </a:schemeClr>
                </a:solidFill>
              </a:rPr>
              <a:t>XHochschule</a:t>
            </a:r>
            <a:r>
              <a:rPr lang="de-DE" dirty="0" smtClean="0">
                <a:solidFill>
                  <a:schemeClr val="bg2">
                    <a:lumMod val="25000"/>
                  </a:schemeClr>
                </a:solidFill>
              </a:rPr>
              <a:t> und </a:t>
            </a:r>
            <a:r>
              <a:rPr lang="de-DE" dirty="0" err="1" smtClean="0">
                <a:solidFill>
                  <a:schemeClr val="bg2">
                    <a:lumMod val="25000"/>
                  </a:schemeClr>
                </a:solidFill>
              </a:rPr>
              <a:t>XBildung</a:t>
            </a:r>
            <a:r>
              <a:rPr lang="de-DE" dirty="0" smtClean="0">
                <a:solidFill>
                  <a:schemeClr val="bg2">
                    <a:lumMod val="25000"/>
                  </a:schemeClr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254945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initiales XHochschule V0.1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62993" y="3621763"/>
            <a:ext cx="2052000" cy="146582"/>
          </a:xfrm>
        </p:spPr>
        <p:txBody>
          <a:bodyPr/>
          <a:lstStyle/>
          <a:p>
            <a:fld id="{9EE238DF-2687-4338-88E1-832315DA2F4E}" type="datetime1">
              <a:rPr lang="de-DE" smtClean="0"/>
              <a:t>17.02.2021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05093" y="4948257"/>
            <a:ext cx="4103688" cy="146643"/>
          </a:xfrm>
        </p:spPr>
        <p:txBody>
          <a:bodyPr/>
          <a:lstStyle/>
          <a:p>
            <a:r>
              <a:rPr lang="de-DE" dirty="0" smtClean="0">
                <a:solidFill>
                  <a:schemeClr val="bg2">
                    <a:lumMod val="25000"/>
                  </a:schemeClr>
                </a:solidFill>
              </a:rPr>
              <a:t>© CC BY 4.0 „]</a:t>
            </a:r>
            <a:r>
              <a:rPr lang="de-DE" dirty="0" err="1" smtClean="0">
                <a:solidFill>
                  <a:schemeClr val="bg2">
                    <a:lumMod val="25000"/>
                  </a:schemeClr>
                </a:solidFill>
              </a:rPr>
              <a:t>init</a:t>
            </a:r>
            <a:r>
              <a:rPr lang="de-DE" dirty="0" smtClean="0">
                <a:solidFill>
                  <a:schemeClr val="bg2">
                    <a:lumMod val="25000"/>
                  </a:schemeClr>
                </a:solidFill>
              </a:rPr>
              <a:t>[ AG im Auftrag des BMBF“ – Standardisierung im Hochschulwesen zur OZG-Umsetzung, „</a:t>
            </a:r>
            <a:r>
              <a:rPr lang="de-DE" dirty="0" err="1" smtClean="0">
                <a:solidFill>
                  <a:schemeClr val="bg2">
                    <a:lumMod val="25000"/>
                  </a:schemeClr>
                </a:solidFill>
              </a:rPr>
              <a:t>XHochschule</a:t>
            </a:r>
            <a:r>
              <a:rPr lang="de-DE" dirty="0" smtClean="0">
                <a:solidFill>
                  <a:schemeClr val="bg2">
                    <a:lumMod val="25000"/>
                  </a:schemeClr>
                </a:solidFill>
              </a:rPr>
              <a:t> und </a:t>
            </a:r>
            <a:r>
              <a:rPr lang="de-DE" dirty="0" err="1" smtClean="0">
                <a:solidFill>
                  <a:schemeClr val="bg2">
                    <a:lumMod val="25000"/>
                  </a:schemeClr>
                </a:solidFill>
              </a:rPr>
              <a:t>XBildung</a:t>
            </a:r>
            <a:r>
              <a:rPr lang="de-DE" dirty="0" smtClean="0">
                <a:solidFill>
                  <a:schemeClr val="bg2">
                    <a:lumMod val="25000"/>
                  </a:schemeClr>
                </a:solidFill>
              </a:rPr>
              <a:t>“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B7AA-7EB5-443C-AC31-37E37436B174}" type="slidenum">
              <a:rPr lang="de-DE" smtClean="0"/>
              <a:t>11</a:t>
            </a:fld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type="subTitle" idx="4294967295"/>
          </p:nvPr>
        </p:nvSpPr>
        <p:spPr>
          <a:xfrm>
            <a:off x="266182" y="1129381"/>
            <a:ext cx="6329881" cy="3318495"/>
          </a:xfrm>
        </p:spPr>
        <p:txBody>
          <a:bodyPr>
            <a:noAutofit/>
          </a:bodyPr>
          <a:lstStyle/>
          <a:p>
            <a:r>
              <a:rPr lang="de-DE" dirty="0" smtClean="0"/>
              <a:t>ein </a:t>
            </a:r>
            <a:r>
              <a:rPr lang="de-DE" dirty="0" err="1" smtClean="0"/>
              <a:t>XStandard</a:t>
            </a:r>
            <a:r>
              <a:rPr lang="de-DE" dirty="0" smtClean="0"/>
              <a:t> „XHochschule“, der</a:t>
            </a:r>
          </a:p>
          <a:p>
            <a:pPr lvl="1"/>
            <a:r>
              <a:rPr lang="de-DE" sz="1400" dirty="0" smtClean="0"/>
              <a:t>Lebenslagenübergreifende Konzepte aus einem abstrakten </a:t>
            </a:r>
            <a:r>
              <a:rPr lang="de-DE" sz="1400" dirty="0" err="1" smtClean="0"/>
              <a:t>XBildung</a:t>
            </a:r>
            <a:r>
              <a:rPr lang="de-DE" sz="1400" dirty="0" smtClean="0"/>
              <a:t> nachnutzt und erweitert</a:t>
            </a:r>
          </a:p>
          <a:p>
            <a:pPr lvl="1"/>
            <a:r>
              <a:rPr lang="de-DE" sz="1400" dirty="0" smtClean="0"/>
              <a:t>Weitere für OZG Lebenslage „Studium“ benötigte Konzepte und Wertelisten aufnimmt </a:t>
            </a:r>
            <a:r>
              <a:rPr lang="de-DE" sz="1100" dirty="0" smtClean="0"/>
              <a:t>(Studienzeiten, Studiengang, Immatrikulation, Semesterbeitrag)</a:t>
            </a:r>
            <a:endParaRPr lang="de-DE" sz="1400" dirty="0" smtClean="0"/>
          </a:p>
          <a:p>
            <a:pPr lvl="1"/>
            <a:r>
              <a:rPr lang="de-DE" sz="1400" dirty="0" smtClean="0"/>
              <a:t>Weitere in </a:t>
            </a:r>
            <a:r>
              <a:rPr lang="de-DE" sz="1400" dirty="0" err="1" smtClean="0"/>
              <a:t>CaMS</a:t>
            </a:r>
            <a:r>
              <a:rPr lang="de-DE" sz="1400" dirty="0" smtClean="0"/>
              <a:t>-Systemen hinterlegte Daten aufnehmen kann </a:t>
            </a:r>
            <a:br>
              <a:rPr lang="de-DE" sz="1400" dirty="0" smtClean="0"/>
            </a:br>
            <a:r>
              <a:rPr lang="de-DE" sz="1400" dirty="0" smtClean="0"/>
              <a:t>und dabei</a:t>
            </a:r>
          </a:p>
          <a:p>
            <a:pPr lvl="1"/>
            <a:r>
              <a:rPr lang="de-DE" sz="1400" dirty="0" smtClean="0"/>
              <a:t>Durch das in EDCI eingebaute </a:t>
            </a:r>
            <a:r>
              <a:rPr lang="de-DE" sz="1400" dirty="0" err="1" smtClean="0"/>
              <a:t>alignement</a:t>
            </a:r>
            <a:r>
              <a:rPr lang="de-DE" sz="1400" dirty="0" smtClean="0"/>
              <a:t> auch z.B. auf </a:t>
            </a:r>
            <a:br>
              <a:rPr lang="de-DE" sz="1400" dirty="0" smtClean="0"/>
            </a:br>
            <a:r>
              <a:rPr lang="de-DE" sz="1400" dirty="0" smtClean="0"/>
              <a:t>das </a:t>
            </a:r>
            <a:r>
              <a:rPr lang="de-DE" sz="1400" dirty="0"/>
              <a:t>internationale ELMO </a:t>
            </a:r>
            <a:r>
              <a:rPr lang="de-DE" sz="1400" dirty="0" err="1" smtClean="0"/>
              <a:t>mappt</a:t>
            </a:r>
            <a:endParaRPr lang="de-DE" sz="1400" dirty="0" smtClean="0"/>
          </a:p>
          <a:p>
            <a:pPr lvl="1"/>
            <a:r>
              <a:rPr lang="de-DE" sz="1400" dirty="0" smtClean="0"/>
              <a:t>Informations- und Nachrichtenmodell (UML, PDF, XSD, WSDL)</a:t>
            </a:r>
          </a:p>
          <a:p>
            <a:pPr lvl="1"/>
            <a:endParaRPr lang="de-DE" sz="1400" dirty="0"/>
          </a:p>
        </p:txBody>
      </p:sp>
      <p:sp>
        <p:nvSpPr>
          <p:cNvPr id="15" name="Rechteck 14"/>
          <p:cNvSpPr/>
          <p:nvPr/>
        </p:nvSpPr>
        <p:spPr>
          <a:xfrm>
            <a:off x="6164968" y="1227338"/>
            <a:ext cx="2722359" cy="286857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6" name="Rechteck 15"/>
          <p:cNvSpPr/>
          <p:nvPr/>
        </p:nvSpPr>
        <p:spPr>
          <a:xfrm>
            <a:off x="6231539" y="2478271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XÖV</a:t>
            </a:r>
            <a:endParaRPr lang="de-DE" sz="1600" dirty="0"/>
          </a:p>
        </p:txBody>
      </p:sp>
      <p:sp>
        <p:nvSpPr>
          <p:cNvPr id="17" name="Rechteck 16"/>
          <p:cNvSpPr/>
          <p:nvPr/>
        </p:nvSpPr>
        <p:spPr>
          <a:xfrm>
            <a:off x="6203457" y="2962689"/>
            <a:ext cx="2565401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err="1" smtClean="0"/>
              <a:t>XBildung</a:t>
            </a:r>
            <a:r>
              <a:rPr lang="de-DE" sz="1600" dirty="0" smtClean="0"/>
              <a:t> </a:t>
            </a:r>
            <a:endParaRPr lang="de-DE" sz="1600" dirty="0"/>
          </a:p>
        </p:txBody>
      </p:sp>
      <p:sp>
        <p:nvSpPr>
          <p:cNvPr id="18" name="Rechteck 17"/>
          <p:cNvSpPr/>
          <p:nvPr/>
        </p:nvSpPr>
        <p:spPr>
          <a:xfrm>
            <a:off x="6208011" y="3598589"/>
            <a:ext cx="2565400" cy="26023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smtClean="0"/>
              <a:t>XHochschule</a:t>
            </a:r>
            <a:endParaRPr lang="de-DE" sz="1600" dirty="0"/>
          </a:p>
        </p:txBody>
      </p:sp>
      <p:sp>
        <p:nvSpPr>
          <p:cNvPr id="19" name="Rechteck 18"/>
          <p:cNvSpPr/>
          <p:nvPr/>
        </p:nvSpPr>
        <p:spPr>
          <a:xfrm>
            <a:off x="7987599" y="2006434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EDCI</a:t>
            </a:r>
            <a:endParaRPr lang="de-DE" sz="1600" dirty="0"/>
          </a:p>
        </p:txBody>
      </p:sp>
      <p:sp>
        <p:nvSpPr>
          <p:cNvPr id="20" name="Rechteck 19"/>
          <p:cNvSpPr/>
          <p:nvPr/>
        </p:nvSpPr>
        <p:spPr>
          <a:xfrm>
            <a:off x="7402808" y="1411982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W3C</a:t>
            </a:r>
            <a:endParaRPr lang="de-DE" sz="1600" dirty="0"/>
          </a:p>
        </p:txBody>
      </p:sp>
      <p:sp>
        <p:nvSpPr>
          <p:cNvPr id="21" name="Rechteck 20"/>
          <p:cNvSpPr/>
          <p:nvPr/>
        </p:nvSpPr>
        <p:spPr>
          <a:xfrm>
            <a:off x="7987599" y="2970588"/>
            <a:ext cx="778963" cy="3310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EDCI.de(?)</a:t>
            </a:r>
            <a:endParaRPr lang="de-DE" sz="1050" dirty="0">
              <a:solidFill>
                <a:schemeClr val="tx1"/>
              </a:solidFill>
            </a:endParaRPr>
          </a:p>
        </p:txBody>
      </p:sp>
      <p:cxnSp>
        <p:nvCxnSpPr>
          <p:cNvPr id="22" name="Gerade Verbindung mit Pfeil 21"/>
          <p:cNvCxnSpPr>
            <a:stCxn id="20" idx="2"/>
            <a:endCxn id="16" idx="0"/>
          </p:cNvCxnSpPr>
          <p:nvPr/>
        </p:nvCxnSpPr>
        <p:spPr>
          <a:xfrm flipH="1">
            <a:off x="6624446" y="1778694"/>
            <a:ext cx="1171269" cy="699577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Gerade Verbindung mit Pfeil 22"/>
          <p:cNvCxnSpPr>
            <a:stCxn id="20" idx="2"/>
            <a:endCxn id="19" idx="0"/>
          </p:cNvCxnSpPr>
          <p:nvPr/>
        </p:nvCxnSpPr>
        <p:spPr>
          <a:xfrm>
            <a:off x="7795715" y="1778694"/>
            <a:ext cx="584791" cy="227740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Gerade Verbindung mit Pfeil 23"/>
          <p:cNvCxnSpPr/>
          <p:nvPr/>
        </p:nvCxnSpPr>
        <p:spPr>
          <a:xfrm>
            <a:off x="7486157" y="3301658"/>
            <a:ext cx="1" cy="296931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Gerade Verbindung mit Pfeil 24"/>
          <p:cNvCxnSpPr>
            <a:stCxn id="16" idx="2"/>
            <a:endCxn id="17" idx="0"/>
          </p:cNvCxnSpPr>
          <p:nvPr/>
        </p:nvCxnSpPr>
        <p:spPr>
          <a:xfrm>
            <a:off x="6624446" y="2844983"/>
            <a:ext cx="861712" cy="117706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hteck 25"/>
          <p:cNvSpPr/>
          <p:nvPr/>
        </p:nvSpPr>
        <p:spPr>
          <a:xfrm>
            <a:off x="7065113" y="2470141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OZG</a:t>
            </a:r>
            <a:endParaRPr lang="de-DE" sz="1600" dirty="0"/>
          </a:p>
        </p:txBody>
      </p:sp>
      <p:cxnSp>
        <p:nvCxnSpPr>
          <p:cNvPr id="27" name="Gerade Verbindung mit Pfeil 26"/>
          <p:cNvCxnSpPr>
            <a:stCxn id="20" idx="2"/>
          </p:cNvCxnSpPr>
          <p:nvPr/>
        </p:nvCxnSpPr>
        <p:spPr>
          <a:xfrm flipH="1">
            <a:off x="7538354" y="1778694"/>
            <a:ext cx="257361" cy="672342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hteck 27"/>
          <p:cNvSpPr/>
          <p:nvPr/>
        </p:nvSpPr>
        <p:spPr>
          <a:xfrm>
            <a:off x="237799" y="4169483"/>
            <a:ext cx="3073049" cy="17396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dirty="0" smtClean="0">
                <a:solidFill>
                  <a:schemeClr val="tx1"/>
                </a:solidFill>
              </a:rPr>
              <a:t>Nachricht: XHochschule.Abschluss_ausstellen.0100</a:t>
            </a:r>
            <a:endParaRPr lang="de-DE" sz="1000" dirty="0">
              <a:solidFill>
                <a:schemeClr val="tx1"/>
              </a:solidFill>
            </a:endParaRPr>
          </a:p>
        </p:txBody>
      </p:sp>
      <p:sp>
        <p:nvSpPr>
          <p:cNvPr id="29" name="Rechteck 28"/>
          <p:cNvSpPr/>
          <p:nvPr/>
        </p:nvSpPr>
        <p:spPr>
          <a:xfrm>
            <a:off x="237799" y="4375532"/>
            <a:ext cx="3073049" cy="2215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dirty="0" smtClean="0">
                <a:solidFill>
                  <a:schemeClr val="tx1"/>
                </a:solidFill>
              </a:rPr>
              <a:t>Nachricht: XHochschule.Studienplatzwechsel.0200</a:t>
            </a:r>
            <a:endParaRPr lang="de-DE" sz="1000" dirty="0">
              <a:solidFill>
                <a:schemeClr val="tx1"/>
              </a:solidFill>
            </a:endParaRPr>
          </a:p>
        </p:txBody>
      </p:sp>
      <p:sp>
        <p:nvSpPr>
          <p:cNvPr id="30" name="Rechteck 29"/>
          <p:cNvSpPr/>
          <p:nvPr/>
        </p:nvSpPr>
        <p:spPr>
          <a:xfrm>
            <a:off x="237799" y="4621564"/>
            <a:ext cx="3073049" cy="2215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dirty="0" smtClean="0">
                <a:solidFill>
                  <a:schemeClr val="tx1"/>
                </a:solidFill>
              </a:rPr>
              <a:t>Nachricht: XHochschule.</a:t>
            </a:r>
            <a:r>
              <a:rPr lang="de-DE" sz="1000" i="1" dirty="0" smtClean="0">
                <a:solidFill>
                  <a:schemeClr val="tx1"/>
                </a:solidFill>
              </a:rPr>
              <a:t>weitererAW</a:t>
            </a:r>
            <a:r>
              <a:rPr lang="de-DE" sz="1000" dirty="0" smtClean="0">
                <a:solidFill>
                  <a:schemeClr val="tx1"/>
                </a:solidFill>
              </a:rPr>
              <a:t>.0300</a:t>
            </a:r>
            <a:endParaRPr lang="de-DE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437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heme/theme1.xml><?xml version="1.0" encoding="utf-8"?>
<a:theme xmlns:a="http://schemas.openxmlformats.org/drawingml/2006/main" name="Office">
  <a:themeElements>
    <a:clrScheme name="]init[ PPT 2017">
      <a:dk1>
        <a:srgbClr val="2E2E2E"/>
      </a:dk1>
      <a:lt1>
        <a:sysClr val="window" lastClr="FFFFFF"/>
      </a:lt1>
      <a:dk2>
        <a:srgbClr val="E65A23"/>
      </a:dk2>
      <a:lt2>
        <a:srgbClr val="EAEBE7"/>
      </a:lt2>
      <a:accent1>
        <a:srgbClr val="506E78"/>
      </a:accent1>
      <a:accent2>
        <a:srgbClr val="AA9678"/>
      </a:accent2>
      <a:accent3>
        <a:srgbClr val="55B478"/>
      </a:accent3>
      <a:accent4>
        <a:srgbClr val="D24150"/>
      </a:accent4>
      <a:accent5>
        <a:srgbClr val="46ABB4"/>
      </a:accent5>
      <a:accent6>
        <a:srgbClr val="DCB45A"/>
      </a:accent6>
      <a:hlink>
        <a:srgbClr val="E65A23"/>
      </a:hlink>
      <a:folHlink>
        <a:srgbClr val="E65A23"/>
      </a:folHlink>
    </a:clrScheme>
    <a:fontScheme name="Benutzerdefiniert 1">
      <a:majorFont>
        <a:latin typeface="Fago Offc Pro"/>
        <a:ea typeface=""/>
        <a:cs typeface=""/>
      </a:majorFont>
      <a:minorFont>
        <a:latin typeface="Fago Offc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tx1"/>
          </a:solidFill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 marL="216000" indent="-180000">
          <a:lnSpc>
            <a:spcPct val="110000"/>
          </a:lnSpc>
          <a:spcBef>
            <a:spcPts val="1000"/>
          </a:spcBef>
          <a:buClr>
            <a:schemeClr val="tx2"/>
          </a:buClr>
          <a:buFont typeface="init_signs normal" panose="00000500000000000000" pitchFamily="2" charset="0"/>
          <a:buChar char="A"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E (16-9)" id="{C3FAAF77-A557-4E48-B0C2-DD73D6BAF1EA}" vid="{329FF523-B77A-4CE6-AD79-314F37AACC46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UI/customUI.xml>
</file>

<file path=docProps/app.xml><?xml version="1.0" encoding="utf-8"?>
<Properties xmlns="http://schemas.openxmlformats.org/officeDocument/2006/extended-properties" xmlns:vt="http://schemas.openxmlformats.org/officeDocument/2006/docPropsVTypes">
  <Template>DE (16-9)</Template>
  <TotalTime>0</TotalTime>
  <Words>663</Words>
  <Application>Microsoft Office PowerPoint</Application>
  <PresentationFormat>Bildschirmpräsentation (16:9)</PresentationFormat>
  <Paragraphs>206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11</vt:i4>
      </vt:variant>
    </vt:vector>
  </HeadingPairs>
  <TitlesOfParts>
    <vt:vector size="20" baseType="lpstr">
      <vt:lpstr>ＭＳ Ｐゴシック</vt:lpstr>
      <vt:lpstr>Arial</vt:lpstr>
      <vt:lpstr>BundesSans Regular</vt:lpstr>
      <vt:lpstr>Calibri</vt:lpstr>
      <vt:lpstr>Calibri Light</vt:lpstr>
      <vt:lpstr>Fago Offc Pro</vt:lpstr>
      <vt:lpstr>init_signs normal</vt:lpstr>
      <vt:lpstr>Office</vt:lpstr>
      <vt:lpstr>Office Theme</vt:lpstr>
      <vt:lpstr>PowerPoint-Präsentation</vt:lpstr>
      <vt:lpstr>PowerPoint-Präsentation</vt:lpstr>
      <vt:lpstr>Interoperabilitätsstandard im Hochschulwesen – bestehende rechtliche und organisatorische Vorgaben</vt:lpstr>
      <vt:lpstr>Interoperabilitätsstandard im Bildungswesen zukünftig: XBildung UND XHochschule</vt:lpstr>
      <vt:lpstr>Interoperabilitätsstandard im Bildungswesen zukünftig: XBildung UND XHochschule und bestehende Standards</vt:lpstr>
      <vt:lpstr>Interoperabilitätsstandard im Bildungswesen zukünftig: XBildung UND XHochschule und bestehende Standards</vt:lpstr>
      <vt:lpstr>XBildung nutzt EDCI nach und ist SDG- und XÖV-konform</vt:lpstr>
      <vt:lpstr>XBildung nutzt EDCI nach und ist SDG- und XÖV-konform</vt:lpstr>
      <vt:lpstr>XHochschule und XBildung nutzen XÖV und EDCI nach</vt:lpstr>
      <vt:lpstr>initiales XBildung V0.1 als „EDCI.de+“</vt:lpstr>
      <vt:lpstr>initiales XHochschule V0.1</vt:lpstr>
    </vt:vector>
  </TitlesOfParts>
  <Company>Init AG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Foliensatz für Abbildungen in XBildung</dc:title>
  <dc:creator>"Sebastian Sklarß"</dc:creator>
  <dc:description>FagoUpdate 17.11.2016</dc:description>
  <cp:lastModifiedBy>Budke, Oliver (init)</cp:lastModifiedBy>
  <cp:revision>61</cp:revision>
  <dcterms:created xsi:type="dcterms:W3CDTF">2020-03-31T13:11:24Z</dcterms:created>
  <dcterms:modified xsi:type="dcterms:W3CDTF">2021-02-17T16:40:10Z</dcterms:modified>
</cp:coreProperties>
</file>

<file path=userCustomization/customUI.xml><?xml version="1.0" encoding="utf-8"?>
<mso:customUI xmlns:doc="http://schemas.microsoft.com/office/2006/01/customui/currentDocument" xmlns:mso="http://schemas.microsoft.com/office/2006/01/customui">
  <mso:ribbon>
    <mso:qat>
      <mso:documentControls>
        <mso:separator idQ="doc:sep3" visible="true"/>
        <mso:control idQ="mso:HeaderFooterInsert" visible="true"/>
        <mso:separator idQ="doc:sep1" visible="true"/>
        <mso:button idQ="doc:ChooseFormat_1" visible="true" label="Markierte Absätze formatieren" imageMso="CharacterBorder" onAction="'init-PPT-AddIn.ppam'!ChooseFormat"/>
        <mso:control idQ="mso:IndentDecrease" visible="true"/>
        <mso:control idQ="mso:IndentIncrease" visible="true"/>
        <mso:separator idQ="doc:sep2" visible="true"/>
        <mso:control idQ="mso:PictureFitCrop" visible="true"/>
        <mso:button idQ="doc:ColorWhite_1" visible="true" label="Icon(s) weiß einfärben" imageMso="AppointmentColor0" onAction="'init-PPT-AddIn.ppam'!ColorWhite"/>
        <mso:button idQ="doc:ColorBlack_1" visible="true" label="Icon(s) zurück auf Standard stellen" imageMso="BlackAndWhiteBlack" onAction="'init-PPT-AddIn.ppam'!ColorBlack"/>
        <mso:control idQ="mso:PictureRecolorGallery" visible="true"/>
        <mso:separator idQ="doc:sep1" visible="true"/>
        <mso:button idQ="doc:ChooseBackground_1" visible="true" label="Fokus-Folien Grundfarbe einstellen" imageMso="AppointmentColorDialog" onAction="'init-PPT-AddIn.ppam'!ChooseBackground"/>
      </mso:documentControls>
    </mso:qat>
  </mso:ribbon>
</mso:customUI>
</file>